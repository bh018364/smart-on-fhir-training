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4"/>
  </p:notesMasterIdLst>
  <p:sldIdLst>
    <p:sldId id="371" r:id="rId2"/>
    <p:sldId id="257" r:id="rId3"/>
    <p:sldId id="259" r:id="rId4"/>
    <p:sldId id="376" r:id="rId5"/>
    <p:sldId id="377" r:id="rId6"/>
    <p:sldId id="260" r:id="rId7"/>
    <p:sldId id="263" r:id="rId8"/>
    <p:sldId id="264" r:id="rId9"/>
    <p:sldId id="267" r:id="rId10"/>
    <p:sldId id="266" r:id="rId11"/>
    <p:sldId id="265" r:id="rId12"/>
    <p:sldId id="268" r:id="rId13"/>
    <p:sldId id="269" r:id="rId14"/>
    <p:sldId id="270" r:id="rId15"/>
    <p:sldId id="271" r:id="rId16"/>
    <p:sldId id="272" r:id="rId17"/>
    <p:sldId id="273" r:id="rId18"/>
    <p:sldId id="274" r:id="rId19"/>
    <p:sldId id="379" r:id="rId20"/>
    <p:sldId id="276" r:id="rId21"/>
    <p:sldId id="277" r:id="rId22"/>
    <p:sldId id="278" r:id="rId23"/>
    <p:sldId id="279" r:id="rId24"/>
    <p:sldId id="381"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72"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73" r:id="rId56"/>
    <p:sldId id="309" r:id="rId57"/>
    <p:sldId id="310" r:id="rId58"/>
    <p:sldId id="311" r:id="rId59"/>
    <p:sldId id="312" r:id="rId60"/>
    <p:sldId id="380" r:id="rId61"/>
    <p:sldId id="313" r:id="rId62"/>
    <p:sldId id="314" r:id="rId63"/>
    <p:sldId id="315" r:id="rId64"/>
    <p:sldId id="316" r:id="rId65"/>
    <p:sldId id="317" r:id="rId66"/>
    <p:sldId id="318" r:id="rId67"/>
    <p:sldId id="319" r:id="rId68"/>
    <p:sldId id="320" r:id="rId69"/>
    <p:sldId id="321"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9" r:id="rId95"/>
    <p:sldId id="350" r:id="rId96"/>
    <p:sldId id="351" r:id="rId97"/>
    <p:sldId id="352" r:id="rId98"/>
    <p:sldId id="353" r:id="rId99"/>
    <p:sldId id="37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75" r:id="rId1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rner" initials="Cerne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79BBC-8778-47AD-858A-0A40A9696F18}" v="16" dt="2023-12-12T13:24:55.69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555" autoAdjust="0"/>
  </p:normalViewPr>
  <p:slideViewPr>
    <p:cSldViewPr snapToGrid="0">
      <p:cViewPr varScale="1">
        <p:scale>
          <a:sx n="40" d="100"/>
          <a:sy n="40"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ts, Brian" userId="4566fefd-61b7-4c5a-b683-1c8fdafc2832" providerId="ADAL" clId="{63179BBC-8778-47AD-858A-0A40A9696F18}"/>
    <pc:docChg chg="custSel modSld">
      <pc:chgData name="Heits, Brian" userId="4566fefd-61b7-4c5a-b683-1c8fdafc2832" providerId="ADAL" clId="{63179BBC-8778-47AD-858A-0A40A9696F18}" dt="2023-12-12T13:25:12.825" v="288" actId="20577"/>
      <pc:docMkLst>
        <pc:docMk/>
      </pc:docMkLst>
      <pc:sldChg chg="modSp mod">
        <pc:chgData name="Heits, Brian" userId="4566fefd-61b7-4c5a-b683-1c8fdafc2832" providerId="ADAL" clId="{63179BBC-8778-47AD-858A-0A40A9696F18}" dt="2023-12-04T15:16:04.991" v="38" actId="20577"/>
        <pc:sldMkLst>
          <pc:docMk/>
          <pc:sldMk cId="0" sldId="287"/>
        </pc:sldMkLst>
        <pc:spChg chg="mod">
          <ac:chgData name="Heits, Brian" userId="4566fefd-61b7-4c5a-b683-1c8fdafc2832" providerId="ADAL" clId="{63179BBC-8778-47AD-858A-0A40A9696F18}" dt="2023-12-04T15:16:04.991" v="38" actId="20577"/>
          <ac:spMkLst>
            <pc:docMk/>
            <pc:sldMk cId="0" sldId="287"/>
            <ac:spMk id="320" creationId="{00000000-0000-0000-0000-000000000000}"/>
          </ac:spMkLst>
        </pc:spChg>
      </pc:sldChg>
      <pc:sldChg chg="addSp delSp modSp mod">
        <pc:chgData name="Heits, Brian" userId="4566fefd-61b7-4c5a-b683-1c8fdafc2832" providerId="ADAL" clId="{63179BBC-8778-47AD-858A-0A40A9696F18}" dt="2023-12-11T03:17:43.267" v="119" actId="1076"/>
        <pc:sldMkLst>
          <pc:docMk/>
          <pc:sldMk cId="0" sldId="291"/>
        </pc:sldMkLst>
        <pc:spChg chg="del">
          <ac:chgData name="Heits, Brian" userId="4566fefd-61b7-4c5a-b683-1c8fdafc2832" providerId="ADAL" clId="{63179BBC-8778-47AD-858A-0A40A9696F18}" dt="2023-12-11T03:17:08.758" v="116" actId="478"/>
          <ac:spMkLst>
            <pc:docMk/>
            <pc:sldMk cId="0" sldId="291"/>
            <ac:spMk id="331" creationId="{00000000-0000-0000-0000-000000000000}"/>
          </ac:spMkLst>
        </pc:spChg>
        <pc:spChg chg="del">
          <ac:chgData name="Heits, Brian" userId="4566fefd-61b7-4c5a-b683-1c8fdafc2832" providerId="ADAL" clId="{63179BBC-8778-47AD-858A-0A40A9696F18}" dt="2023-12-11T03:17:06.335" v="115" actId="478"/>
          <ac:spMkLst>
            <pc:docMk/>
            <pc:sldMk cId="0" sldId="291"/>
            <ac:spMk id="332" creationId="{00000000-0000-0000-0000-000000000000}"/>
          </ac:spMkLst>
        </pc:spChg>
        <pc:picChg chg="add mod">
          <ac:chgData name="Heits, Brian" userId="4566fefd-61b7-4c5a-b683-1c8fdafc2832" providerId="ADAL" clId="{63179BBC-8778-47AD-858A-0A40A9696F18}" dt="2023-12-11T03:17:43.267" v="119" actId="1076"/>
          <ac:picMkLst>
            <pc:docMk/>
            <pc:sldMk cId="0" sldId="291"/>
            <ac:picMk id="3" creationId="{8D90B10F-ED2B-32F7-CC6B-4BA6DAC67D8D}"/>
          </ac:picMkLst>
        </pc:picChg>
      </pc:sldChg>
      <pc:sldChg chg="modSp mod">
        <pc:chgData name="Heits, Brian" userId="4566fefd-61b7-4c5a-b683-1c8fdafc2832" providerId="ADAL" clId="{63179BBC-8778-47AD-858A-0A40A9696F18}" dt="2023-12-04T15:45:57.763" v="68" actId="20577"/>
        <pc:sldMkLst>
          <pc:docMk/>
          <pc:sldMk cId="0" sldId="297"/>
        </pc:sldMkLst>
        <pc:spChg chg="mod">
          <ac:chgData name="Heits, Brian" userId="4566fefd-61b7-4c5a-b683-1c8fdafc2832" providerId="ADAL" clId="{63179BBC-8778-47AD-858A-0A40A9696F18}" dt="2023-12-04T15:45:57.763" v="68" actId="20577"/>
          <ac:spMkLst>
            <pc:docMk/>
            <pc:sldMk cId="0" sldId="297"/>
            <ac:spMk id="348" creationId="{00000000-0000-0000-0000-000000000000}"/>
          </ac:spMkLst>
        </pc:spChg>
      </pc:sldChg>
      <pc:sldChg chg="modSp modAnim">
        <pc:chgData name="Heits, Brian" userId="4566fefd-61b7-4c5a-b683-1c8fdafc2832" providerId="ADAL" clId="{63179BBC-8778-47AD-858A-0A40A9696F18}" dt="2023-12-11T13:56:40.663" v="134" actId="20577"/>
        <pc:sldMkLst>
          <pc:docMk/>
          <pc:sldMk cId="0" sldId="298"/>
        </pc:sldMkLst>
        <pc:spChg chg="mod">
          <ac:chgData name="Heits, Brian" userId="4566fefd-61b7-4c5a-b683-1c8fdafc2832" providerId="ADAL" clId="{63179BBC-8778-47AD-858A-0A40A9696F18}" dt="2023-12-11T13:56:40.663" v="134" actId="20577"/>
          <ac:spMkLst>
            <pc:docMk/>
            <pc:sldMk cId="0" sldId="298"/>
            <ac:spMk id="352" creationId="{00000000-0000-0000-0000-000000000000}"/>
          </ac:spMkLst>
        </pc:spChg>
      </pc:sldChg>
      <pc:sldChg chg="modSp mod">
        <pc:chgData name="Heits, Brian" userId="4566fefd-61b7-4c5a-b683-1c8fdafc2832" providerId="ADAL" clId="{63179BBC-8778-47AD-858A-0A40A9696F18}" dt="2023-12-11T15:49:06.861" v="160" actId="20577"/>
        <pc:sldMkLst>
          <pc:docMk/>
          <pc:sldMk cId="0" sldId="307"/>
        </pc:sldMkLst>
        <pc:spChg chg="mod">
          <ac:chgData name="Heits, Brian" userId="4566fefd-61b7-4c5a-b683-1c8fdafc2832" providerId="ADAL" clId="{63179BBC-8778-47AD-858A-0A40A9696F18}" dt="2023-12-11T15:49:06.861" v="160" actId="20577"/>
          <ac:spMkLst>
            <pc:docMk/>
            <pc:sldMk cId="0" sldId="307"/>
            <ac:spMk id="389" creationId="{00000000-0000-0000-0000-000000000000}"/>
          </ac:spMkLst>
        </pc:spChg>
      </pc:sldChg>
      <pc:sldChg chg="modSp mod">
        <pc:chgData name="Heits, Brian" userId="4566fefd-61b7-4c5a-b683-1c8fdafc2832" providerId="ADAL" clId="{63179BBC-8778-47AD-858A-0A40A9696F18}" dt="2023-12-11T03:19:41.895" v="123" actId="20577"/>
        <pc:sldMkLst>
          <pc:docMk/>
          <pc:sldMk cId="0" sldId="315"/>
        </pc:sldMkLst>
        <pc:spChg chg="mod">
          <ac:chgData name="Heits, Brian" userId="4566fefd-61b7-4c5a-b683-1c8fdafc2832" providerId="ADAL" clId="{63179BBC-8778-47AD-858A-0A40A9696F18}" dt="2023-12-11T03:19:41.895" v="123" actId="20577"/>
          <ac:spMkLst>
            <pc:docMk/>
            <pc:sldMk cId="0" sldId="315"/>
            <ac:spMk id="417" creationId="{00000000-0000-0000-0000-000000000000}"/>
          </ac:spMkLst>
        </pc:spChg>
      </pc:sldChg>
      <pc:sldChg chg="modNotesTx">
        <pc:chgData name="Heits, Brian" userId="4566fefd-61b7-4c5a-b683-1c8fdafc2832" providerId="ADAL" clId="{63179BBC-8778-47AD-858A-0A40A9696F18}" dt="2023-12-04T16:39:28.657" v="111" actId="20577"/>
        <pc:sldMkLst>
          <pc:docMk/>
          <pc:sldMk cId="0" sldId="325"/>
        </pc:sldMkLst>
      </pc:sldChg>
      <pc:sldChg chg="modSp mod">
        <pc:chgData name="Heits, Brian" userId="4566fefd-61b7-4c5a-b683-1c8fdafc2832" providerId="ADAL" clId="{63179BBC-8778-47AD-858A-0A40A9696F18}" dt="2023-12-11T19:52:41.515" v="161"/>
        <pc:sldMkLst>
          <pc:docMk/>
          <pc:sldMk cId="0" sldId="357"/>
        </pc:sldMkLst>
        <pc:spChg chg="mod">
          <ac:chgData name="Heits, Brian" userId="4566fefd-61b7-4c5a-b683-1c8fdafc2832" providerId="ADAL" clId="{63179BBC-8778-47AD-858A-0A40A9696F18}" dt="2023-12-11T19:52:41.515" v="161"/>
          <ac:spMkLst>
            <pc:docMk/>
            <pc:sldMk cId="0" sldId="357"/>
            <ac:spMk id="578" creationId="{00000000-0000-0000-0000-000000000000}"/>
          </ac:spMkLst>
        </pc:spChg>
      </pc:sldChg>
      <pc:sldChg chg="modSp mod">
        <pc:chgData name="Heits, Brian" userId="4566fefd-61b7-4c5a-b683-1c8fdafc2832" providerId="ADAL" clId="{63179BBC-8778-47AD-858A-0A40A9696F18}" dt="2023-12-12T13:25:12.825" v="288" actId="20577"/>
        <pc:sldMkLst>
          <pc:docMk/>
          <pc:sldMk cId="0" sldId="358"/>
        </pc:sldMkLst>
        <pc:spChg chg="mod">
          <ac:chgData name="Heits, Brian" userId="4566fefd-61b7-4c5a-b683-1c8fdafc2832" providerId="ADAL" clId="{63179BBC-8778-47AD-858A-0A40A9696F18}" dt="2023-12-12T13:25:12.825" v="288" actId="20577"/>
          <ac:spMkLst>
            <pc:docMk/>
            <pc:sldMk cId="0" sldId="358"/>
            <ac:spMk id="581" creationId="{00000000-0000-0000-0000-000000000000}"/>
          </ac:spMkLst>
        </pc:spChg>
      </pc:sldChg>
      <pc:sldChg chg="modSp mod">
        <pc:chgData name="Heits, Brian" userId="4566fefd-61b7-4c5a-b683-1c8fdafc2832" providerId="ADAL" clId="{63179BBC-8778-47AD-858A-0A40A9696F18}" dt="2023-12-11T20:06:11.231" v="169" actId="20577"/>
        <pc:sldMkLst>
          <pc:docMk/>
          <pc:sldMk cId="0" sldId="363"/>
        </pc:sldMkLst>
        <pc:spChg chg="mod">
          <ac:chgData name="Heits, Brian" userId="4566fefd-61b7-4c5a-b683-1c8fdafc2832" providerId="ADAL" clId="{63179BBC-8778-47AD-858A-0A40A9696F18}" dt="2023-12-11T20:06:11.231" v="169" actId="20577"/>
          <ac:spMkLst>
            <pc:docMk/>
            <pc:sldMk cId="0" sldId="363"/>
            <ac:spMk id="594" creationId="{00000000-0000-0000-0000-000000000000}"/>
          </ac:spMkLst>
        </pc:spChg>
      </pc:sldChg>
      <pc:sldChg chg="modSp mod">
        <pc:chgData name="Heits, Brian" userId="4566fefd-61b7-4c5a-b683-1c8fdafc2832" providerId="ADAL" clId="{63179BBC-8778-47AD-858A-0A40A9696F18}" dt="2023-12-11T03:16:39.327" v="114" actId="20577"/>
        <pc:sldMkLst>
          <pc:docMk/>
          <pc:sldMk cId="3938402782" sldId="371"/>
        </pc:sldMkLst>
        <pc:spChg chg="mod">
          <ac:chgData name="Heits, Brian" userId="4566fefd-61b7-4c5a-b683-1c8fdafc2832" providerId="ADAL" clId="{63179BBC-8778-47AD-858A-0A40A9696F18}" dt="2023-12-11T03:16:39.327" v="114" actId="20577"/>
          <ac:spMkLst>
            <pc:docMk/>
            <pc:sldMk cId="3938402782" sldId="371"/>
            <ac:spMk id="4"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4-08-25T11:42:53.754" idx="2">
    <p:pos x="7906" y="1738"/>
    <p:text>&gt; Right click and select change picture to add sponsor logo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4" name="Shape 154"/>
          <p:cNvSpPr>
            <a:spLocks noGrp="1" noRot="1" noChangeAspect="1"/>
          </p:cNvSpPr>
          <p:nvPr>
            <p:ph type="sldImg"/>
          </p:nvPr>
        </p:nvSpPr>
        <p:spPr>
          <a:xfrm>
            <a:off x="1143000" y="685800"/>
            <a:ext cx="4572000" cy="3429000"/>
          </a:xfrm>
          <a:prstGeom prst="rect">
            <a:avLst/>
          </a:prstGeom>
        </p:spPr>
        <p:txBody>
          <a:bodyPr/>
          <a:lstStyle/>
          <a:p>
            <a:endParaRPr/>
          </a:p>
        </p:txBody>
      </p:sp>
      <p:sp>
        <p:nvSpPr>
          <p:cNvPr id="155" name="Shape 15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Cerner 2016</a:t>
            </a:r>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CFFD62D3-BB65-47B7-B482-3500296D899C}" type="slidenum">
              <a:rPr lang="en-US" smtClean="0"/>
              <a:t>1</a:t>
            </a:fld>
            <a:endParaRPr lang="en-US" dirty="0"/>
          </a:p>
        </p:txBody>
      </p:sp>
    </p:spTree>
    <p:extLst>
      <p:ext uri="{BB962C8B-B14F-4D97-AF65-F5344CB8AC3E}">
        <p14:creationId xmlns:p14="http://schemas.microsoft.com/office/powerpoint/2010/main" val="793539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Help getting started</a:t>
            </a:r>
          </a:p>
        </p:txBody>
      </p:sp>
    </p:spTree>
    <p:extLst>
      <p:ext uri="{BB962C8B-B14F-4D97-AF65-F5344CB8AC3E}">
        <p14:creationId xmlns:p14="http://schemas.microsoft.com/office/powerpoint/2010/main" val="2588302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Shape 252"/>
          <p:cNvSpPr>
            <a:spLocks noGrp="1" noRot="1" noChangeAspect="1"/>
          </p:cNvSpPr>
          <p:nvPr>
            <p:ph type="sldImg"/>
          </p:nvPr>
        </p:nvSpPr>
        <p:spPr>
          <a:xfrm>
            <a:off x="381000" y="685800"/>
            <a:ext cx="6096000" cy="3429000"/>
          </a:xfrm>
          <a:prstGeom prst="rect">
            <a:avLst/>
          </a:prstGeom>
        </p:spPr>
        <p:txBody>
          <a:bodyPr/>
          <a:lstStyle/>
          <a:p>
            <a:endParaRPr/>
          </a:p>
        </p:txBody>
      </p:sp>
      <p:sp>
        <p:nvSpPr>
          <p:cNvPr id="253" name="Shape 253"/>
          <p:cNvSpPr>
            <a:spLocks noGrp="1"/>
          </p:cNvSpPr>
          <p:nvPr>
            <p:ph type="body" sz="quarter" idx="1"/>
          </p:nvPr>
        </p:nvSpPr>
        <p:spPr>
          <a:prstGeom prst="rect">
            <a:avLst/>
          </a:prstGeom>
        </p:spPr>
        <p:txBody>
          <a:bodyPr/>
          <a:lstStyle/>
          <a:p>
            <a:r>
              <a:t>Decimals, precision matters (e.g.: use big decimal)</a:t>
            </a:r>
          </a:p>
          <a:p>
            <a:r>
              <a:t>Instant is for machines, DateTime is for humans. Instant MUST have seconds and zone.</a:t>
            </a:r>
          </a:p>
          <a:p>
            <a:r>
              <a:t>DateTime is year, year/month, year/month/day, year/month/day/time (must have zone if there’s a time). Seconds are required (XML definition/schema), but can be ignored or zero.</a:t>
            </a:r>
          </a:p>
          <a:p>
            <a:r>
              <a:t>Date is year, year/month, year/month/day</a:t>
            </a:r>
          </a:p>
          <a:p>
            <a:r>
              <a:t>Time is zone-less, dateless (see you at 8:00 AM every day)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noRot="1" noChangeAspect="1"/>
          </p:cNvSpPr>
          <p:nvPr>
            <p:ph type="sldImg"/>
          </p:nvPr>
        </p:nvSpPr>
        <p:spPr>
          <a:xfrm>
            <a:off x="381000" y="685800"/>
            <a:ext cx="6096000" cy="3429000"/>
          </a:xfrm>
          <a:prstGeom prst="rect">
            <a:avLst/>
          </a:prstGeom>
        </p:spPr>
        <p:txBody>
          <a:bodyPr/>
          <a:lstStyle/>
          <a:p>
            <a:endParaRPr/>
          </a:p>
        </p:txBody>
      </p:sp>
      <p:sp>
        <p:nvSpPr>
          <p:cNvPr id="263" name="Shape 263"/>
          <p:cNvSpPr>
            <a:spLocks noGrp="1"/>
          </p:cNvSpPr>
          <p:nvPr>
            <p:ph type="body" sz="quarter" idx="1"/>
          </p:nvPr>
        </p:nvSpPr>
        <p:spPr>
          <a:prstGeom prst="rect">
            <a:avLst/>
          </a:prstGeom>
        </p:spPr>
        <p:txBody>
          <a:bodyPr/>
          <a:lstStyle/>
          <a:p>
            <a:r>
              <a:t>Code: codified value (usually from a set of values) to represent a concept.</a:t>
            </a:r>
          </a:p>
          <a:p>
            <a:r>
              <a:t>Coding: Code + meta data (e.g., system, version)</a:t>
            </a:r>
          </a:p>
          <a:p>
            <a:r>
              <a:t>CodeableConcept allows you to choose a list of codes, e.g.: multiple terminologies</a:t>
            </a:r>
          </a:p>
          <a:p>
            <a:r>
              <a:t>CodeableConcept references Coding, Coding references a Code.</a:t>
            </a:r>
          </a:p>
          <a:p>
            <a:r>
              <a:t>Code: m, f, unk</a:t>
            </a:r>
          </a:p>
          <a:p>
            <a:r>
              <a:t>Coding: m, + system</a:t>
            </a:r>
          </a:p>
          <a:p>
            <a:r>
              <a:t>CodeableConcept: Relationship type for patient contacts, Observation type (e.g.: height/weight, Loinc, SNOMED)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Shape 278"/>
          <p:cNvSpPr>
            <a:spLocks noGrp="1" noRot="1" noChangeAspect="1"/>
          </p:cNvSpPr>
          <p:nvPr>
            <p:ph type="sldImg"/>
          </p:nvPr>
        </p:nvSpPr>
        <p:spPr>
          <a:xfrm>
            <a:off x="381000" y="685800"/>
            <a:ext cx="6096000" cy="3429000"/>
          </a:xfrm>
          <a:prstGeom prst="rect">
            <a:avLst/>
          </a:prstGeom>
        </p:spPr>
        <p:txBody>
          <a:bodyPr/>
          <a:lstStyle/>
          <a:p>
            <a:endParaRPr/>
          </a:p>
        </p:txBody>
      </p:sp>
      <p:sp>
        <p:nvSpPr>
          <p:cNvPr id="279" name="Shape 279"/>
          <p:cNvSpPr>
            <a:spLocks noGrp="1"/>
          </p:cNvSpPr>
          <p:nvPr>
            <p:ph type="body" sz="quarter" idx="1"/>
          </p:nvPr>
        </p:nvSpPr>
        <p:spPr>
          <a:prstGeom prst="rect">
            <a:avLst/>
          </a:prstGeom>
        </p:spPr>
        <p:txBody>
          <a:bodyPr/>
          <a:lstStyle/>
          <a:p>
            <a:r>
              <a:t>That number to the side…?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a:spLocks noGrp="1" noRot="1" noChangeAspect="1"/>
          </p:cNvSpPr>
          <p:nvPr>
            <p:ph type="sldImg"/>
          </p:nvPr>
        </p:nvSpPr>
        <p:spPr>
          <a:xfrm>
            <a:off x="381000" y="685800"/>
            <a:ext cx="6096000" cy="3429000"/>
          </a:xfrm>
          <a:prstGeom prst="rect">
            <a:avLst/>
          </a:prstGeom>
        </p:spPr>
        <p:txBody>
          <a:bodyPr/>
          <a:lstStyle/>
          <a:p>
            <a:endParaRPr/>
          </a:p>
        </p:txBody>
      </p:sp>
      <p:sp>
        <p:nvSpPr>
          <p:cNvPr id="285" name="Shape 285"/>
          <p:cNvSpPr>
            <a:spLocks noGrp="1"/>
          </p:cNvSpPr>
          <p:nvPr>
            <p:ph type="body" sz="quarter" idx="1"/>
          </p:nvPr>
        </p:nvSpPr>
        <p:spPr>
          <a:prstGeom prst="rect">
            <a:avLst/>
          </a:prstGeom>
        </p:spPr>
        <p:txBody>
          <a:bodyPr/>
          <a:lstStyle/>
          <a:p>
            <a:r>
              <a:t>If you are adverse to change, choose 4+</a:t>
            </a:r>
          </a:p>
          <a:p>
            <a:r>
              <a:t>… which doesn’t exist in DSTU 2</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Click “Patient” link upon landing on page from link at bottom of slide</a:t>
            </a:r>
          </a:p>
        </p:txBody>
      </p:sp>
    </p:spTree>
    <p:extLst>
      <p:ext uri="{BB962C8B-B14F-4D97-AF65-F5344CB8AC3E}">
        <p14:creationId xmlns:p14="http://schemas.microsoft.com/office/powerpoint/2010/main" val="2490664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hape 297"/>
          <p:cNvSpPr>
            <a:spLocks noGrp="1" noRot="1" noChangeAspect="1"/>
          </p:cNvSpPr>
          <p:nvPr>
            <p:ph type="sldImg"/>
          </p:nvPr>
        </p:nvSpPr>
        <p:spPr>
          <a:xfrm>
            <a:off x="381000" y="685800"/>
            <a:ext cx="6096000" cy="3429000"/>
          </a:xfrm>
          <a:prstGeom prst="rect">
            <a:avLst/>
          </a:prstGeom>
        </p:spPr>
        <p:txBody>
          <a:bodyPr/>
          <a:lstStyle/>
          <a:p>
            <a:endParaRPr/>
          </a:p>
        </p:txBody>
      </p:sp>
      <p:sp>
        <p:nvSpPr>
          <p:cNvPr id="298" name="Shape 298"/>
          <p:cNvSpPr>
            <a:spLocks noGrp="1"/>
          </p:cNvSpPr>
          <p:nvPr>
            <p:ph type="body" sz="quarter" idx="1"/>
          </p:nvPr>
        </p:nvSpPr>
        <p:spPr>
          <a:prstGeom prst="rect">
            <a:avLst/>
          </a:prstGeom>
        </p:spPr>
        <p:txBody>
          <a:bodyPr/>
          <a:lstStyle/>
          <a:p>
            <a:r>
              <a:t>Required: for codeableConcept, you can’t just send “text”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 302"/>
          <p:cNvSpPr>
            <a:spLocks noGrp="1" noRot="1" noChangeAspect="1"/>
          </p:cNvSpPr>
          <p:nvPr>
            <p:ph type="sldImg"/>
          </p:nvPr>
        </p:nvSpPr>
        <p:spPr>
          <a:xfrm>
            <a:off x="381000" y="685800"/>
            <a:ext cx="6096000" cy="3429000"/>
          </a:xfrm>
          <a:prstGeom prst="rect">
            <a:avLst/>
          </a:prstGeom>
        </p:spPr>
        <p:txBody>
          <a:bodyPr/>
          <a:lstStyle/>
          <a:p>
            <a:endParaRPr/>
          </a:p>
        </p:txBody>
      </p:sp>
      <p:sp>
        <p:nvSpPr>
          <p:cNvPr id="303" name="Shape 303"/>
          <p:cNvSpPr>
            <a:spLocks noGrp="1"/>
          </p:cNvSpPr>
          <p:nvPr>
            <p:ph type="body" sz="quarter" idx="1"/>
          </p:nvPr>
        </p:nvSpPr>
        <p:spPr>
          <a:prstGeom prst="rect">
            <a:avLst/>
          </a:prstGeom>
        </p:spPr>
        <p:txBody>
          <a:bodyPr/>
          <a:lstStyle/>
          <a:p>
            <a:r>
              <a:t>If a binding isn’t “required” by core spec, we’ll call out what our binding strength is in documentation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Shape 310"/>
          <p:cNvSpPr>
            <a:spLocks noGrp="1" noRot="1" noChangeAspect="1"/>
          </p:cNvSpPr>
          <p:nvPr>
            <p:ph type="sldImg"/>
          </p:nvPr>
        </p:nvSpPr>
        <p:spPr>
          <a:xfrm>
            <a:off x="381000" y="685800"/>
            <a:ext cx="6096000" cy="3429000"/>
          </a:xfrm>
          <a:prstGeom prst="rect">
            <a:avLst/>
          </a:prstGeom>
        </p:spPr>
        <p:txBody>
          <a:bodyPr/>
          <a:lstStyle/>
          <a:p>
            <a:endParaRPr/>
          </a:p>
        </p:txBody>
      </p:sp>
      <p:sp>
        <p:nvSpPr>
          <p:cNvPr id="311" name="Shape 311"/>
          <p:cNvSpPr>
            <a:spLocks noGrp="1"/>
          </p:cNvSpPr>
          <p:nvPr>
            <p:ph type="body" sz="quarter" idx="1"/>
          </p:nvPr>
        </p:nvSpPr>
        <p:spPr>
          <a:prstGeom prst="rect">
            <a:avLst/>
          </a:prstGeom>
        </p:spPr>
        <p:txBody>
          <a:bodyPr/>
          <a:lstStyle/>
          <a:p>
            <a:r>
              <a:t>It is often the fall back if a client application doesn’t understand the FHIR resource in question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60114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381000" y="685800"/>
            <a:ext cx="6096000" cy="3429000"/>
          </a:xfrm>
          <a:prstGeom prst="rect">
            <a:avLst/>
          </a:prstGeom>
        </p:spPr>
        <p:txBody>
          <a:bodyPr/>
          <a:lstStyle/>
          <a:p>
            <a:endParaRPr/>
          </a:p>
        </p:txBody>
      </p:sp>
      <p:sp>
        <p:nvSpPr>
          <p:cNvPr id="368" name="Shape 368"/>
          <p:cNvSpPr>
            <a:spLocks noGrp="1"/>
          </p:cNvSpPr>
          <p:nvPr>
            <p:ph type="body" sz="quarter" idx="1"/>
          </p:nvPr>
        </p:nvSpPr>
        <p:spPr>
          <a:prstGeom prst="rect">
            <a:avLst/>
          </a:prstGeom>
        </p:spPr>
        <p:txBody>
          <a:bodyPr/>
          <a:lstStyle/>
          <a:p>
            <a:r>
              <a:t>This example is searching for all allergies for patient 123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Shape 376"/>
          <p:cNvSpPr>
            <a:spLocks noGrp="1" noRot="1" noChangeAspect="1"/>
          </p:cNvSpPr>
          <p:nvPr>
            <p:ph type="sldImg"/>
          </p:nvPr>
        </p:nvSpPr>
        <p:spPr>
          <a:xfrm>
            <a:off x="381000" y="685800"/>
            <a:ext cx="6096000" cy="3429000"/>
          </a:xfrm>
          <a:prstGeom prst="rect">
            <a:avLst/>
          </a:prstGeom>
        </p:spPr>
        <p:txBody>
          <a:bodyPr/>
          <a:lstStyle/>
          <a:p>
            <a:endParaRPr/>
          </a:p>
        </p:txBody>
      </p:sp>
      <p:sp>
        <p:nvSpPr>
          <p:cNvPr id="377" name="Shape 377"/>
          <p:cNvSpPr>
            <a:spLocks noGrp="1"/>
          </p:cNvSpPr>
          <p:nvPr>
            <p:ph type="body" sz="quarter" idx="1"/>
          </p:nvPr>
        </p:nvSpPr>
        <p:spPr>
          <a:prstGeom prst="rect">
            <a:avLst/>
          </a:prstGeom>
        </p:spPr>
        <p:txBody>
          <a:bodyPr/>
          <a:lstStyle/>
          <a:p>
            <a:r>
              <a:t>Handle paging in the application, which helps ensure you’re run against most servers. Check for the “next” link to see if there are additional pages.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Shape 382"/>
          <p:cNvSpPr>
            <a:spLocks noGrp="1" noRot="1" noChangeAspect="1"/>
          </p:cNvSpPr>
          <p:nvPr>
            <p:ph type="sldImg"/>
          </p:nvPr>
        </p:nvSpPr>
        <p:spPr>
          <a:xfrm>
            <a:off x="381000" y="685800"/>
            <a:ext cx="6096000" cy="3429000"/>
          </a:xfrm>
          <a:prstGeom prst="rect">
            <a:avLst/>
          </a:prstGeom>
        </p:spPr>
        <p:txBody>
          <a:bodyPr/>
          <a:lstStyle/>
          <a:p>
            <a:endParaRPr/>
          </a:p>
        </p:txBody>
      </p:sp>
      <p:sp>
        <p:nvSpPr>
          <p:cNvPr id="383" name="Shape 383"/>
          <p:cNvSpPr>
            <a:spLocks noGrp="1"/>
          </p:cNvSpPr>
          <p:nvPr>
            <p:ph type="body" sz="quarter" idx="1"/>
          </p:nvPr>
        </p:nvSpPr>
        <p:spPr>
          <a:prstGeom prst="rect">
            <a:avLst/>
          </a:prstGeom>
        </p:spPr>
        <p:txBody>
          <a:bodyPr/>
          <a:lstStyle/>
          <a:p>
            <a:r>
              <a:t>The previous link isn’t in this example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Shape 408"/>
          <p:cNvSpPr>
            <a:spLocks noGrp="1" noRot="1" noChangeAspect="1"/>
          </p:cNvSpPr>
          <p:nvPr>
            <p:ph type="sldImg"/>
          </p:nvPr>
        </p:nvSpPr>
        <p:spPr>
          <a:xfrm>
            <a:off x="381000" y="685800"/>
            <a:ext cx="6096000" cy="3429000"/>
          </a:xfrm>
          <a:prstGeom prst="rect">
            <a:avLst/>
          </a:prstGeom>
        </p:spPr>
        <p:txBody>
          <a:bodyPr/>
          <a:lstStyle/>
          <a:p>
            <a:endParaRPr/>
          </a:p>
        </p:txBody>
      </p:sp>
      <p:sp>
        <p:nvSpPr>
          <p:cNvPr id="409" name="Shape 409"/>
          <p:cNvSpPr>
            <a:spLocks noGrp="1"/>
          </p:cNvSpPr>
          <p:nvPr>
            <p:ph type="body" sz="quarter" idx="1"/>
          </p:nvPr>
        </p:nvSpPr>
        <p:spPr>
          <a:prstGeom prst="rect">
            <a:avLst/>
          </a:prstGeom>
        </p:spPr>
        <p:txBody>
          <a:bodyPr/>
          <a:lstStyle/>
          <a:p>
            <a:r>
              <a:t>Note: Patient vs Person. Person represents people “in the real world” for example, it could link to your patient record in many FHIR servers. In CommonWell, most of the core is the “Person” and the records they’re tied to are Patient. We would use Patient here since we’re looking at patient records in an EHR.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Shape 408"/>
          <p:cNvSpPr>
            <a:spLocks noGrp="1" noRot="1" noChangeAspect="1"/>
          </p:cNvSpPr>
          <p:nvPr>
            <p:ph type="sldImg"/>
          </p:nvPr>
        </p:nvSpPr>
        <p:spPr>
          <a:xfrm>
            <a:off x="381000" y="685800"/>
            <a:ext cx="6096000" cy="3429000"/>
          </a:xfrm>
          <a:prstGeom prst="rect">
            <a:avLst/>
          </a:prstGeom>
        </p:spPr>
        <p:txBody>
          <a:bodyPr/>
          <a:lstStyle/>
          <a:p>
            <a:endParaRPr/>
          </a:p>
        </p:txBody>
      </p:sp>
      <p:sp>
        <p:nvSpPr>
          <p:cNvPr id="409" name="Shape 409"/>
          <p:cNvSpPr>
            <a:spLocks noGrp="1"/>
          </p:cNvSpPr>
          <p:nvPr>
            <p:ph type="body" sz="quarter" idx="1"/>
          </p:nvPr>
        </p:nvSpPr>
        <p:spPr>
          <a:prstGeom prst="rect">
            <a:avLst/>
          </a:prstGeom>
        </p:spPr>
        <p:txBody>
          <a:bodyPr/>
          <a:lstStyle/>
          <a:p>
            <a:r>
              <a:t>Note: Patient vs Person. Person represents people “in the real world” for example, it could link to your patient record in many FHIR servers. In CommonWell, most of the core is the “Person” and the records they’re tied to are Patient. We would use Patient here since we’re looking at patient records in an EHR.</a:t>
            </a:r>
          </a:p>
        </p:txBody>
      </p:sp>
    </p:spTree>
    <p:extLst>
      <p:ext uri="{BB962C8B-B14F-4D97-AF65-F5344CB8AC3E}">
        <p14:creationId xmlns:p14="http://schemas.microsoft.com/office/powerpoint/2010/main" val="2673255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Shape 418"/>
          <p:cNvSpPr>
            <a:spLocks noGrp="1" noRot="1" noChangeAspect="1"/>
          </p:cNvSpPr>
          <p:nvPr>
            <p:ph type="sldImg"/>
          </p:nvPr>
        </p:nvSpPr>
        <p:spPr>
          <a:xfrm>
            <a:off x="381000" y="685800"/>
            <a:ext cx="6096000" cy="3429000"/>
          </a:xfrm>
          <a:prstGeom prst="rect">
            <a:avLst/>
          </a:prstGeom>
        </p:spPr>
        <p:txBody>
          <a:bodyPr/>
          <a:lstStyle/>
          <a:p>
            <a:endParaRPr/>
          </a:p>
        </p:txBody>
      </p:sp>
      <p:sp>
        <p:nvSpPr>
          <p:cNvPr id="419" name="Shape 419"/>
          <p:cNvSpPr>
            <a:spLocks noGrp="1"/>
          </p:cNvSpPr>
          <p:nvPr>
            <p:ph type="body" sz="quarter" idx="1"/>
          </p:nvPr>
        </p:nvSpPr>
        <p:spPr>
          <a:prstGeom prst="rect">
            <a:avLst/>
          </a:prstGeom>
        </p:spPr>
        <p:txBody>
          <a:bodyPr/>
          <a:lstStyle/>
          <a:p>
            <a:r>
              <a:rPr dirty="0"/>
              <a:t>Note: </a:t>
            </a:r>
            <a:r>
              <a:rPr dirty="0" err="1"/>
              <a:t>AllergyIntolerance</a:t>
            </a:r>
            <a:r>
              <a:rPr dirty="0"/>
              <a:t>/123 is looking up an Allergy by its id (not a patient id). Similarly, </a:t>
            </a:r>
            <a:r>
              <a:rPr dirty="0" err="1"/>
              <a:t>AllergyIntolerance</a:t>
            </a:r>
            <a:r>
              <a:rPr dirty="0"/>
              <a:t>?_id=123 is looking up allergy by id, not by the patient id.</a:t>
            </a:r>
            <a:endParaRPr lang="en-US" dirty="0"/>
          </a:p>
          <a:p>
            <a:endParaRPr lang="en-US" dirty="0"/>
          </a:p>
          <a:p>
            <a:r>
              <a:rPr lang="en-US" dirty="0"/>
              <a:t>Easy solution to find exact number when a lot of results is search for “</a:t>
            </a:r>
            <a:r>
              <a:rPr lang="en-US" dirty="0" err="1"/>
              <a:t>fullUrl</a:t>
            </a:r>
            <a:r>
              <a:rPr lang="en-US" dirty="0"/>
              <a:t>” in results.</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hape 430"/>
          <p:cNvSpPr>
            <a:spLocks noGrp="1" noRot="1" noChangeAspect="1"/>
          </p:cNvSpPr>
          <p:nvPr>
            <p:ph type="sldImg"/>
          </p:nvPr>
        </p:nvSpPr>
        <p:spPr>
          <a:xfrm>
            <a:off x="381000" y="685800"/>
            <a:ext cx="6096000" cy="3429000"/>
          </a:xfrm>
          <a:prstGeom prst="rect">
            <a:avLst/>
          </a:prstGeom>
        </p:spPr>
        <p:txBody>
          <a:bodyPr/>
          <a:lstStyle/>
          <a:p>
            <a:endParaRPr/>
          </a:p>
        </p:txBody>
      </p:sp>
      <p:sp>
        <p:nvSpPr>
          <p:cNvPr id="431" name="Shape 431"/>
          <p:cNvSpPr>
            <a:spLocks noGrp="1"/>
          </p:cNvSpPr>
          <p:nvPr>
            <p:ph type="body" sz="quarter" idx="1"/>
          </p:nvPr>
        </p:nvSpPr>
        <p:spPr>
          <a:prstGeom prst="rect">
            <a:avLst/>
          </a:prstGeom>
        </p:spPr>
        <p:txBody>
          <a:bodyPr/>
          <a:lstStyle/>
          <a:p>
            <a:r>
              <a:rPr dirty="0"/>
              <a:t>Be aware that querying by a field that isn’t required may mean that values that weren’t mapped or understood by the FHIR server won’t be returned. </a:t>
            </a:r>
          </a:p>
          <a:p>
            <a:endParaRPr dirty="0"/>
          </a:p>
          <a:p>
            <a:r>
              <a:rPr dirty="0"/>
              <a:t>In the Allergy case, STU 3 is addressing this issue with allergies by requiring the status and adding an “unknown” that could be used to ensure all possible allergies can be retrieved.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Oids</a:t>
            </a:r>
            <a:r>
              <a:rPr lang="en-US" dirty="0"/>
              <a:t> created in SI Manager</a:t>
            </a:r>
          </a:p>
        </p:txBody>
      </p:sp>
    </p:spTree>
    <p:extLst>
      <p:ext uri="{BB962C8B-B14F-4D97-AF65-F5344CB8AC3E}">
        <p14:creationId xmlns:p14="http://schemas.microsoft.com/office/powerpoint/2010/main" val="1181857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Shape 475"/>
          <p:cNvSpPr>
            <a:spLocks noGrp="1" noRot="1" noChangeAspect="1"/>
          </p:cNvSpPr>
          <p:nvPr>
            <p:ph type="sldImg"/>
          </p:nvPr>
        </p:nvSpPr>
        <p:spPr>
          <a:xfrm>
            <a:off x="381000" y="685800"/>
            <a:ext cx="6096000" cy="3429000"/>
          </a:xfrm>
          <a:prstGeom prst="rect">
            <a:avLst/>
          </a:prstGeom>
        </p:spPr>
        <p:txBody>
          <a:bodyPr/>
          <a:lstStyle/>
          <a:p>
            <a:endParaRPr/>
          </a:p>
        </p:txBody>
      </p:sp>
      <p:sp>
        <p:nvSpPr>
          <p:cNvPr id="476" name="Shape 476"/>
          <p:cNvSpPr>
            <a:spLocks noGrp="1"/>
          </p:cNvSpPr>
          <p:nvPr>
            <p:ph type="body" sz="quarter" idx="1"/>
          </p:nvPr>
        </p:nvSpPr>
        <p:spPr>
          <a:prstGeom prst="rect">
            <a:avLst/>
          </a:prstGeom>
        </p:spPr>
        <p:txBody>
          <a:bodyPr/>
          <a:lstStyle/>
          <a:p>
            <a:r>
              <a:t>Note: this should show in the narrative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Shape 480"/>
          <p:cNvSpPr>
            <a:spLocks noGrp="1" noRot="1" noChangeAspect="1"/>
          </p:cNvSpPr>
          <p:nvPr>
            <p:ph type="sldImg"/>
          </p:nvPr>
        </p:nvSpPr>
        <p:spPr>
          <a:xfrm>
            <a:off x="381000" y="685800"/>
            <a:ext cx="6096000" cy="3429000"/>
          </a:xfrm>
          <a:prstGeom prst="rect">
            <a:avLst/>
          </a:prstGeom>
        </p:spPr>
        <p:txBody>
          <a:bodyPr/>
          <a:lstStyle/>
          <a:p>
            <a:endParaRPr/>
          </a:p>
        </p:txBody>
      </p:sp>
      <p:sp>
        <p:nvSpPr>
          <p:cNvPr id="481" name="Shape 481"/>
          <p:cNvSpPr>
            <a:spLocks noGrp="1"/>
          </p:cNvSpPr>
          <p:nvPr>
            <p:ph type="body" sz="quarter" idx="1"/>
          </p:nvPr>
        </p:nvSpPr>
        <p:spPr>
          <a:prstGeom prst="rect">
            <a:avLst/>
          </a:prstGeom>
        </p:spPr>
        <p:txBody>
          <a:bodyPr/>
          <a:lstStyle/>
          <a:p>
            <a:r>
              <a:t>Not a modifier</a:t>
            </a:r>
          </a:p>
          <a:p>
            <a:r>
              <a:t>Extension to patient.birthDate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noRot="1" noChangeAspect="1"/>
          </p:cNvSpPr>
          <p:nvPr>
            <p:ph type="sldImg"/>
          </p:nvPr>
        </p:nvSpPr>
        <p:spPr>
          <a:xfrm>
            <a:off x="381000" y="685800"/>
            <a:ext cx="6096000" cy="3429000"/>
          </a:xfrm>
          <a:prstGeom prst="rect">
            <a:avLst/>
          </a:prstGeom>
        </p:spPr>
        <p:txBody>
          <a:bodyPr/>
          <a:lstStyle/>
          <a:p>
            <a:endParaRPr/>
          </a:p>
        </p:txBody>
      </p:sp>
      <p:sp>
        <p:nvSpPr>
          <p:cNvPr id="490" name="Shape 490"/>
          <p:cNvSpPr>
            <a:spLocks noGrp="1"/>
          </p:cNvSpPr>
          <p:nvPr>
            <p:ph type="body" sz="quarter" idx="1"/>
          </p:nvPr>
        </p:nvSpPr>
        <p:spPr>
          <a:prstGeom prst="rect">
            <a:avLst/>
          </a:prstGeom>
        </p:spPr>
        <p:txBody>
          <a:bodyPr/>
          <a:lstStyle/>
          <a:p>
            <a:r>
              <a:t>Can be used to describe other things, like desired implementations or capabilities, we’ll concentrate on describing a FHIR server contract.</a:t>
            </a:r>
          </a:p>
          <a:p>
            <a:endParaRPr/>
          </a:p>
          <a:p>
            <a:r>
              <a:t>Not enough to completely configure, but a step in that direction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Shape 499"/>
          <p:cNvSpPr>
            <a:spLocks noGrp="1" noRot="1" noChangeAspect="1"/>
          </p:cNvSpPr>
          <p:nvPr>
            <p:ph type="sldImg"/>
          </p:nvPr>
        </p:nvSpPr>
        <p:spPr>
          <a:xfrm>
            <a:off x="381000" y="685800"/>
            <a:ext cx="6096000" cy="3429000"/>
          </a:xfrm>
          <a:prstGeom prst="rect">
            <a:avLst/>
          </a:prstGeom>
        </p:spPr>
        <p:txBody>
          <a:bodyPr/>
          <a:lstStyle/>
          <a:p>
            <a:endParaRPr/>
          </a:p>
        </p:txBody>
      </p:sp>
      <p:sp>
        <p:nvSpPr>
          <p:cNvPr id="500" name="Shape 500"/>
          <p:cNvSpPr>
            <a:spLocks noGrp="1"/>
          </p:cNvSpPr>
          <p:nvPr>
            <p:ph type="body" sz="quarter" idx="1"/>
          </p:nvPr>
        </p:nvSpPr>
        <p:spPr>
          <a:prstGeom prst="rect">
            <a:avLst/>
          </a:prstGeom>
        </p:spPr>
        <p:txBody>
          <a:bodyPr/>
          <a:lstStyle/>
          <a:p>
            <a:r>
              <a:t>It defines a large part of the contract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Same deal as slide 24 where you have to click the “Patient” hyperlink at the top to expand</a:t>
            </a:r>
          </a:p>
          <a:p>
            <a:endParaRPr lang="en-US" dirty="0"/>
          </a:p>
          <a:p>
            <a:r>
              <a:rPr lang="en-US" dirty="0"/>
              <a:t>Patient Birth Time</a:t>
            </a:r>
          </a:p>
          <a:p>
            <a:r>
              <a:rPr lang="en-US" dirty="0"/>
              <a:t>Patient Preferred Contact</a:t>
            </a:r>
          </a:p>
          <a:p>
            <a:r>
              <a:rPr lang="en-US" dirty="0"/>
              <a:t>US Core Race</a:t>
            </a:r>
          </a:p>
          <a:p>
            <a:r>
              <a:rPr lang="en-US" dirty="0"/>
              <a:t>US Core Ethnicity</a:t>
            </a:r>
          </a:p>
          <a:p>
            <a:r>
              <a:rPr lang="en-US" dirty="0"/>
              <a:t>US Core Birth Sex</a:t>
            </a:r>
          </a:p>
          <a:p>
            <a:r>
              <a:rPr lang="en-US" dirty="0"/>
              <a:t>US Core Gender Identity</a:t>
            </a:r>
          </a:p>
          <a:p>
            <a:r>
              <a:rPr lang="en-US" dirty="0"/>
              <a:t>US Core Sex</a:t>
            </a:r>
          </a:p>
          <a:p>
            <a:r>
              <a:rPr lang="en-US" dirty="0"/>
              <a:t>US Core Tribal Affiliation</a:t>
            </a:r>
          </a:p>
          <a:p>
            <a:r>
              <a:rPr lang="en-US" dirty="0"/>
              <a:t>Communication Preference</a:t>
            </a:r>
          </a:p>
        </p:txBody>
      </p:sp>
    </p:spTree>
    <p:extLst>
      <p:ext uri="{BB962C8B-B14F-4D97-AF65-F5344CB8AC3E}">
        <p14:creationId xmlns:p14="http://schemas.microsoft.com/office/powerpoint/2010/main" val="4087627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Shape 515"/>
          <p:cNvSpPr>
            <a:spLocks noGrp="1" noRot="1" noChangeAspect="1"/>
          </p:cNvSpPr>
          <p:nvPr>
            <p:ph type="sldImg"/>
          </p:nvPr>
        </p:nvSpPr>
        <p:spPr>
          <a:xfrm>
            <a:off x="381000" y="685800"/>
            <a:ext cx="6096000" cy="3429000"/>
          </a:xfrm>
          <a:prstGeom prst="rect">
            <a:avLst/>
          </a:prstGeom>
        </p:spPr>
        <p:txBody>
          <a:bodyPr/>
          <a:lstStyle/>
          <a:p>
            <a:endParaRPr/>
          </a:p>
        </p:txBody>
      </p:sp>
      <p:sp>
        <p:nvSpPr>
          <p:cNvPr id="516" name="Shape 516"/>
          <p:cNvSpPr>
            <a:spLocks noGrp="1"/>
          </p:cNvSpPr>
          <p:nvPr>
            <p:ph type="body" sz="quarter" idx="1"/>
          </p:nvPr>
        </p:nvSpPr>
        <p:spPr>
          <a:prstGeom prst="rect">
            <a:avLst/>
          </a:prstGeom>
        </p:spPr>
        <p:txBody>
          <a:bodyPr/>
          <a:lstStyle/>
          <a:p>
            <a:r>
              <a:rPr dirty="0"/>
              <a:t>Note: Make sure to remove spaces in your URL for FHIR - there should be none, and having spaces in the server URL will cause errors. HTTP URLs are space and case sensitive.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Shape 535"/>
          <p:cNvSpPr>
            <a:spLocks noGrp="1" noRot="1" noChangeAspect="1"/>
          </p:cNvSpPr>
          <p:nvPr>
            <p:ph type="sldImg"/>
          </p:nvPr>
        </p:nvSpPr>
        <p:spPr>
          <a:xfrm>
            <a:off x="381000" y="685800"/>
            <a:ext cx="6096000" cy="3429000"/>
          </a:xfrm>
          <a:prstGeom prst="rect">
            <a:avLst/>
          </a:prstGeom>
        </p:spPr>
        <p:txBody>
          <a:bodyPr/>
          <a:lstStyle/>
          <a:p>
            <a:endParaRPr/>
          </a:p>
        </p:txBody>
      </p:sp>
      <p:sp>
        <p:nvSpPr>
          <p:cNvPr id="536" name="Shape 536"/>
          <p:cNvSpPr>
            <a:spLocks noGrp="1"/>
          </p:cNvSpPr>
          <p:nvPr>
            <p:ph type="body" sz="quarter" idx="1"/>
          </p:nvPr>
        </p:nvSpPr>
        <p:spPr>
          <a:prstGeom prst="rect">
            <a:avLst/>
          </a:prstGeom>
        </p:spPr>
        <p:txBody>
          <a:bodyPr/>
          <a:lstStyle/>
          <a:p>
            <a:r>
              <a:rPr dirty="0" err="1"/>
              <a:t>StructureDefinition</a:t>
            </a:r>
            <a:r>
              <a:rPr dirty="0"/>
              <a:t> resource (in DSTU 2)</a:t>
            </a:r>
          </a:p>
          <a:p>
            <a:r>
              <a:rPr dirty="0"/>
              <a:t>Detailed description of contracts, per user case or per system</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Shape 540"/>
          <p:cNvSpPr>
            <a:spLocks noGrp="1" noRot="1" noChangeAspect="1"/>
          </p:cNvSpPr>
          <p:nvPr>
            <p:ph type="sldImg"/>
          </p:nvPr>
        </p:nvSpPr>
        <p:spPr>
          <a:xfrm>
            <a:off x="381000" y="685800"/>
            <a:ext cx="6096000" cy="3429000"/>
          </a:xfrm>
          <a:prstGeom prst="rect">
            <a:avLst/>
          </a:prstGeom>
        </p:spPr>
        <p:txBody>
          <a:bodyPr/>
          <a:lstStyle/>
          <a:p>
            <a:endParaRPr/>
          </a:p>
        </p:txBody>
      </p:sp>
      <p:sp>
        <p:nvSpPr>
          <p:cNvPr id="541" name="Shape 541"/>
          <p:cNvSpPr>
            <a:spLocks noGrp="1"/>
          </p:cNvSpPr>
          <p:nvPr>
            <p:ph type="body" sz="quarter" idx="1"/>
          </p:nvPr>
        </p:nvSpPr>
        <p:spPr>
          <a:prstGeom prst="rect">
            <a:avLst/>
          </a:prstGeom>
        </p:spPr>
        <p:txBody>
          <a:bodyPr/>
          <a:lstStyle/>
          <a:p>
            <a:r>
              <a:t>Compatible: If core binds as required, you can’t change it</a:t>
            </a:r>
          </a:p>
          <a:p>
            <a:r>
              <a:t>If core has 1..*, you can’t change to 0..*, but can change to 1..1</a:t>
            </a:r>
          </a:p>
          <a:p>
            <a:endParaRPr/>
          </a:p>
          <a:p>
            <a:endParaRPr/>
          </a:p>
          <a:p>
            <a:r>
              <a:t>Goal: must be safe to process a resource without the profile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Shape 565"/>
          <p:cNvSpPr>
            <a:spLocks noGrp="1" noRot="1" noChangeAspect="1"/>
          </p:cNvSpPr>
          <p:nvPr>
            <p:ph type="sldImg"/>
          </p:nvPr>
        </p:nvSpPr>
        <p:spPr>
          <a:xfrm>
            <a:off x="381000" y="685800"/>
            <a:ext cx="6096000" cy="3429000"/>
          </a:xfrm>
          <a:prstGeom prst="rect">
            <a:avLst/>
          </a:prstGeom>
        </p:spPr>
        <p:txBody>
          <a:bodyPr/>
          <a:lstStyle/>
          <a:p>
            <a:endParaRPr/>
          </a:p>
        </p:txBody>
      </p:sp>
      <p:sp>
        <p:nvSpPr>
          <p:cNvPr id="566" name="Shape 566"/>
          <p:cNvSpPr>
            <a:spLocks noGrp="1"/>
          </p:cNvSpPr>
          <p:nvPr>
            <p:ph type="body" sz="quarter" idx="1"/>
          </p:nvPr>
        </p:nvSpPr>
        <p:spPr>
          <a:prstGeom prst="rect">
            <a:avLst/>
          </a:prstGeom>
        </p:spPr>
        <p:txBody>
          <a:bodyPr/>
          <a:lstStyle/>
          <a:p>
            <a:r>
              <a:t>You need to ensure you properly escape/encode the URL so that protected characters are percent encoded. This is to ensure that the server can interpret the URL correctly. Postman does this for you, and *some* http libraries will, but make sure your code (or app) handles this logic to encode or decode as needed.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Shape 565"/>
          <p:cNvSpPr>
            <a:spLocks noGrp="1" noRot="1" noChangeAspect="1"/>
          </p:cNvSpPr>
          <p:nvPr>
            <p:ph type="sldImg"/>
          </p:nvPr>
        </p:nvSpPr>
        <p:spPr>
          <a:xfrm>
            <a:off x="381000" y="685800"/>
            <a:ext cx="6096000" cy="3429000"/>
          </a:xfrm>
          <a:prstGeom prst="rect">
            <a:avLst/>
          </a:prstGeom>
        </p:spPr>
        <p:txBody>
          <a:bodyPr/>
          <a:lstStyle/>
          <a:p>
            <a:endParaRPr/>
          </a:p>
        </p:txBody>
      </p:sp>
      <p:sp>
        <p:nvSpPr>
          <p:cNvPr id="566" name="Shape 566"/>
          <p:cNvSpPr>
            <a:spLocks noGrp="1"/>
          </p:cNvSpPr>
          <p:nvPr>
            <p:ph type="body" sz="quarter" idx="1"/>
          </p:nvPr>
        </p:nvSpPr>
        <p:spPr>
          <a:prstGeom prst="rect">
            <a:avLst/>
          </a:prstGeom>
        </p:spPr>
        <p:txBody>
          <a:bodyPr/>
          <a:lstStyle/>
          <a:p>
            <a:r>
              <a:t>You need to ensure you properly escape/encode the URL so that protected characters are percent encoded. This is to ensure that the server can interpret the URL correctly. Postman does this for you, and *some* http libraries will, but make sure your code (or app) handles this logic to encode or decode as needed.</a:t>
            </a:r>
          </a:p>
        </p:txBody>
      </p:sp>
    </p:spTree>
    <p:extLst>
      <p:ext uri="{BB962C8B-B14F-4D97-AF65-F5344CB8AC3E}">
        <p14:creationId xmlns:p14="http://schemas.microsoft.com/office/powerpoint/2010/main" val="67893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Click on hyperlink to “</a:t>
            </a:r>
            <a:r>
              <a:rPr lang="en-US" dirty="0" err="1"/>
              <a:t>code:string</a:t>
            </a:r>
            <a:r>
              <a:rPr lang="en-US" dirty="0"/>
              <a:t>”</a:t>
            </a:r>
          </a:p>
        </p:txBody>
      </p:sp>
    </p:spTree>
    <p:extLst>
      <p:ext uri="{BB962C8B-B14F-4D97-AF65-F5344CB8AC3E}">
        <p14:creationId xmlns:p14="http://schemas.microsoft.com/office/powerpoint/2010/main" val="64411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 Center">
    <p:bg>
      <p:bgPr>
        <a:solidFill>
          <a:srgbClr val="0191BC"/>
        </a:solidFill>
        <a:effectLst/>
      </p:bgPr>
    </p:bg>
    <p:spTree>
      <p:nvGrpSpPr>
        <p:cNvPr id="1" name=""/>
        <p:cNvGrpSpPr/>
        <p:nvPr/>
      </p:nvGrpSpPr>
      <p:grpSpPr>
        <a:xfrm>
          <a:off x="0" y="0"/>
          <a:ext cx="0" cy="0"/>
          <a:chOff x="0" y="0"/>
          <a:chExt cx="0" cy="0"/>
        </a:xfrm>
      </p:grpSpPr>
      <p:sp>
        <p:nvSpPr>
          <p:cNvPr id="30" name="Shape 30"/>
          <p:cNvSpPr>
            <a:spLocks noGrp="1"/>
          </p:cNvSpPr>
          <p:nvPr>
            <p:ph type="title"/>
          </p:nvPr>
        </p:nvSpPr>
        <p:spPr>
          <a:xfrm>
            <a:off x="1778000" y="4533900"/>
            <a:ext cx="20828000" cy="4648200"/>
          </a:xfrm>
          <a:prstGeom prst="rect">
            <a:avLst/>
          </a:prstGeom>
        </p:spPr>
        <p:txBody>
          <a:bodyPr/>
          <a:lstStyle>
            <a:lvl1pPr>
              <a:defRPr sz="9700"/>
            </a:lvl1pPr>
          </a:lstStyle>
          <a:p>
            <a:r>
              <a:t>Title Text</a:t>
            </a:r>
          </a:p>
        </p:txBody>
      </p:sp>
      <p:sp>
        <p:nvSpPr>
          <p:cNvPr id="31" name="Shape 31"/>
          <p:cNvSpPr/>
          <p:nvPr/>
        </p:nvSpPr>
        <p:spPr>
          <a:xfrm>
            <a:off x="132848" y="124530"/>
            <a:ext cx="24118302" cy="13466939"/>
          </a:xfrm>
          <a:prstGeom prst="rect">
            <a:avLst/>
          </a:prstGeom>
          <a:ln w="342900">
            <a:solidFill>
              <a:srgbClr val="FFFFFF"/>
            </a:solidFill>
            <a:miter lim="400000"/>
          </a:ln>
        </p:spPr>
        <p:txBody>
          <a:bodyPr lIns="50800" tIns="50800" rIns="50800" bIns="50800" anchor="ctr"/>
          <a:lstStyle/>
          <a:p>
            <a:pPr>
              <a:defRPr sz="3200">
                <a:solidFill>
                  <a:srgbClr val="FFFFFF"/>
                </a:solidFill>
              </a:defRPr>
            </a:pPr>
            <a:endParaRPr/>
          </a:p>
        </p:txBody>
      </p:sp>
      <p:sp>
        <p:nvSpPr>
          <p:cNvPr id="32" name="Shape 3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9" name="Shape 39"/>
          <p:cNvSpPr>
            <a:spLocks noGrp="1"/>
          </p:cNvSpPr>
          <p:nvPr>
            <p:ph type="pic" sz="half" idx="13"/>
          </p:nvPr>
        </p:nvSpPr>
        <p:spPr>
          <a:xfrm>
            <a:off x="13165980" y="1104900"/>
            <a:ext cx="9525001" cy="11506200"/>
          </a:xfrm>
          <a:prstGeom prst="rect">
            <a:avLst/>
          </a:prstGeom>
        </p:spPr>
        <p:txBody>
          <a:bodyPr lIns="91439" tIns="45719" rIns="91439" bIns="45719" anchor="t">
            <a:noAutofit/>
          </a:bodyPr>
          <a:lstStyle/>
          <a:p>
            <a:endParaRPr/>
          </a:p>
        </p:txBody>
      </p:sp>
      <p:sp>
        <p:nvSpPr>
          <p:cNvPr id="40" name="Shape 40"/>
          <p:cNvSpPr>
            <a:spLocks noGrp="1"/>
          </p:cNvSpPr>
          <p:nvPr>
            <p:ph type="title"/>
          </p:nvPr>
        </p:nvSpPr>
        <p:spPr>
          <a:xfrm>
            <a:off x="1651000" y="1104900"/>
            <a:ext cx="10223500" cy="5613400"/>
          </a:xfrm>
          <a:prstGeom prst="rect">
            <a:avLst/>
          </a:prstGeom>
        </p:spPr>
        <p:txBody>
          <a:bodyPr anchor="b"/>
          <a:lstStyle>
            <a:lvl1pPr>
              <a:defRPr sz="8400" b="0">
                <a:solidFill>
                  <a:srgbClr val="000000"/>
                </a:solidFill>
                <a:latin typeface="+mn-lt"/>
                <a:ea typeface="+mn-ea"/>
                <a:cs typeface="+mn-cs"/>
                <a:sym typeface="Helvetica Light"/>
              </a:defRPr>
            </a:lvl1pPr>
          </a:lstStyle>
          <a:p>
            <a:r>
              <a:t>Title Text</a:t>
            </a:r>
          </a:p>
        </p:txBody>
      </p:sp>
      <p:sp>
        <p:nvSpPr>
          <p:cNvPr id="41" name="Shape 41"/>
          <p:cNvSpPr>
            <a:spLocks noGrp="1"/>
          </p:cNvSpPr>
          <p:nvPr>
            <p:ph type="body" sz="quarter" idx="1"/>
          </p:nvPr>
        </p:nvSpPr>
        <p:spPr>
          <a:xfrm>
            <a:off x="1651000" y="6845300"/>
            <a:ext cx="10223500" cy="5765800"/>
          </a:xfrm>
          <a:prstGeom prst="rect">
            <a:avLst/>
          </a:prstGeom>
        </p:spPr>
        <p:txBody>
          <a:bodyPr anchor="t"/>
          <a:lstStyle>
            <a:lvl1pPr marL="0" indent="0" algn="ctr">
              <a:spcBef>
                <a:spcPts val="0"/>
              </a:spcBef>
              <a:buSzTx/>
              <a:buNone/>
              <a:defRPr sz="4400"/>
            </a:lvl1pPr>
            <a:lvl2pPr marL="0" indent="228600" algn="ctr">
              <a:spcBef>
                <a:spcPts val="0"/>
              </a:spcBef>
              <a:buSzTx/>
              <a:buNone/>
              <a:defRPr sz="4400"/>
            </a:lvl2pPr>
            <a:lvl3pPr marL="0" indent="457200" algn="ctr">
              <a:spcBef>
                <a:spcPts val="0"/>
              </a:spcBef>
              <a:buSzTx/>
              <a:buNone/>
              <a:defRPr sz="4400"/>
            </a:lvl3pPr>
            <a:lvl4pPr marL="0" indent="685800" algn="ctr">
              <a:spcBef>
                <a:spcPts val="0"/>
              </a:spcBef>
              <a:buSzTx/>
              <a:buNone/>
              <a:defRPr sz="4400"/>
            </a:lvl4pPr>
            <a:lvl5pPr marL="0" indent="914400" algn="ctr">
              <a:spcBef>
                <a:spcPts val="0"/>
              </a:spcBef>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42" name="Shape 4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9" name="Shape 49"/>
          <p:cNvSpPr>
            <a:spLocks noGrp="1"/>
          </p:cNvSpPr>
          <p:nvPr>
            <p:ph type="title"/>
          </p:nvPr>
        </p:nvSpPr>
        <p:spPr>
          <a:prstGeom prst="rect">
            <a:avLst/>
          </a:prstGeom>
        </p:spPr>
        <p:txBody>
          <a:bodyPr/>
          <a:lstStyle/>
          <a:p>
            <a:r>
              <a:t>Title Text</a:t>
            </a:r>
          </a:p>
        </p:txBody>
      </p:sp>
      <p:sp>
        <p:nvSpPr>
          <p:cNvPr id="50" name="Shape 5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7" name="Shape 57"/>
          <p:cNvSpPr>
            <a:spLocks noGrp="1"/>
          </p:cNvSpPr>
          <p:nvPr>
            <p:ph type="title"/>
          </p:nvPr>
        </p:nvSpPr>
        <p:spPr>
          <a:prstGeom prst="rect">
            <a:avLst/>
          </a:prstGeom>
        </p:spPr>
        <p:txBody>
          <a:bodyPr/>
          <a:lstStyle/>
          <a:p>
            <a:r>
              <a:t>Title Text</a:t>
            </a:r>
          </a:p>
        </p:txBody>
      </p:sp>
      <p:sp>
        <p:nvSpPr>
          <p:cNvPr id="58" name="Shape 58"/>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9" name="Shape 5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6" name="Shape 66"/>
          <p:cNvSpPr>
            <a:spLocks noGrp="1"/>
          </p:cNvSpPr>
          <p:nvPr>
            <p:ph type="pic" sz="half" idx="13"/>
          </p:nvPr>
        </p:nvSpPr>
        <p:spPr>
          <a:xfrm>
            <a:off x="13169900" y="3238500"/>
            <a:ext cx="9525000" cy="9207500"/>
          </a:xfrm>
          <a:prstGeom prst="rect">
            <a:avLst/>
          </a:prstGeom>
        </p:spPr>
        <p:txBody>
          <a:bodyPr lIns="91439" tIns="45719" rIns="91439" bIns="45719" anchor="t">
            <a:noAutofit/>
          </a:bodyPr>
          <a:lstStyle/>
          <a:p>
            <a:endParaRPr/>
          </a:p>
        </p:txBody>
      </p:sp>
      <p:sp>
        <p:nvSpPr>
          <p:cNvPr id="67" name="Shape 67"/>
          <p:cNvSpPr>
            <a:spLocks noGrp="1"/>
          </p:cNvSpPr>
          <p:nvPr>
            <p:ph type="title"/>
          </p:nvPr>
        </p:nvSpPr>
        <p:spPr>
          <a:prstGeom prst="rect">
            <a:avLst/>
          </a:prstGeom>
        </p:spPr>
        <p:txBody>
          <a:bodyPr/>
          <a:lstStyle/>
          <a:p>
            <a:r>
              <a:t>Title Text</a:t>
            </a:r>
          </a:p>
        </p:txBody>
      </p:sp>
      <p:sp>
        <p:nvSpPr>
          <p:cNvPr id="68" name="Shape 68"/>
          <p:cNvSpPr>
            <a:spLocks noGrp="1"/>
          </p:cNvSpPr>
          <p:nvPr>
            <p:ph type="body" sz="half" idx="1"/>
          </p:nvPr>
        </p:nvSpPr>
        <p:spPr>
          <a:xfrm>
            <a:off x="1689100" y="3238500"/>
            <a:ext cx="10007600" cy="9207500"/>
          </a:xfrm>
          <a:prstGeom prst="rect">
            <a:avLst/>
          </a:prstGeom>
        </p:spPr>
        <p:txBody>
          <a:bodyPr/>
          <a:lstStyle>
            <a:lvl1pPr marL="558800" indent="-558800">
              <a:spcBef>
                <a:spcPts val="4500"/>
              </a:spcBef>
              <a:defRPr sz="4500"/>
            </a:lvl1pPr>
            <a:lvl2pPr marL="1117600" indent="-558800">
              <a:spcBef>
                <a:spcPts val="4500"/>
              </a:spcBef>
              <a:defRPr sz="4500"/>
            </a:lvl2pPr>
            <a:lvl3pPr marL="1676400" indent="-558800">
              <a:spcBef>
                <a:spcPts val="4500"/>
              </a:spcBef>
              <a:defRPr sz="4500"/>
            </a:lvl3pPr>
            <a:lvl4pPr marL="2235200" indent="-558800">
              <a:spcBef>
                <a:spcPts val="4500"/>
              </a:spcBef>
              <a:defRPr sz="4500"/>
            </a:lvl4pPr>
            <a:lvl5pPr marL="2794000" indent="-558800">
              <a:spcBef>
                <a:spcPts val="4500"/>
              </a:spcBef>
              <a:defRPr sz="4500"/>
            </a:lvl5pPr>
          </a:lstStyle>
          <a:p>
            <a:r>
              <a:t>Body Level One</a:t>
            </a:r>
          </a:p>
          <a:p>
            <a:pPr lvl="1"/>
            <a:r>
              <a:t>Body Level Two</a:t>
            </a:r>
          </a:p>
          <a:p>
            <a:pPr lvl="2"/>
            <a:r>
              <a:t>Body Level Three</a:t>
            </a:r>
          </a:p>
          <a:p>
            <a:pPr lvl="3"/>
            <a:r>
              <a:t>Body Level Four</a:t>
            </a:r>
          </a:p>
          <a:p>
            <a:pPr lvl="4"/>
            <a:r>
              <a:t>Body Level Five</a:t>
            </a:r>
          </a:p>
        </p:txBody>
      </p:sp>
      <p:sp>
        <p:nvSpPr>
          <p:cNvPr id="69" name="Shape 6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6" name="Shape 76"/>
          <p:cNvSpPr>
            <a:spLocks noGrp="1"/>
          </p:cNvSpPr>
          <p:nvPr>
            <p:ph type="body" idx="1"/>
          </p:nvPr>
        </p:nvSpPr>
        <p:spPr>
          <a:xfrm>
            <a:off x="1689100" y="1778000"/>
            <a:ext cx="21005800" cy="101473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7" name="Shape 7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4" name="Shape 84"/>
          <p:cNvSpPr>
            <a:spLocks noGrp="1"/>
          </p:cNvSpPr>
          <p:nvPr>
            <p:ph type="pic" sz="quarter" idx="13"/>
          </p:nvPr>
        </p:nvSpPr>
        <p:spPr>
          <a:xfrm>
            <a:off x="15760700" y="7048500"/>
            <a:ext cx="7404100" cy="5549900"/>
          </a:xfrm>
          <a:prstGeom prst="rect">
            <a:avLst/>
          </a:prstGeom>
        </p:spPr>
        <p:txBody>
          <a:bodyPr lIns="91439" tIns="45719" rIns="91439" bIns="45719" anchor="t">
            <a:noAutofit/>
          </a:bodyPr>
          <a:lstStyle/>
          <a:p>
            <a:endParaRPr/>
          </a:p>
        </p:txBody>
      </p:sp>
      <p:sp>
        <p:nvSpPr>
          <p:cNvPr id="85" name="Shape 85"/>
          <p:cNvSpPr>
            <a:spLocks noGrp="1"/>
          </p:cNvSpPr>
          <p:nvPr>
            <p:ph type="pic" sz="quarter" idx="14"/>
          </p:nvPr>
        </p:nvSpPr>
        <p:spPr>
          <a:xfrm>
            <a:off x="15760700" y="1130300"/>
            <a:ext cx="7404100" cy="5549900"/>
          </a:xfrm>
          <a:prstGeom prst="rect">
            <a:avLst/>
          </a:prstGeom>
        </p:spPr>
        <p:txBody>
          <a:bodyPr lIns="91439" tIns="45719" rIns="91439" bIns="45719" anchor="t">
            <a:noAutofit/>
          </a:bodyPr>
          <a:lstStyle/>
          <a:p>
            <a:endParaRPr/>
          </a:p>
        </p:txBody>
      </p:sp>
      <p:sp>
        <p:nvSpPr>
          <p:cNvPr id="86" name="Shape 86"/>
          <p:cNvSpPr>
            <a:spLocks noGrp="1"/>
          </p:cNvSpPr>
          <p:nvPr>
            <p:ph type="pic" idx="15"/>
          </p:nvPr>
        </p:nvSpPr>
        <p:spPr>
          <a:xfrm>
            <a:off x="1206500" y="1130300"/>
            <a:ext cx="14173200" cy="11468100"/>
          </a:xfrm>
          <a:prstGeom prst="rect">
            <a:avLst/>
          </a:prstGeom>
        </p:spPr>
        <p:txBody>
          <a:bodyPr lIns="91439" tIns="45719" rIns="91439" bIns="45719" anchor="t">
            <a:noAutofit/>
          </a:bodyPr>
          <a:lstStyle/>
          <a:p>
            <a:endParaRPr/>
          </a:p>
        </p:txBody>
      </p:sp>
      <p:sp>
        <p:nvSpPr>
          <p:cNvPr id="87" name="Shape 8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3" name="Shape 103"/>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4" name="Shape 104"/>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1" name="Shape 1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118" name="Shape 118"/>
          <p:cNvSpPr>
            <a:spLocks noGrp="1"/>
          </p:cNvSpPr>
          <p:nvPr>
            <p:ph type="pic" idx="13"/>
          </p:nvPr>
        </p:nvSpPr>
        <p:spPr>
          <a:xfrm>
            <a:off x="3125968" y="673100"/>
            <a:ext cx="18135601" cy="8737600"/>
          </a:xfrm>
          <a:prstGeom prst="rect">
            <a:avLst/>
          </a:prstGeom>
        </p:spPr>
        <p:txBody>
          <a:bodyPr lIns="91439" tIns="45719" rIns="91439" bIns="45719" anchor="t">
            <a:noAutofit/>
          </a:bodyPr>
          <a:lstStyle/>
          <a:p>
            <a:endParaRPr/>
          </a:p>
        </p:txBody>
      </p:sp>
      <p:sp>
        <p:nvSpPr>
          <p:cNvPr id="119" name="Shape 119"/>
          <p:cNvSpPr>
            <a:spLocks noGrp="1"/>
          </p:cNvSpPr>
          <p:nvPr>
            <p:ph type="title"/>
          </p:nvPr>
        </p:nvSpPr>
        <p:spPr>
          <a:xfrm>
            <a:off x="635000" y="9448800"/>
            <a:ext cx="23114000" cy="2006600"/>
          </a:xfrm>
          <a:prstGeom prst="rect">
            <a:avLst/>
          </a:prstGeom>
        </p:spPr>
        <p:txBody>
          <a:bodyPr anchor="b"/>
          <a:lstStyle>
            <a:lvl1pPr>
              <a:defRPr b="0">
                <a:solidFill>
                  <a:srgbClr val="000000"/>
                </a:solidFill>
                <a:latin typeface="+mn-lt"/>
                <a:ea typeface="+mn-ea"/>
                <a:cs typeface="+mn-cs"/>
                <a:sym typeface="Helvetica Light"/>
              </a:defRPr>
            </a:lvl1pPr>
          </a:lstStyle>
          <a:p>
            <a:r>
              <a:t>Title Text</a:t>
            </a:r>
          </a:p>
        </p:txBody>
      </p:sp>
      <p:sp>
        <p:nvSpPr>
          <p:cNvPr id="120" name="Shape 120"/>
          <p:cNvSpPr>
            <a:spLocks noGrp="1"/>
          </p:cNvSpPr>
          <p:nvPr>
            <p:ph type="body" sz="quarter" idx="1"/>
          </p:nvPr>
        </p:nvSpPr>
        <p:spPr>
          <a:xfrm>
            <a:off x="635000" y="11518900"/>
            <a:ext cx="23114000" cy="1587500"/>
          </a:xfrm>
          <a:prstGeom prst="rect">
            <a:avLst/>
          </a:prstGeom>
        </p:spPr>
        <p:txBody>
          <a:bodyPr anchor="t"/>
          <a:lstStyle>
            <a:lvl1pPr marL="0" indent="0" algn="ctr">
              <a:spcBef>
                <a:spcPts val="0"/>
              </a:spcBef>
              <a:buSzTx/>
              <a:buNone/>
              <a:defRPr sz="4400"/>
            </a:lvl1pPr>
            <a:lvl2pPr marL="0" indent="228600" algn="ctr">
              <a:spcBef>
                <a:spcPts val="0"/>
              </a:spcBef>
              <a:buSzTx/>
              <a:buNone/>
              <a:defRPr sz="4400"/>
            </a:lvl2pPr>
            <a:lvl3pPr marL="0" indent="457200" algn="ctr">
              <a:spcBef>
                <a:spcPts val="0"/>
              </a:spcBef>
              <a:buSzTx/>
              <a:buNone/>
              <a:defRPr sz="4400"/>
            </a:lvl3pPr>
            <a:lvl4pPr marL="0" indent="685800" algn="ctr">
              <a:spcBef>
                <a:spcPts val="0"/>
              </a:spcBef>
              <a:buSzTx/>
              <a:buNone/>
              <a:defRPr sz="4400"/>
            </a:lvl4pPr>
            <a:lvl5pPr marL="0" indent="914400" algn="ctr">
              <a:spcBef>
                <a:spcPts val="0"/>
              </a:spcBef>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121" name="Shape 1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28" name="Shape 128"/>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Title Text</a:t>
            </a:r>
          </a:p>
        </p:txBody>
      </p:sp>
      <p:sp>
        <p:nvSpPr>
          <p:cNvPr id="129" name="Shape 129"/>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0" name="Shape 13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137" name="Shape 137"/>
          <p:cNvSpPr>
            <a:spLocks noGrp="1"/>
          </p:cNvSpPr>
          <p:nvPr>
            <p:ph type="pic" sz="half" idx="13"/>
          </p:nvPr>
        </p:nvSpPr>
        <p:spPr>
          <a:xfrm>
            <a:off x="13169900" y="3238500"/>
            <a:ext cx="9525000" cy="9207500"/>
          </a:xfrm>
          <a:prstGeom prst="rect">
            <a:avLst/>
          </a:prstGeom>
        </p:spPr>
        <p:txBody>
          <a:bodyPr lIns="91439" tIns="45719" rIns="91439" bIns="45719" anchor="t">
            <a:noAutofit/>
          </a:bodyPr>
          <a:lstStyle/>
          <a:p>
            <a:endParaRPr/>
          </a:p>
        </p:txBody>
      </p:sp>
      <p:sp>
        <p:nvSpPr>
          <p:cNvPr id="138" name="Shape 138"/>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Title Text</a:t>
            </a:r>
          </a:p>
        </p:txBody>
      </p:sp>
      <p:sp>
        <p:nvSpPr>
          <p:cNvPr id="139" name="Shape 139"/>
          <p:cNvSpPr>
            <a:spLocks noGrp="1"/>
          </p:cNvSpPr>
          <p:nvPr>
            <p:ph type="body" sz="half" idx="1"/>
          </p:nvPr>
        </p:nvSpPr>
        <p:spPr>
          <a:xfrm>
            <a:off x="1689100" y="3238500"/>
            <a:ext cx="10007600" cy="9207500"/>
          </a:xfrm>
          <a:prstGeom prst="rect">
            <a:avLst/>
          </a:prstGeom>
        </p:spPr>
        <p:txBody>
          <a:bodyPr/>
          <a:lstStyle>
            <a:lvl1pPr marL="558800" indent="-558800">
              <a:spcBef>
                <a:spcPts val="4500"/>
              </a:spcBef>
              <a:defRPr sz="4500"/>
            </a:lvl1pPr>
            <a:lvl2pPr marL="1117600" indent="-558800">
              <a:spcBef>
                <a:spcPts val="4500"/>
              </a:spcBef>
              <a:defRPr sz="4500"/>
            </a:lvl2pPr>
            <a:lvl3pPr marL="1676400" indent="-558800">
              <a:spcBef>
                <a:spcPts val="4500"/>
              </a:spcBef>
              <a:defRPr sz="4500"/>
            </a:lvl3pPr>
            <a:lvl4pPr marL="2235200" indent="-558800">
              <a:spcBef>
                <a:spcPts val="4500"/>
              </a:spcBef>
              <a:defRPr sz="4500"/>
            </a:lvl4pPr>
            <a:lvl5pPr marL="2794000" indent="-558800">
              <a:spcBef>
                <a:spcPts val="4500"/>
              </a:spcBef>
              <a:defRPr sz="4500"/>
            </a:lvl5pPr>
          </a:lstStyle>
          <a:p>
            <a:r>
              <a:t>Body Level One</a:t>
            </a:r>
          </a:p>
          <a:p>
            <a:pPr lvl="1"/>
            <a:r>
              <a:t>Body Level Two</a:t>
            </a:r>
          </a:p>
          <a:p>
            <a:pPr lvl="2"/>
            <a:r>
              <a:t>Body Level Three</a:t>
            </a:r>
          </a:p>
          <a:p>
            <a:pPr lvl="3"/>
            <a:r>
              <a:t>Body Level Four</a:t>
            </a:r>
          </a:p>
          <a:p>
            <a:pPr lvl="4"/>
            <a:r>
              <a:t>Body Level Five</a:t>
            </a:r>
          </a:p>
        </p:txBody>
      </p:sp>
      <p:sp>
        <p:nvSpPr>
          <p:cNvPr id="140" name="Shape 14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47" name="Shape 147"/>
          <p:cNvSpPr>
            <a:spLocks noGrp="1"/>
          </p:cNvSpPr>
          <p:nvPr>
            <p:ph type="title"/>
          </p:nvPr>
        </p:nvSpPr>
        <p:spPr>
          <a:xfrm>
            <a:off x="1778000" y="4533900"/>
            <a:ext cx="20828000" cy="4648200"/>
          </a:xfrm>
          <a:prstGeom prst="rect">
            <a:avLst/>
          </a:prstGeom>
        </p:spPr>
        <p:txBody>
          <a:bodyPr/>
          <a:lstStyle>
            <a:lvl1pPr>
              <a:defRPr b="0">
                <a:solidFill>
                  <a:srgbClr val="000000"/>
                </a:solidFill>
                <a:latin typeface="+mn-lt"/>
                <a:ea typeface="+mn-ea"/>
                <a:cs typeface="+mn-cs"/>
                <a:sym typeface="Helvetica Light"/>
              </a:defRPr>
            </a:lvl1pPr>
          </a:lstStyle>
          <a:p>
            <a:r>
              <a:t>Title Text</a:t>
            </a:r>
          </a:p>
        </p:txBody>
      </p:sp>
      <p:sp>
        <p:nvSpPr>
          <p:cNvPr id="148" name="Shape 14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 no image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sp>
        <p:nvSpPr>
          <p:cNvPr id="10" name="Text Placeholder 13"/>
          <p:cNvSpPr>
            <a:spLocks noGrp="1"/>
          </p:cNvSpPr>
          <p:nvPr userDrawn="1">
            <p:ph type="body" sz="quarter" idx="10" hasCustomPrompt="1"/>
          </p:nvPr>
        </p:nvSpPr>
        <p:spPr>
          <a:xfrm>
            <a:off x="1539879" y="9838506"/>
            <a:ext cx="14795502" cy="834328"/>
          </a:xfrm>
          <a:prstGeom prst="rect">
            <a:avLst/>
          </a:prstGeom>
        </p:spPr>
        <p:txBody>
          <a:bodyPr/>
          <a:lstStyle>
            <a:lvl1pPr marL="0" indent="0">
              <a:buNone/>
              <a:defRPr sz="4400" baseline="0">
                <a:solidFill>
                  <a:srgbClr val="FFFFFF"/>
                </a:solidFill>
                <a:latin typeface="Arial" pitchFamily="34" charset="0"/>
                <a:cs typeface="Arial" pitchFamily="34" charset="0"/>
              </a:defRPr>
            </a:lvl1pPr>
          </a:lstStyle>
          <a:p>
            <a:pPr lvl="0"/>
            <a:r>
              <a:rPr lang="en-US" dirty="0"/>
              <a:t>Presenter Name</a:t>
            </a:r>
          </a:p>
        </p:txBody>
      </p:sp>
      <p:sp>
        <p:nvSpPr>
          <p:cNvPr id="11" name="Text Placeholder 13"/>
          <p:cNvSpPr>
            <a:spLocks noGrp="1"/>
          </p:cNvSpPr>
          <p:nvPr userDrawn="1">
            <p:ph type="body" sz="quarter" idx="12" hasCustomPrompt="1"/>
          </p:nvPr>
        </p:nvSpPr>
        <p:spPr>
          <a:xfrm>
            <a:off x="1539879" y="10899043"/>
            <a:ext cx="14795502" cy="574514"/>
          </a:xfrm>
          <a:prstGeom prst="rect">
            <a:avLst/>
          </a:prstGeom>
        </p:spPr>
        <p:txBody>
          <a:bodyPr>
            <a:noAutofit/>
          </a:bodyPr>
          <a:lstStyle>
            <a:lvl1pPr marL="0" indent="0">
              <a:buNone/>
              <a:defRPr sz="3200" i="1" baseline="0">
                <a:solidFill>
                  <a:srgbClr val="FFFFFF"/>
                </a:solidFill>
                <a:latin typeface="Arial" pitchFamily="34" charset="0"/>
                <a:cs typeface="Arial" pitchFamily="34" charset="0"/>
              </a:defRPr>
            </a:lvl1pPr>
          </a:lstStyle>
          <a:p>
            <a:pPr lvl="0"/>
            <a:r>
              <a:rPr lang="en-US" dirty="0"/>
              <a:t>Presenter Title</a:t>
            </a:r>
          </a:p>
        </p:txBody>
      </p:sp>
      <p:sp>
        <p:nvSpPr>
          <p:cNvPr id="9" name="Text Placeholder 13"/>
          <p:cNvSpPr>
            <a:spLocks noGrp="1"/>
          </p:cNvSpPr>
          <p:nvPr userDrawn="1">
            <p:ph type="body" sz="quarter" idx="13" hasCustomPrompt="1"/>
          </p:nvPr>
        </p:nvSpPr>
        <p:spPr>
          <a:xfrm>
            <a:off x="1539879" y="11744313"/>
            <a:ext cx="14795502" cy="574514"/>
          </a:xfrm>
          <a:prstGeom prst="rect">
            <a:avLst/>
          </a:prstGeom>
        </p:spPr>
        <p:txBody>
          <a:bodyPr>
            <a:normAutofit/>
          </a:bodyPr>
          <a:lstStyle>
            <a:lvl1pPr marL="0" indent="0">
              <a:buNone/>
              <a:defRPr sz="2800" i="0" baseline="0">
                <a:solidFill>
                  <a:schemeClr val="bg1"/>
                </a:solidFill>
                <a:latin typeface="Arial" pitchFamily="34" charset="0"/>
                <a:cs typeface="Arial" pitchFamily="34" charset="0"/>
              </a:defRPr>
            </a:lvl1pPr>
          </a:lstStyle>
          <a:p>
            <a:pPr lvl="0"/>
            <a:fld id="{B00CC99A-1AEC-4AAA-92D0-EFFF73746BF4}" type="datetime4">
              <a:rPr lang="en-US" smtClean="0"/>
              <a:t>November 15, 2016</a:t>
            </a:fld>
            <a:endParaRPr lang="en-US" dirty="0"/>
          </a:p>
        </p:txBody>
      </p:sp>
      <p:sp>
        <p:nvSpPr>
          <p:cNvPr id="13" name="Rectangle 7"/>
          <p:cNvSpPr>
            <a:spLocks/>
          </p:cNvSpPr>
          <p:nvPr userDrawn="1"/>
        </p:nvSpPr>
        <p:spPr bwMode="auto">
          <a:xfrm>
            <a:off x="5" y="4632510"/>
            <a:ext cx="24383994" cy="4731264"/>
          </a:xfrm>
          <a:prstGeom prst="rect">
            <a:avLst/>
          </a:prstGeom>
          <a:solidFill>
            <a:schemeClr val="bg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lIns="87216" tIns="43608" rIns="87216" bIns="43608" anchor="ctr"/>
          <a:lstStyle/>
          <a:p>
            <a:pPr algn="ctr" defTabSz="431800"/>
            <a:endParaRPr lang="en-US" sz="3600" dirty="0">
              <a:solidFill>
                <a:srgbClr val="FFFFFF"/>
              </a:solidFill>
              <a:latin typeface="Franklin Gothic Book" pitchFamily="34" charset="0"/>
            </a:endParaRPr>
          </a:p>
        </p:txBody>
      </p:sp>
      <p:sp>
        <p:nvSpPr>
          <p:cNvPr id="15" name="Title 3"/>
          <p:cNvSpPr>
            <a:spLocks noGrp="1"/>
          </p:cNvSpPr>
          <p:nvPr>
            <p:ph type="title"/>
          </p:nvPr>
        </p:nvSpPr>
        <p:spPr>
          <a:xfrm>
            <a:off x="1539875" y="4899039"/>
            <a:ext cx="13715174" cy="4270366"/>
          </a:xfrm>
          <a:prstGeom prst="rect">
            <a:avLst/>
          </a:prstGeom>
        </p:spPr>
        <p:txBody>
          <a:bodyPr/>
          <a:lstStyle>
            <a:lvl1pPr>
              <a:lnSpc>
                <a:spcPct val="90000"/>
              </a:lnSpc>
              <a:defRPr>
                <a:solidFill>
                  <a:schemeClr val="accent3"/>
                </a:solidFill>
              </a:defRPr>
            </a:lvl1pPr>
          </a:lstStyle>
          <a:p>
            <a:r>
              <a:rPr lang="en-US" dirty="0"/>
              <a:t>Click to edit Master title style</a:t>
            </a:r>
          </a:p>
        </p:txBody>
      </p:sp>
    </p:spTree>
    <p:extLst>
      <p:ext uri="{BB962C8B-B14F-4D97-AF65-F5344CB8AC3E}">
        <p14:creationId xmlns:p14="http://schemas.microsoft.com/office/powerpoint/2010/main" val="28702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689100" y="952500"/>
            <a:ext cx="21005800" cy="2286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1689100" y="3238500"/>
            <a:ext cx="21005800" cy="92075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1959031" y="13081000"/>
            <a:ext cx="453238" cy="469900"/>
          </a:xfrm>
          <a:prstGeom prst="rect">
            <a:avLst/>
          </a:prstGeom>
          <a:ln w="12700">
            <a:miter lim="400000"/>
          </a:ln>
        </p:spPr>
        <p:txBody>
          <a:bodyPr wrap="none" lIns="50800" tIns="50800" rIns="50800" bIns="50800">
            <a:spAutoFit/>
          </a:bodyPr>
          <a:lstStyle>
            <a:lvl1pPr>
              <a:defRPr sz="2400"/>
            </a:lvl1pPr>
          </a:lstStyle>
          <a:p>
            <a:fld id="{86CB4B4D-7CA3-9044-876B-883B54F8677D}" type="slidenum">
              <a:t>‹#›</a:t>
            </a:fld>
            <a:endParaRPr/>
          </a:p>
        </p:txBody>
      </p:sp>
      <p:sp>
        <p:nvSpPr>
          <p:cNvPr id="7" name="TextBox 6">
            <a:extLst>
              <a:ext uri="{FF2B5EF4-FFF2-40B4-BE49-F238E27FC236}">
                <a16:creationId xmlns:a16="http://schemas.microsoft.com/office/drawing/2014/main" id="{090E0CDE-F1AB-2601-BF6D-68E451F66A11}"/>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
        <p:nvSpPr>
          <p:cNvPr id="8" name="TextBox 7">
            <a:extLst>
              <a:ext uri="{FF2B5EF4-FFF2-40B4-BE49-F238E27FC236}">
                <a16:creationId xmlns:a16="http://schemas.microsoft.com/office/drawing/2014/main" id="{73FD3139-1638-8093-8354-99D71C9971E6}"/>
              </a:ext>
            </a:extLst>
          </p:cNvPr>
          <p:cNvSpPr txBox="1"/>
          <p:nvPr userDrawn="1">
            <p:extLst>
              <p:ext uri="{1162E1C5-73C7-4A58-AE30-91384D911F3F}">
                <p184:classification xmlns:p184="http://schemas.microsoft.com/office/powerpoint/2018/4/main" val="ftr"/>
              </p:ext>
            </p:extLst>
          </p:nvPr>
        </p:nvSpPr>
        <p:spPr>
          <a:xfrm>
            <a:off x="63500" y="135001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9" r:id="rId8"/>
    <p:sldLayoutId id="2147483660" r:id="rId9"/>
    <p:sldLayoutId id="2147483661" r:id="rId10"/>
    <p:sldLayoutId id="2147483662" r:id="rId11"/>
    <p:sldLayoutId id="2147483663" r:id="rId12"/>
    <p:sldLayoutId id="2147483664" r:id="rId13"/>
    <p:sldLayoutId id="2147483665" r:id="rId14"/>
  </p:sldLayoutIdLst>
  <p:transition spd="med"/>
  <p:txStyles>
    <p:titleStyle>
      <a:lvl1pPr marL="0" marR="0" indent="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1pPr>
      <a:lvl2pPr marL="0" marR="0" indent="2286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2pPr>
      <a:lvl3pPr marL="0" marR="0" indent="4572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3pPr>
      <a:lvl4pPr marL="0" marR="0" indent="6858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4pPr>
      <a:lvl5pPr marL="0" marR="0" indent="9144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5pPr>
      <a:lvl6pPr marL="0" marR="0" indent="11430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6pPr>
      <a:lvl7pPr marL="0" marR="0" indent="13716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7pPr>
      <a:lvl8pPr marL="0" marR="0" indent="16002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8pPr>
      <a:lvl9pPr marL="0" marR="0" indent="1828800" algn="ctr" defTabSz="825500" rtl="0" latinLnBrk="0">
        <a:lnSpc>
          <a:spcPct val="100000"/>
        </a:lnSpc>
        <a:spcBef>
          <a:spcPts val="0"/>
        </a:spcBef>
        <a:spcAft>
          <a:spcPts val="0"/>
        </a:spcAft>
        <a:buClrTx/>
        <a:buSzTx/>
        <a:buFontTx/>
        <a:buNone/>
        <a:tabLst/>
        <a:defRPr sz="11200" b="1" i="0" u="none" strike="noStrike" cap="none" spc="0" baseline="0">
          <a:ln>
            <a:noFill/>
          </a:ln>
          <a:solidFill>
            <a:srgbClr val="FFFFFF"/>
          </a:solidFill>
          <a:uFillTx/>
          <a:latin typeface="+mj-lt"/>
          <a:ea typeface="+mj-ea"/>
          <a:cs typeface="+mj-cs"/>
          <a:sym typeface="Helvetica"/>
        </a:defRPr>
      </a:lvl9pPr>
    </p:titleStyle>
    <p:bodyStyle>
      <a:lvl1pPr marL="63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1pPr>
      <a:lvl2pPr marL="127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2pPr>
      <a:lvl3pPr marL="190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3pPr>
      <a:lvl4pPr marL="254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4pPr>
      <a:lvl5pPr marL="317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1pPr>
      <a:lvl2pPr marL="0" marR="0" indent="228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2pPr>
      <a:lvl3pPr marL="0" marR="0" indent="457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3pPr>
      <a:lvl4pPr marL="0" marR="0" indent="685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4pPr>
      <a:lvl5pPr marL="0" marR="0" indent="9144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5pPr>
      <a:lvl6pPr marL="0" marR="0" indent="11430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6pPr>
      <a:lvl7pPr marL="0" marR="0" indent="1371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7pPr>
      <a:lvl8pPr marL="0" marR="0" indent="1600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8pPr>
      <a:lvl9pPr marL="0" marR="0" indent="1828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comments" Target="../comments/commen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hyperlink" Target="http://hapifhir.io/index.html" TargetMode="External"/><Relationship Id="rId3" Type="http://schemas.openxmlformats.org/officeDocument/2006/relationships/image" Target="../media/image6.png"/><Relationship Id="rId7" Type="http://schemas.openxmlformats.org/officeDocument/2006/relationships/hyperlink" Target="http://hl7.org/fhir/index.html" TargetMode="External"/><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hyperlink" Target="http://hl7.org/fhir/dstu2/index.html"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hl7.org/fhir/downloads.html"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wiki.hl7.org/index.php?title=FHIR"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hyperlink" Target="https://confluence.hl7.org/display/FHI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hl7.org/fhir/directory.html" TargetMode="Externa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docs.oracle.com/en/industries/health/millennium-platform-apis/index.html" TargetMode="External"/><Relationship Id="rId2" Type="http://schemas.openxmlformats.org/officeDocument/2006/relationships/hyperlink" Target="http://fhir.cerner.com/dstu2/"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hl7.org/fhir/datatypes.html#primitive" TargetMode="External"/><Relationship Id="rId2" Type="http://schemas.openxmlformats.org/officeDocument/2006/relationships/hyperlink" Target="http://hl7.org/fhir/dstu2/datatypes.html#primitive" TargetMode="Externa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hl7.org/fhir/datatypes.html#complex" TargetMode="External"/><Relationship Id="rId2" Type="http://schemas.openxmlformats.org/officeDocument/2006/relationships/hyperlink" Target="http://hl7.org/fhir/dstu2/datatypes.html#complex" TargetMode="Externa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hyperlink" Target="http://hl7.org/fhir/dstu2/datatypes.html#codesystem"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hyperlink" Target="http://hl7.org/fhir/datatypes.html#codesystem"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hl7.org/fhir/http.html#mime-type" TargetMode="External"/><Relationship Id="rId2" Type="http://schemas.openxmlformats.org/officeDocument/2006/relationships/hyperlink" Target="http://hl7.org/fhir/dstu2/http.html#mime-type" TargetMode="Externa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hl7.org/fhir/resource.html" TargetMode="External"/><Relationship Id="rId2" Type="http://schemas.openxmlformats.org/officeDocument/2006/relationships/hyperlink" Target="http://hl7.org/fhir/dstu2/resource.html"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hl7.org/fhir/dstu2/resourcelist.html"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hyperlink" Target="http://hl7.org/fhir/resourcelist.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hl7.org/fhir/dstu2/resource.html#maturity"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hl7.org/fhir/versions.html#maturit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hl7.org/fhir/patient.html#tx" TargetMode="External"/><Relationship Id="rId2" Type="http://schemas.openxmlformats.org/officeDocument/2006/relationships/hyperlink" Target="http://hl7.org/fhir/dstu2/patient.html#tx" TargetMode="Externa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hyperlink" Target="http://hl7.org/fhir/dstu2/patient.html#tx" TargetMode="External"/><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hyperlink" Target="https://docs.oracle.com/en/industries/health/millennium-platform-apis/mfrap/api-patient.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hl7.org/fhir/dstu2/terminologies.html#strength"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hyperlink" Target="https://hl7.org/fhir/terminologies.html#strength"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fhir.cerner.com/dstu2/condition/#terminology-bindings"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hyperlink" Target="https://hl7.org/fhir/R4/condition.html#tx"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http://hl7.org/fhir/dstu2/narrative.html#Narrative"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hl7.org/fhir/narrative.html#Narrativ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hl7.org/fhir/dstu2/resourcelist.html" TargetMode="External"/><Relationship Id="rId2" Type="http://schemas.openxmlformats.org/officeDocument/2006/relationships/hyperlink" Target="https://hl7.org/fhir/R4/resourcelist.html" TargetMode="Externa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docs.oracle.com/en/industries/health/millennium-platform-apis/mfdap/resource_info.html" TargetMode="External"/><Relationship Id="rId2" Type="http://schemas.openxmlformats.org/officeDocument/2006/relationships/hyperlink" Target="https://docs.oracle.com/en/industries/health/millennium-platform-apis/mfrap/index.html"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hyperlink" Target="https://docs.oracle.com/en/industries/health/millennium-platform-apis/mfrap/op-patient-get.html" TargetMode="External"/><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hyperlink" Target="http://fhir.cerner.com/dstu2/patient/#parameters"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hyperlink" Target="https://hl7.org/fhir/http.html#read" TargetMode="External"/><Relationship Id="rId2" Type="http://schemas.openxmlformats.org/officeDocument/2006/relationships/hyperlink" Target="http://hl7.org/fhir/dstu2/http.html#read" TargetMode="Externa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hyperlink" Target="https://hl7.org/fhir/resource.html#id" TargetMode="External"/><Relationship Id="rId2" Type="http://schemas.openxmlformats.org/officeDocument/2006/relationships/hyperlink" Target="http://hl7.org/fhir/dstu2/resource.html#id" TargetMode="Externa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hyperlink" Target="https://hl7.org/fhir/R4/patient.html#search" TargetMode="External"/><Relationship Id="rId2" Type="http://schemas.openxmlformats.org/officeDocument/2006/relationships/hyperlink" Target="http://hl7.org/fhir/dstu2/patient.html#search" TargetMode="Externa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hyperlink" Target="https://docs.oracle.com/en/industries/health/millennium-platform-apis/mfrap/op-patient-get.html" TargetMode="External"/><Relationship Id="rId2" Type="http://schemas.openxmlformats.org/officeDocument/2006/relationships/hyperlink" Target="http://fhir.cerner.com/dstu2/patient/#parameters" TargetMode="Externa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hyperlink" Target="http://hl7.org/fhir/dstu2/search.html"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hyperlink" Target="https://hl7.org/fhir/search.html#Introduction"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hyperlink" Target="http://hl7.org/fhir/dstu2/http.html#paging"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hyperlink" Target="https://hl7.org/fhir/http.html#paging"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hyperlink" Target="https://hl7.org/fhir/http.html#create" TargetMode="External"/><Relationship Id="rId2" Type="http://schemas.openxmlformats.org/officeDocument/2006/relationships/hyperlink" Target="http://hl7.org/fhir/dstu2/http.html#create" TargetMode="Externa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hyperlink" Target="https://hl7.org/fhir/http.html#update" TargetMode="External"/><Relationship Id="rId2" Type="http://schemas.openxmlformats.org/officeDocument/2006/relationships/hyperlink" Target="http://hl7.org/fhir/dstu2/http.html#update" TargetMode="Externa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hyperlink" Target="https://hl7.org/fhir/http.html#patch" TargetMode="External"/><Relationship Id="rId2" Type="http://schemas.openxmlformats.org/officeDocument/2006/relationships/hyperlink" Target="http://hl7.org/fhir/dstu2/http.html#update" TargetMode="Externa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hyperlink" Target="https://hl7.org/fhir/http.html#transaction" TargetMode="External"/><Relationship Id="rId2" Type="http://schemas.openxmlformats.org/officeDocument/2006/relationships/hyperlink" Target="http://hl7.org/fhir/dstu2/http.html#2.1.0.10.2" TargetMode="Externa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hyperlink" Target="https://fhir-open.cerner.com/r4/ec2458f2-1e24-41c8-b71b-0e701af7583d/Patient/12724066?_format=json"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32.png"/><Relationship Id="rId5" Type="http://schemas.openxmlformats.org/officeDocument/2006/relationships/hyperlink" Target="https://hl7.org/fhir/datatypes.html#HumanName" TargetMode="External"/><Relationship Id="rId4" Type="http://schemas.openxmlformats.org/officeDocument/2006/relationships/hyperlink" Target="https://fhir-open.sandboxcerner.com/dstu2/0b8a0111-e8e6-4c26-a91c-5069cbc6b1ca/Patient/4478007?_format=json"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hl7.org/fhir/datatypes.html#HumanName"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hyperlink" Target="https://fhir-open.cerner.com/r4/ec2458f2-1e24-41c8-b71b-0e701af7583d/AllergyIntolerance?clinical-status=active&amp;patient=12742399&amp;_format=json"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hyperlink" Target="https://fhir-open.sandboxcerner.com/dstu2/0b8a0111-e8e6-4c26-a91c-5069cbc6b1ca/AllergyIntolerance?patient=1316024&amp;status=active,unconfirmed,confirmed&amp;_format=json"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hl7.org/fhir/r4/valueset-allergyintolerance-clinical.html#expansion" TargetMode="External"/><Relationship Id="rId2" Type="http://schemas.openxmlformats.org/officeDocument/2006/relationships/hyperlink" Target="http://hl7.org/fhir/DSTU2/valueset-allergy-intolerance-status.html" TargetMode="Externa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3" Type="http://schemas.openxmlformats.org/officeDocument/2006/relationships/hyperlink" Target="http://hl7.org/fhir/dstu2/allergyintolerance.html"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hyperlink" Target="https://hl7.org/fhir/allergyintolerance.html#resourc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hyperlink" Target="https://fhir-open.cerner.com/r4/ec2458f2-1e24-41c8-b71b-0e701af7583d/MedicationRequest?patient=12724070&amp;status=active&amp;-pageContext=T3BlblBsYXRmb3JtRmhpckNvbnRleHQ9dHJ1ZSZwYWdlQ29udGV4dD00ODM4MTE5NzdfNDgzODEyNjgxXzEyNzI0MDcwXzFfMSZjb25jZXB0PWNoYXJ0ZWQ%3D&amp;-pageDirection=NEXT&amp;_format=json" TargetMode="External"/><Relationship Id="rId2" Type="http://schemas.openxmlformats.org/officeDocument/2006/relationships/hyperlink" Target="https://fhir-open.cerner.com/r4/ec2458f2-1e24-41c8-b71b-0e701af7583d/MedicationRequest?patient=12724070&amp;status=active&amp;_format=json" TargetMode="External"/><Relationship Id="rId1" Type="http://schemas.openxmlformats.org/officeDocument/2006/relationships/slideLayout" Target="../slideLayouts/slideLayout11.xml"/><Relationship Id="rId4" Type="http://schemas.openxmlformats.org/officeDocument/2006/relationships/hyperlink" Target="https://fhir-open.sandboxcerner.com/dstu2/0b8a0111-e8e6-4c26-a91c-5069cbc6b1ca/MedicationOrder?patient=1316024&amp;status=active,on-hold&amp;_format=json"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fhir-open.sandboxcerner.com/dstu2/0b8a0111-e8e6-4c26-a91c-5069cbc6b1ca/MedicationOrder?patient=1316024&amp;-pageContext=1184038_1184051_1316024_1_1&amp;-pageDirection=NEXT&amp;_format=json" TargetMode="External"/><Relationship Id="rId2" Type="http://schemas.openxmlformats.org/officeDocument/2006/relationships/hyperlink" Target="https://fhir-open.cerner.com/r4/ec2458f2-1e24-41c8-b71b-0e701af7583d/MedicationRequest?patient=12724070&amp;status=active&amp;-pageContext=T3BlblBsYXRmb3JtRmhpckNvbnRleHQ9dHJ1ZSZwYWdlQ29udGV4dD00ODM4MTE5NzdfNDgzODEyNjgxXzEyNzI0MDcwXzFfMSZjb25jZXB0PWNoYXJ0ZWQ%3D&amp;-pageDirection=NEXT&amp;_format=json" TargetMode="Externa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hyperlink" Target="http://hl7.org/fhir/medicationadministration.html#bnr" TargetMode="External"/><Relationship Id="rId2" Type="http://schemas.openxmlformats.org/officeDocument/2006/relationships/hyperlink" Target="http://hl7.org/fhir/dstu2/medicationorder.html#bnr" TargetMode="Externa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hyperlink" Target="https://fhir-open.cerner.com/r4/ec2458f2-1e24-41c8-b71b-0e701af7583d/Patient?identifier=urn:oid:2.16.840.1.113883.3.787.0.0|171&amp;_format=json" TargetMode="Externa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hyperlink" Target="http://hl7.org/fhir/dstu2/extensibility.html" TargetMode="External"/><Relationship Id="rId2" Type="http://schemas.openxmlformats.org/officeDocument/2006/relationships/image" Target="../media/image39.png"/><Relationship Id="rId1" Type="http://schemas.openxmlformats.org/officeDocument/2006/relationships/slideLayout" Target="../slideLayouts/slideLayout10.xml"/><Relationship Id="rId4" Type="http://schemas.openxmlformats.org/officeDocument/2006/relationships/hyperlink" Target="https://hl7.org/fhir/extensibility.html"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hyperlink" Target="http://hl7.org/fhir/dstu2/extension-patient-birthtime.html"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42.png"/><Relationship Id="rId4" Type="http://schemas.openxmlformats.org/officeDocument/2006/relationships/hyperlink" Target="https://hl7.org/fhir/R4/extension-patient-birthtime.html"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3" Type="http://schemas.openxmlformats.org/officeDocument/2006/relationships/hyperlink" Target="http://hl7.org/fhir/dstu2/conformance.html"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hyperlink" Target="http://hl7.org/fhir/conformance-rules.html"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3" Type="http://schemas.openxmlformats.org/officeDocument/2006/relationships/hyperlink" Target="http://fhir.cerner.com/dstu2/patient/#extensions"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image" Target="../media/image44.png"/><Relationship Id="rId4" Type="http://schemas.openxmlformats.org/officeDocument/2006/relationships/hyperlink" Target="https://docs.oracle.com/en/industries/health/millennium-platform-apis/mfrap/api-patient.html"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hyperlink" Target="https://fhir-open.cerner.com/r4/ec2458f2-1e24-41c8-b71b-0e701af7583d/" TargetMode="External"/><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3" Type="http://schemas.openxmlformats.org/officeDocument/2006/relationships/hyperlink" Target="https://fhir-open.sandboxcerner.com/dstu2/0b8a0111-e8e6-4c26-a91c-5069cbc6b1ca/metadata?_format=json" TargetMode="External"/><Relationship Id="rId2" Type="http://schemas.openxmlformats.org/officeDocument/2006/relationships/hyperlink" Target="https://fhir-open.cerner.com/r4/ec2458f2-1e24-41c8-b71b-0e701af7583d/metadata?_format=json" TargetMode="Externa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90.xml.rels><?xml version="1.0" encoding="UTF-8" standalone="yes"?>
<Relationships xmlns="http://schemas.openxmlformats.org/package/2006/relationships"><Relationship Id="rId3" Type="http://schemas.openxmlformats.org/officeDocument/2006/relationships/hyperlink" Target="http://hl7.org/fhir/conformance-rules.html" TargetMode="External"/><Relationship Id="rId2" Type="http://schemas.openxmlformats.org/officeDocument/2006/relationships/hyperlink" Target="http://hl7.org/fhir/dstu2/conformance.html" TargetMode="External"/><Relationship Id="rId1" Type="http://schemas.openxmlformats.org/officeDocument/2006/relationships/slideLayout" Target="../slideLayouts/slideLayout9.xml"/><Relationship Id="rId5" Type="http://schemas.openxmlformats.org/officeDocument/2006/relationships/image" Target="../media/image46.png"/><Relationship Id="rId4" Type="http://schemas.openxmlformats.org/officeDocument/2006/relationships/hyperlink" Target="https://fhir-ehr-code.cerner.com/r4/ec2458f2-1e24-41c8-b71b-0e701af7583d/metadata?_format=json"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3" Type="http://schemas.openxmlformats.org/officeDocument/2006/relationships/hyperlink" Target="http://hl7.org/fhir/dstu2/profiling.html"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hyperlink" Target="https://hl7.org/fhir/profiling.html#profile-uses" TargetMode="Externa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3" Type="http://schemas.openxmlformats.org/officeDocument/2006/relationships/hyperlink" Target="https://fhir-open.cerner.com/r4/ec2458f2-1e24-41c8-b71b-0e701af7583d/Observation?patient=12724070&amp;code=http://loinc.org|85354-9&amp;_format=json"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3" Type="http://schemas.openxmlformats.org/officeDocument/2006/relationships/hyperlink" Target="https://fhir-open.cerner.com/r4/ec2458f2-1e24-41c8-b71b-0e701af7583d/Observation?patient=12724070&amp;code=http://loinc.org|8480-6,http://loinc.org|8462-4&amp;_format=json"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100.xml.rels><?xml version="1.0" encoding="UTF-8" standalone="yes"?>
<Relationships xmlns="http://schemas.openxmlformats.org/package/2006/relationships"><Relationship Id="rId3" Type="http://schemas.openxmlformats.org/officeDocument/2006/relationships/hyperlink" Target="http://fhir.cerner.com/dstu2/observation/"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hyperlink" Target="https://docs.oracle.com/en/industries/health/millennium-platform-apis/mfrap/op-observation-get.html"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3" Type="http://schemas.openxmlformats.org/officeDocument/2006/relationships/hyperlink" Target="https://fhir-open.cerner.com/r4/ec2458f2-1e24-41c8-b71b-0e701af7583d/MedicationRequest?patient=12724068&amp;status=active&amp;_format=json" TargetMode="External"/><Relationship Id="rId2" Type="http://schemas.openxmlformats.org/officeDocument/2006/relationships/hyperlink" Target="https://fhir-open.cerner.com/r4/ec2458f2-1e24-41c8-b71b-0e701af7583d/MedicationAdministration?patient=12724068&amp;status=in-progress&amp;_format=json" TargetMode="External"/><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2" Type="http://schemas.openxmlformats.org/officeDocument/2006/relationships/hyperlink" Target="https://fhir-open.cerner.com/r4/ec2458f2-1e24-41c8-b71b-0e701af7583d/Device?patient=12724066&amp;_format=json" TargetMode="External"/><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3" Type="http://schemas.openxmlformats.org/officeDocument/2006/relationships/hyperlink" Target="https://fhir-open.sandboxcerner.com/dstu2/0b8a0111-e8e6-4c26-a91c-5069cbc6b1ca/RelatedPerson?patient=1316024&amp;_format=json" TargetMode="External"/><Relationship Id="rId2" Type="http://schemas.openxmlformats.org/officeDocument/2006/relationships/hyperlink" Target="https://fhir-open.cerner.com/r4/ec2458f2-1e24-41c8-b71b-0e701af7583d/RelatedPerson?patient=12724066&amp;-relationship-level=http://hl7.org/fhir/resource-types|Patient&amp;_format=json" TargetMode="External"/><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2" Type="http://schemas.openxmlformats.org/officeDocument/2006/relationships/hyperlink" Target="https://docs.google.com/document/d/10RnVyF1etl_17pyCyK96tyhUWRbrTyEcqpwzW-Z-Ybs" TargetMode="Externa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539879" y="10219506"/>
            <a:ext cx="14795502" cy="834328"/>
          </a:xfrm>
        </p:spPr>
        <p:txBody>
          <a:bodyPr/>
          <a:lstStyle/>
          <a:p>
            <a:r>
              <a:rPr lang="en-US" dirty="0"/>
              <a:t>Brian Heits</a:t>
            </a:r>
          </a:p>
        </p:txBody>
      </p:sp>
      <p:sp>
        <p:nvSpPr>
          <p:cNvPr id="3" name="Text Placeholder 2"/>
          <p:cNvSpPr>
            <a:spLocks noGrp="1"/>
          </p:cNvSpPr>
          <p:nvPr>
            <p:ph type="body" sz="quarter" idx="12"/>
          </p:nvPr>
        </p:nvSpPr>
        <p:spPr>
          <a:xfrm>
            <a:off x="1539879" y="11203843"/>
            <a:ext cx="14795502" cy="574514"/>
          </a:xfrm>
        </p:spPr>
        <p:txBody>
          <a:bodyPr/>
          <a:lstStyle/>
          <a:p>
            <a:r>
              <a:rPr lang="en-US" dirty="0"/>
              <a:t>Principle Consultant – Oracle Cerner</a:t>
            </a:r>
          </a:p>
        </p:txBody>
      </p:sp>
      <p:sp>
        <p:nvSpPr>
          <p:cNvPr id="4" name="Text Placeholder 3"/>
          <p:cNvSpPr>
            <a:spLocks noGrp="1"/>
          </p:cNvSpPr>
          <p:nvPr>
            <p:ph type="body" sz="quarter" idx="13"/>
          </p:nvPr>
        </p:nvSpPr>
        <p:spPr>
          <a:xfrm>
            <a:off x="1539879" y="12049113"/>
            <a:ext cx="14795502" cy="574514"/>
          </a:xfrm>
        </p:spPr>
        <p:txBody>
          <a:bodyPr/>
          <a:lstStyle/>
          <a:p>
            <a:r>
              <a:rPr lang="en-US" dirty="0"/>
              <a:t>April 28</a:t>
            </a:r>
            <a:r>
              <a:rPr lang="en-US" baseline="30000" dirty="0"/>
              <a:t>th</a:t>
            </a:r>
            <a:r>
              <a:rPr lang="en-US" dirty="0"/>
              <a:t>,</a:t>
            </a:r>
            <a:r>
              <a:rPr lang="en-US" baseline="30000" dirty="0"/>
              <a:t> </a:t>
            </a:r>
            <a:r>
              <a:rPr lang="en-US" dirty="0"/>
              <a:t>2026</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5501" y="4915329"/>
            <a:ext cx="12573006" cy="4247998"/>
          </a:xfrm>
          <a:prstGeom prst="rect">
            <a:avLst/>
          </a:prstGeom>
        </p:spPr>
      </p:pic>
      <p:pic>
        <p:nvPicPr>
          <p:cNvPr id="5" name="Picture 4">
            <a:extLst>
              <a:ext uri="{FF2B5EF4-FFF2-40B4-BE49-F238E27FC236}">
                <a16:creationId xmlns:a16="http://schemas.microsoft.com/office/drawing/2014/main" id="{1EBD9C52-B9C9-92F2-8AAF-857589DCEB59}"/>
              </a:ext>
            </a:extLst>
          </p:cNvPr>
          <p:cNvPicPr>
            <a:picLocks noChangeAspect="1"/>
          </p:cNvPicPr>
          <p:nvPr/>
        </p:nvPicPr>
        <p:blipFill>
          <a:blip r:embed="rId4"/>
          <a:stretch>
            <a:fillRect/>
          </a:stretch>
        </p:blipFill>
        <p:spPr>
          <a:xfrm>
            <a:off x="8260735" y="7934912"/>
            <a:ext cx="4706006" cy="1028844"/>
          </a:xfrm>
          <a:prstGeom prst="rect">
            <a:avLst/>
          </a:prstGeom>
        </p:spPr>
      </p:pic>
    </p:spTree>
    <p:extLst>
      <p:ext uri="{BB962C8B-B14F-4D97-AF65-F5344CB8AC3E}">
        <p14:creationId xmlns:p14="http://schemas.microsoft.com/office/powerpoint/2010/main" val="3938402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p:cNvSpPr>
          <p:nvPr>
            <p:ph type="title"/>
          </p:nvPr>
        </p:nvSpPr>
        <p:spPr>
          <a:prstGeom prst="rect">
            <a:avLst/>
          </a:prstGeom>
        </p:spPr>
        <p:txBody>
          <a:bodyPr/>
          <a:lstStyle/>
          <a:p>
            <a:r>
              <a:rPr dirty="0"/>
              <a:t>FHIR Deep Dive</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166" name="Shape 166"/>
          <p:cNvSpPr/>
          <p:nvPr/>
        </p:nvSpPr>
        <p:spPr>
          <a:xfrm>
            <a:off x="2543193" y="6197599"/>
            <a:ext cx="19551614"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a:defRPr sz="9700" b="1">
                <a:solidFill>
                  <a:srgbClr val="FFFFFF"/>
                </a:solidFill>
                <a:latin typeface="+mj-lt"/>
                <a:ea typeface="+mj-ea"/>
                <a:cs typeface="+mj-cs"/>
                <a:sym typeface="Helvetica"/>
              </a:defRPr>
            </a:pPr>
            <a:r>
              <a:rPr dirty="0"/>
              <a:t> Getting Started: HL7 Community</a:t>
            </a:r>
          </a:p>
        </p:txBody>
      </p:sp>
      <p:sp>
        <p:nvSpPr>
          <p:cNvPr id="167" name="Shape 167"/>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260ED3-0A3E-031F-ECD3-3FFA8059F8C9}"/>
              </a:ext>
            </a:extLst>
          </p:cNvPr>
          <p:cNvPicPr>
            <a:picLocks noChangeAspect="1"/>
          </p:cNvPicPr>
          <p:nvPr/>
        </p:nvPicPr>
        <p:blipFill>
          <a:blip r:embed="rId2"/>
          <a:stretch>
            <a:fillRect/>
          </a:stretch>
        </p:blipFill>
        <p:spPr>
          <a:xfrm>
            <a:off x="4904598" y="692404"/>
            <a:ext cx="12884023" cy="11540720"/>
          </a:xfrm>
          <a:prstGeom prst="rect">
            <a:avLst/>
          </a:prstGeom>
        </p:spPr>
      </p:pic>
      <p:grpSp>
        <p:nvGrpSpPr>
          <p:cNvPr id="8" name="Group 139">
            <a:extLst>
              <a:ext uri="{FF2B5EF4-FFF2-40B4-BE49-F238E27FC236}">
                <a16:creationId xmlns:a16="http://schemas.microsoft.com/office/drawing/2014/main" id="{6DDD0AED-78AC-413B-B057-4B9EC27E77FD}"/>
              </a:ext>
            </a:extLst>
          </p:cNvPr>
          <p:cNvGrpSpPr/>
          <p:nvPr/>
        </p:nvGrpSpPr>
        <p:grpSpPr>
          <a:xfrm>
            <a:off x="4773672" y="3941841"/>
            <a:ext cx="14717588" cy="2886806"/>
            <a:chOff x="974475" y="13553"/>
            <a:chExt cx="14717586" cy="2639214"/>
          </a:xfrm>
        </p:grpSpPr>
        <p:pic>
          <p:nvPicPr>
            <p:cNvPr id="9" name="Picture 8">
              <a:extLst>
                <a:ext uri="{FF2B5EF4-FFF2-40B4-BE49-F238E27FC236}">
                  <a16:creationId xmlns:a16="http://schemas.microsoft.com/office/drawing/2014/main" id="{C4244931-A46C-48BA-9932-879DAA42BEF0}"/>
                </a:ext>
              </a:extLst>
            </p:cNvPr>
            <p:cNvPicPr>
              <a:picLocks/>
            </p:cNvPicPr>
            <p:nvPr/>
          </p:nvPicPr>
          <p:blipFill>
            <a:blip r:embed="rId3"/>
            <a:stretch>
              <a:fillRect/>
            </a:stretch>
          </p:blipFill>
          <p:spPr>
            <a:xfrm>
              <a:off x="974475" y="13553"/>
              <a:ext cx="10297886" cy="1239804"/>
            </a:xfrm>
            <a:prstGeom prst="rect">
              <a:avLst/>
            </a:prstGeom>
            <a:effectLst/>
          </p:spPr>
        </p:pic>
        <p:sp>
          <p:nvSpPr>
            <p:cNvPr id="10" name="Shape 137">
              <a:extLst>
                <a:ext uri="{FF2B5EF4-FFF2-40B4-BE49-F238E27FC236}">
                  <a16:creationId xmlns:a16="http://schemas.microsoft.com/office/drawing/2014/main" id="{EC4A3B4B-BC2A-4743-AF9A-215DC6246340}"/>
                </a:ext>
              </a:extLst>
            </p:cNvPr>
            <p:cNvSpPr/>
            <p:nvPr/>
          </p:nvSpPr>
          <p:spPr>
            <a:xfrm rot="10800000" flipH="1">
              <a:off x="11272361" y="871330"/>
              <a:ext cx="4419700" cy="1781437"/>
            </a:xfrm>
            <a:prstGeom prst="wedgeEllipseCallout">
              <a:avLst>
                <a:gd name="adj1" fmla="val -49385"/>
                <a:gd name="adj2" fmla="val 69820"/>
              </a:avLst>
            </a:pr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3200">
                  <a:solidFill>
                    <a:srgbClr val="FFFFFF"/>
                  </a:solidFill>
                </a:defRPr>
              </a:pPr>
              <a:endParaRPr/>
            </a:p>
          </p:txBody>
        </p:sp>
        <p:sp>
          <p:nvSpPr>
            <p:cNvPr id="11" name="Shape 138">
              <a:extLst>
                <a:ext uri="{FF2B5EF4-FFF2-40B4-BE49-F238E27FC236}">
                  <a16:creationId xmlns:a16="http://schemas.microsoft.com/office/drawing/2014/main" id="{0CB42428-2FA0-4D6A-8F31-DFB8AD472598}"/>
                </a:ext>
              </a:extLst>
            </p:cNvPr>
            <p:cNvSpPr/>
            <p:nvPr/>
          </p:nvSpPr>
          <p:spPr>
            <a:xfrm>
              <a:off x="11577845" y="1330248"/>
              <a:ext cx="3808731" cy="8636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p>
              <a:r>
                <a:rPr dirty="0"/>
                <a:t>Introductions</a:t>
              </a:r>
            </a:p>
          </p:txBody>
        </p:sp>
      </p:grpSp>
      <p:grpSp>
        <p:nvGrpSpPr>
          <p:cNvPr id="12" name="Group 134">
            <a:extLst>
              <a:ext uri="{FF2B5EF4-FFF2-40B4-BE49-F238E27FC236}">
                <a16:creationId xmlns:a16="http://schemas.microsoft.com/office/drawing/2014/main" id="{34EB25F8-2999-4EC4-8C01-2821B042BF08}"/>
              </a:ext>
            </a:extLst>
          </p:cNvPr>
          <p:cNvGrpSpPr/>
          <p:nvPr/>
        </p:nvGrpSpPr>
        <p:grpSpPr>
          <a:xfrm>
            <a:off x="4180225" y="574272"/>
            <a:ext cx="18752469" cy="2781435"/>
            <a:chOff x="-3026879" y="9605562"/>
            <a:chExt cx="18752468" cy="2781434"/>
          </a:xfrm>
        </p:grpSpPr>
        <p:sp>
          <p:nvSpPr>
            <p:cNvPr id="14" name="Shape 132">
              <a:extLst>
                <a:ext uri="{FF2B5EF4-FFF2-40B4-BE49-F238E27FC236}">
                  <a16:creationId xmlns:a16="http://schemas.microsoft.com/office/drawing/2014/main" id="{D189CDC8-A7D4-4941-A2A8-67086407A100}"/>
                </a:ext>
              </a:extLst>
            </p:cNvPr>
            <p:cNvSpPr/>
            <p:nvPr/>
          </p:nvSpPr>
          <p:spPr>
            <a:xfrm>
              <a:off x="11305889" y="9605562"/>
              <a:ext cx="4419700" cy="1976663"/>
            </a:xfrm>
            <a:prstGeom prst="wedgeEllipseCallout">
              <a:avLst>
                <a:gd name="adj1" fmla="val -49385"/>
                <a:gd name="adj2" fmla="val 69820"/>
              </a:avLst>
            </a:pr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3200">
                  <a:solidFill>
                    <a:srgbClr val="FFFFFF"/>
                  </a:solidFill>
                </a:defRPr>
              </a:pPr>
              <a:endParaRPr/>
            </a:p>
          </p:txBody>
        </p:sp>
        <p:sp>
          <p:nvSpPr>
            <p:cNvPr id="15" name="Shape 133">
              <a:extLst>
                <a:ext uri="{FF2B5EF4-FFF2-40B4-BE49-F238E27FC236}">
                  <a16:creationId xmlns:a16="http://schemas.microsoft.com/office/drawing/2014/main" id="{3DCEF9C7-6B06-4E5C-BB4E-83FBA44D786B}"/>
                </a:ext>
              </a:extLst>
            </p:cNvPr>
            <p:cNvSpPr/>
            <p:nvPr/>
          </p:nvSpPr>
          <p:spPr>
            <a:xfrm>
              <a:off x="11976498" y="10162091"/>
              <a:ext cx="3078481" cy="8636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p>
              <a:r>
                <a:rPr dirty="0"/>
                <a:t>Versioning</a:t>
              </a:r>
            </a:p>
          </p:txBody>
        </p:sp>
        <p:pic>
          <p:nvPicPr>
            <p:cNvPr id="13" name="Picture 12">
              <a:extLst>
                <a:ext uri="{FF2B5EF4-FFF2-40B4-BE49-F238E27FC236}">
                  <a16:creationId xmlns:a16="http://schemas.microsoft.com/office/drawing/2014/main" id="{1500E9A3-4A23-42D7-8F3D-BB57B1D4E1C9}"/>
                </a:ext>
              </a:extLst>
            </p:cNvPr>
            <p:cNvPicPr>
              <a:picLocks/>
            </p:cNvPicPr>
            <p:nvPr/>
          </p:nvPicPr>
          <p:blipFill>
            <a:blip r:embed="rId5"/>
            <a:stretch>
              <a:fillRect/>
            </a:stretch>
          </p:blipFill>
          <p:spPr>
            <a:xfrm>
              <a:off x="-3026879" y="11582224"/>
              <a:ext cx="14303827" cy="804772"/>
            </a:xfrm>
            <a:prstGeom prst="rect">
              <a:avLst/>
            </a:prstGeom>
            <a:effectLst>
              <a:outerShdw blurRad="38100" dist="25400" dir="5400000" rotWithShape="0">
                <a:srgbClr val="000000">
                  <a:alpha val="50000"/>
                </a:srgbClr>
              </a:outerShdw>
            </a:effectLst>
          </p:spPr>
        </p:pic>
      </p:grpSp>
      <p:grpSp>
        <p:nvGrpSpPr>
          <p:cNvPr id="16" name="Group 149">
            <a:extLst>
              <a:ext uri="{FF2B5EF4-FFF2-40B4-BE49-F238E27FC236}">
                <a16:creationId xmlns:a16="http://schemas.microsoft.com/office/drawing/2014/main" id="{FBC5B134-9295-4199-9E75-D91C1284975A}"/>
              </a:ext>
            </a:extLst>
          </p:cNvPr>
          <p:cNvGrpSpPr/>
          <p:nvPr/>
        </p:nvGrpSpPr>
        <p:grpSpPr>
          <a:xfrm>
            <a:off x="484897" y="4514204"/>
            <a:ext cx="4419701" cy="2195613"/>
            <a:chOff x="-280314" y="0"/>
            <a:chExt cx="4419700" cy="2195612"/>
          </a:xfrm>
        </p:grpSpPr>
        <p:sp>
          <p:nvSpPr>
            <p:cNvPr id="18" name="Shape 147">
              <a:extLst>
                <a:ext uri="{FF2B5EF4-FFF2-40B4-BE49-F238E27FC236}">
                  <a16:creationId xmlns:a16="http://schemas.microsoft.com/office/drawing/2014/main" id="{C3E5AEC0-5287-4669-B72F-8D05F50B6B38}"/>
                </a:ext>
              </a:extLst>
            </p:cNvPr>
            <p:cNvSpPr/>
            <p:nvPr/>
          </p:nvSpPr>
          <p:spPr>
            <a:xfrm flipH="1">
              <a:off x="-280314" y="0"/>
              <a:ext cx="4419700" cy="2195612"/>
            </a:xfrm>
            <a:prstGeom prst="wedgeEllipseCallout">
              <a:avLst>
                <a:gd name="adj1" fmla="val -49385"/>
                <a:gd name="adj2" fmla="val 69820"/>
              </a:avLst>
            </a:pr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3200">
                  <a:solidFill>
                    <a:srgbClr val="FFFFFF"/>
                  </a:solidFill>
                </a:defRPr>
              </a:pPr>
              <a:endParaRPr/>
            </a:p>
          </p:txBody>
        </p:sp>
        <p:sp>
          <p:nvSpPr>
            <p:cNvPr id="19" name="Shape 148">
              <a:extLst>
                <a:ext uri="{FF2B5EF4-FFF2-40B4-BE49-F238E27FC236}">
                  <a16:creationId xmlns:a16="http://schemas.microsoft.com/office/drawing/2014/main" id="{A358AB1A-658D-4DE5-BB97-FB681BD11646}"/>
                </a:ext>
              </a:extLst>
            </p:cNvPr>
            <p:cNvSpPr/>
            <p:nvPr/>
          </p:nvSpPr>
          <p:spPr>
            <a:xfrm>
              <a:off x="-217632" y="699741"/>
              <a:ext cx="4294444" cy="87203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p>
              <a:r>
                <a:rPr lang="en-US" dirty="0"/>
                <a:t>Everything Else</a:t>
              </a:r>
              <a:endParaRPr dirty="0"/>
            </a:p>
          </p:txBody>
        </p:sp>
      </p:grpSp>
      <p:sp>
        <p:nvSpPr>
          <p:cNvPr id="24" name="Shape 130">
            <a:extLst>
              <a:ext uri="{FF2B5EF4-FFF2-40B4-BE49-F238E27FC236}">
                <a16:creationId xmlns:a16="http://schemas.microsoft.com/office/drawing/2014/main" id="{17AE768C-88E7-41D1-8A11-226B979CD702}"/>
              </a:ext>
            </a:extLst>
          </p:cNvPr>
          <p:cNvSpPr/>
          <p:nvPr/>
        </p:nvSpPr>
        <p:spPr>
          <a:xfrm>
            <a:off x="17207115" y="12643831"/>
            <a:ext cx="5394105"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6"/>
              </a:defRPr>
            </a:lvl1pPr>
          </a:lstStyle>
          <a:p>
            <a:pPr>
              <a:defRPr u="none"/>
            </a:pPr>
            <a:r>
              <a:rPr lang="en-US" u="sng" dirty="0">
                <a:hlinkClick r:id="rId7"/>
              </a:rPr>
              <a:t>http://hl7.org/fhir/index.html</a:t>
            </a:r>
            <a:endParaRPr u="sng" dirty="0">
              <a:hlinkClick r:id="rId6"/>
            </a:endParaRPr>
          </a:p>
        </p:txBody>
      </p:sp>
      <p:sp>
        <p:nvSpPr>
          <p:cNvPr id="25" name="Shape 180">
            <a:extLst>
              <a:ext uri="{FF2B5EF4-FFF2-40B4-BE49-F238E27FC236}">
                <a16:creationId xmlns:a16="http://schemas.microsoft.com/office/drawing/2014/main" id="{D73F500A-621B-4198-AD49-9F274A54AC84}"/>
              </a:ext>
            </a:extLst>
          </p:cNvPr>
          <p:cNvSpPr/>
          <p:nvPr/>
        </p:nvSpPr>
        <p:spPr>
          <a:xfrm>
            <a:off x="15895858" y="7414781"/>
            <a:ext cx="8016618" cy="31496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r>
              <a:rPr dirty="0"/>
              <a:t>Note: HAPI is the recommended Java Reference implementation</a:t>
            </a:r>
          </a:p>
          <a:p>
            <a:r>
              <a:rPr u="sng" dirty="0">
                <a:hlinkClick r:id="rId8"/>
              </a:rPr>
              <a:t>http://hapifhir.io/index.html</a:t>
            </a:r>
          </a:p>
        </p:txBody>
      </p:sp>
    </p:spTree>
    <p:extLst>
      <p:ext uri="{BB962C8B-B14F-4D97-AF65-F5344CB8AC3E}">
        <p14:creationId xmlns:p14="http://schemas.microsoft.com/office/powerpoint/2010/main" val="22512238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iterate>
                                    <p:tmAbs val="0"/>
                                  </p:iterate>
                                  <p:childTnLst>
                                    <p:set>
                                      <p:cBhvr>
                                        <p:cTn id="10"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iterate>
                                    <p:tmAbs val="0"/>
                                  </p:iterate>
                                  <p:childTnLst>
                                    <p:set>
                                      <p:cBhvr>
                                        <p:cTn id="18" fill="hold">
                                          <p:stCondLst>
                                            <p:cond delay="0"/>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iterate>
                                    <p:tmAbs val="0"/>
                                  </p:iterate>
                                  <p:childTnLst>
                                    <p:set>
                                      <p:cBhvr>
                                        <p:cTn id="26" fill="hold">
                                          <p:stCondLst>
                                            <p:cond delay="0"/>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dvAuto="0"/>
      <p:bldP spid="8" grpId="1" animBg="1" advAuto="0"/>
      <p:bldP spid="12" grpId="0" animBg="1" advAuto="0"/>
      <p:bldP spid="12" grpId="1" animBg="1" advAuto="0"/>
      <p:bldP spid="16" grpId="0" animBg="1" advAuto="0"/>
      <p:bldP spid="16" grpId="1" animBg="1" advAuto="0"/>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C3ADC1-B5B7-4EC6-86AE-22C0B4077795}"/>
              </a:ext>
            </a:extLst>
          </p:cNvPr>
          <p:cNvSpPr txBox="1"/>
          <p:nvPr/>
        </p:nvSpPr>
        <p:spPr>
          <a:xfrm>
            <a:off x="16431986" y="12699743"/>
            <a:ext cx="7766957" cy="6309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500" dirty="0">
                <a:hlinkClick r:id="rId2"/>
              </a:rPr>
              <a:t>http://hl7.org/fhir/downloads.html</a:t>
            </a:r>
            <a:endParaRPr lang="en-US" sz="3500" dirty="0"/>
          </a:p>
        </p:txBody>
      </p:sp>
      <p:pic>
        <p:nvPicPr>
          <p:cNvPr id="4" name="Picture 3">
            <a:extLst>
              <a:ext uri="{FF2B5EF4-FFF2-40B4-BE49-F238E27FC236}">
                <a16:creationId xmlns:a16="http://schemas.microsoft.com/office/drawing/2014/main" id="{F8BFFECA-BDBA-7D4E-755C-6D3682ED5367}"/>
              </a:ext>
            </a:extLst>
          </p:cNvPr>
          <p:cNvPicPr>
            <a:picLocks noChangeAspect="1"/>
          </p:cNvPicPr>
          <p:nvPr/>
        </p:nvPicPr>
        <p:blipFill>
          <a:blip r:embed="rId3"/>
          <a:stretch>
            <a:fillRect/>
          </a:stretch>
        </p:blipFill>
        <p:spPr>
          <a:xfrm>
            <a:off x="2886364" y="362675"/>
            <a:ext cx="13999556" cy="12968010"/>
          </a:xfrm>
          <a:prstGeom prst="rect">
            <a:avLst/>
          </a:prstGeom>
        </p:spPr>
      </p:pic>
    </p:spTree>
    <p:extLst>
      <p:ext uri="{BB962C8B-B14F-4D97-AF65-F5344CB8AC3E}">
        <p14:creationId xmlns:p14="http://schemas.microsoft.com/office/powerpoint/2010/main" val="151904050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p:nvPr/>
        </p:nvSpPr>
        <p:spPr>
          <a:xfrm>
            <a:off x="16484041" y="12822665"/>
            <a:ext cx="7817931" cy="6350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3"/>
              </a:defRPr>
            </a:lvl1pPr>
          </a:lstStyle>
          <a:p>
            <a:pPr>
              <a:defRPr u="none"/>
            </a:pPr>
            <a:r>
              <a:rPr lang="en-US" dirty="0">
                <a:hlinkClick r:id="rId4"/>
              </a:rPr>
              <a:t>https://confluence.hl7.org/display/FHIR</a:t>
            </a:r>
            <a:endParaRPr u="sng" dirty="0">
              <a:hlinkClick r:id="rId3"/>
            </a:endParaRPr>
          </a:p>
        </p:txBody>
      </p:sp>
      <p:sp>
        <p:nvSpPr>
          <p:cNvPr id="11" name="TextBox 10">
            <a:extLst>
              <a:ext uri="{FF2B5EF4-FFF2-40B4-BE49-F238E27FC236}">
                <a16:creationId xmlns:a16="http://schemas.microsoft.com/office/drawing/2014/main" id="{EFDAF61C-3545-48D2-8A83-BCE9D85DF2C5}"/>
              </a:ext>
            </a:extLst>
          </p:cNvPr>
          <p:cNvSpPr txBox="1"/>
          <p:nvPr/>
        </p:nvSpPr>
        <p:spPr>
          <a:xfrm>
            <a:off x="2860010" y="233651"/>
            <a:ext cx="18663980"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200" b="0" i="0" u="none" strike="noStrike" cap="none" spc="0" normalizeH="0" baseline="0" dirty="0">
                <a:ln>
                  <a:noFill/>
                </a:ln>
                <a:solidFill>
                  <a:srgbClr val="000000"/>
                </a:solidFill>
                <a:effectLst/>
                <a:uFillTx/>
                <a:latin typeface="+mn-lt"/>
                <a:ea typeface="+mn-ea"/>
                <a:cs typeface="+mn-cs"/>
                <a:sym typeface="Helvetica Light"/>
              </a:rPr>
              <a:t>Support</a:t>
            </a:r>
          </a:p>
        </p:txBody>
      </p:sp>
      <p:pic>
        <p:nvPicPr>
          <p:cNvPr id="3" name="Picture 2">
            <a:extLst>
              <a:ext uri="{FF2B5EF4-FFF2-40B4-BE49-F238E27FC236}">
                <a16:creationId xmlns:a16="http://schemas.microsoft.com/office/drawing/2014/main" id="{7FC4AA8B-F5EF-B11C-C5A7-D7968CB5B55D}"/>
              </a:ext>
            </a:extLst>
          </p:cNvPr>
          <p:cNvPicPr>
            <a:picLocks noChangeAspect="1"/>
          </p:cNvPicPr>
          <p:nvPr/>
        </p:nvPicPr>
        <p:blipFill>
          <a:blip r:embed="rId5"/>
          <a:stretch>
            <a:fillRect/>
          </a:stretch>
        </p:blipFill>
        <p:spPr>
          <a:xfrm>
            <a:off x="3089592" y="1136463"/>
            <a:ext cx="20270802" cy="10384676"/>
          </a:xfrm>
          <a:prstGeom prst="rect">
            <a:avLst/>
          </a:prstGeom>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222" name="Shape 222"/>
          <p:cNvSpPr/>
          <p:nvPr/>
        </p:nvSpPr>
        <p:spPr>
          <a:xfrm>
            <a:off x="5108047" y="6197599"/>
            <a:ext cx="14421906"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rPr dirty="0"/>
              <a:t>Specification Versioning</a:t>
            </a:r>
          </a:p>
        </p:txBody>
      </p:sp>
      <p:sp>
        <p:nvSpPr>
          <p:cNvPr id="223" name="Shape 223"/>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p:nvPr/>
        </p:nvSpPr>
        <p:spPr>
          <a:xfrm>
            <a:off x="358995" y="6068040"/>
            <a:ext cx="6174614" cy="1579920"/>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r>
              <a:rPr sz="4800" dirty="0"/>
              <a:t>Current: </a:t>
            </a:r>
            <a:r>
              <a:rPr lang="en-US" sz="4800" dirty="0"/>
              <a:t>R5 Sequence</a:t>
            </a:r>
            <a:endParaRPr sz="4800" dirty="0"/>
          </a:p>
          <a:p>
            <a:r>
              <a:rPr sz="4800" dirty="0"/>
              <a:t>AKA: </a:t>
            </a:r>
            <a:r>
              <a:rPr lang="en-US" sz="4800" dirty="0"/>
              <a:t>5.0.0</a:t>
            </a:r>
            <a:endParaRPr sz="4800" dirty="0"/>
          </a:p>
        </p:txBody>
      </p:sp>
      <p:sp>
        <p:nvSpPr>
          <p:cNvPr id="227" name="Shape 227"/>
          <p:cNvSpPr/>
          <p:nvPr/>
        </p:nvSpPr>
        <p:spPr>
          <a:xfrm>
            <a:off x="100621" y="12916355"/>
            <a:ext cx="6174614" cy="6350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u="sng" dirty="0">
                <a:hlinkClick r:id="rId2"/>
              </a:rPr>
              <a:t>http://hl7.org/fhir/directory.html</a:t>
            </a:r>
          </a:p>
        </p:txBody>
      </p:sp>
      <p:pic>
        <p:nvPicPr>
          <p:cNvPr id="3" name="Picture 2">
            <a:extLst>
              <a:ext uri="{FF2B5EF4-FFF2-40B4-BE49-F238E27FC236}">
                <a16:creationId xmlns:a16="http://schemas.microsoft.com/office/drawing/2014/main" id="{7A47CF4A-1382-795B-11E2-69ACEDC5D13A}"/>
              </a:ext>
            </a:extLst>
          </p:cNvPr>
          <p:cNvPicPr>
            <a:picLocks noChangeAspect="1"/>
          </p:cNvPicPr>
          <p:nvPr/>
        </p:nvPicPr>
        <p:blipFill>
          <a:blip r:embed="rId3"/>
          <a:stretch>
            <a:fillRect/>
          </a:stretch>
        </p:blipFill>
        <p:spPr>
          <a:xfrm>
            <a:off x="10193258" y="400527"/>
            <a:ext cx="13831747" cy="12914946"/>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hape 213"/>
          <p:cNvSpPr/>
          <p:nvPr/>
        </p:nvSpPr>
        <p:spPr>
          <a:xfrm>
            <a:off x="327170" y="12731028"/>
            <a:ext cx="15448140"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https://docs.oracle.com/en/industries/health/millennium-platform-apis/index.html</a:t>
            </a:r>
            <a:endParaRPr u="sng" dirty="0">
              <a:hlinkClick r:id="rId2"/>
            </a:endParaRPr>
          </a:p>
        </p:txBody>
      </p:sp>
      <p:pic>
        <p:nvPicPr>
          <p:cNvPr id="4" name="Picture 3">
            <a:extLst>
              <a:ext uri="{FF2B5EF4-FFF2-40B4-BE49-F238E27FC236}">
                <a16:creationId xmlns:a16="http://schemas.microsoft.com/office/drawing/2014/main" id="{835D6358-509D-3A81-D495-8A74BF1EE895}"/>
              </a:ext>
            </a:extLst>
          </p:cNvPr>
          <p:cNvPicPr>
            <a:picLocks noChangeAspect="1"/>
          </p:cNvPicPr>
          <p:nvPr/>
        </p:nvPicPr>
        <p:blipFill>
          <a:blip r:embed="rId4"/>
          <a:stretch>
            <a:fillRect/>
          </a:stretch>
        </p:blipFill>
        <p:spPr>
          <a:xfrm>
            <a:off x="991857" y="1065916"/>
            <a:ext cx="17985710" cy="9326277"/>
          </a:xfrm>
          <a:prstGeom prst="rect">
            <a:avLst/>
          </a:prstGeom>
        </p:spPr>
      </p:pic>
      <p:sp>
        <p:nvSpPr>
          <p:cNvPr id="5" name="Rectangle 4">
            <a:extLst>
              <a:ext uri="{FF2B5EF4-FFF2-40B4-BE49-F238E27FC236}">
                <a16:creationId xmlns:a16="http://schemas.microsoft.com/office/drawing/2014/main" id="{0E75035D-15A1-CBF1-5FF5-795D42927EE9}"/>
              </a:ext>
            </a:extLst>
          </p:cNvPr>
          <p:cNvSpPr/>
          <p:nvPr/>
        </p:nvSpPr>
        <p:spPr>
          <a:xfrm>
            <a:off x="6378855" y="4308942"/>
            <a:ext cx="12786702" cy="1210563"/>
          </a:xfrm>
          <a:prstGeom prst="rect">
            <a:avLst/>
          </a:prstGeom>
          <a:noFill/>
          <a:ln w="5715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212" name="Shape 212"/>
          <p:cNvSpPr/>
          <p:nvPr/>
        </p:nvSpPr>
        <p:spPr>
          <a:xfrm>
            <a:off x="13157484" y="6251842"/>
            <a:ext cx="10736915" cy="87203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rPr dirty="0"/>
              <a:t>Latest Millennium Production: </a:t>
            </a:r>
            <a:r>
              <a:rPr lang="en-US" dirty="0"/>
              <a:t>R4/4.0.1</a:t>
            </a:r>
            <a:endParaRPr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pasted-image.png"/>
          <p:cNvPicPr>
            <a:picLocks noGrp="1" noChangeAspect="1"/>
          </p:cNvPicPr>
          <p:nvPr>
            <p:ph type="pic" idx="13"/>
          </p:nvPr>
        </p:nvPicPr>
        <p:blipFill>
          <a:blip r:embed="rId2"/>
          <a:srcRect l="8728" r="8728"/>
          <a:stretch>
            <a:fillRect/>
          </a:stretch>
        </p:blipFill>
        <p:spPr>
          <a:xfrm>
            <a:off x="13165981" y="1104900"/>
            <a:ext cx="9525001" cy="11506200"/>
          </a:xfrm>
          <a:prstGeom prst="rect">
            <a:avLst/>
          </a:prstGeom>
        </p:spPr>
      </p:pic>
      <p:sp>
        <p:nvSpPr>
          <p:cNvPr id="235" name="Shape 235"/>
          <p:cNvSpPr>
            <a:spLocks noGrp="1"/>
          </p:cNvSpPr>
          <p:nvPr>
            <p:ph type="title"/>
          </p:nvPr>
        </p:nvSpPr>
        <p:spPr>
          <a:prstGeom prst="rect">
            <a:avLst/>
          </a:prstGeom>
        </p:spPr>
        <p:txBody>
          <a:bodyPr/>
          <a:lstStyle/>
          <a:p>
            <a:r>
              <a:rPr dirty="0"/>
              <a:t>Which Version?</a:t>
            </a:r>
          </a:p>
        </p:txBody>
      </p:sp>
      <p:sp>
        <p:nvSpPr>
          <p:cNvPr id="236" name="Shape 236"/>
          <p:cNvSpPr>
            <a:spLocks noGrp="1"/>
          </p:cNvSpPr>
          <p:nvPr>
            <p:ph type="body" sz="quarter" idx="1"/>
          </p:nvPr>
        </p:nvSpPr>
        <p:spPr>
          <a:prstGeom prst="rect">
            <a:avLst/>
          </a:prstGeom>
        </p:spPr>
        <p:txBody>
          <a:bodyPr/>
          <a:lstStyle/>
          <a:p>
            <a:pPr marL="537307" indent="-537307" algn="l">
              <a:buSzPct val="75000"/>
              <a:buChar char="•"/>
            </a:pPr>
            <a:r>
              <a:rPr dirty="0"/>
              <a:t>Multiple Available</a:t>
            </a:r>
          </a:p>
          <a:p>
            <a:pPr marL="537307" indent="-537307" algn="l">
              <a:buSzPct val="75000"/>
              <a:buChar char="•"/>
            </a:pPr>
            <a:r>
              <a:rPr dirty="0"/>
              <a:t>Deprecate Oldest</a:t>
            </a:r>
          </a:p>
          <a:p>
            <a:pPr marL="537307" indent="-537307" algn="l">
              <a:buSzPct val="75000"/>
              <a:buChar char="•"/>
            </a:pPr>
            <a:r>
              <a:rPr dirty="0"/>
              <a:t>Time to Uplift Applications</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p:nvPr/>
        </p:nvSpPr>
        <p:spPr>
          <a:xfrm>
            <a:off x="6823542" y="11044783"/>
            <a:ext cx="10736915" cy="872034"/>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r>
              <a:rPr dirty="0"/>
              <a:t>Latest Millennium Production: </a:t>
            </a:r>
            <a:r>
              <a:rPr lang="en-US" dirty="0"/>
              <a:t>R4</a:t>
            </a:r>
            <a:r>
              <a:rPr dirty="0"/>
              <a:t>/</a:t>
            </a:r>
            <a:r>
              <a:rPr lang="en-US" dirty="0"/>
              <a:t>4</a:t>
            </a:r>
            <a:r>
              <a:rPr dirty="0"/>
              <a:t>.0.</a:t>
            </a:r>
            <a:r>
              <a:rPr lang="en-US" dirty="0"/>
              <a:t>1</a:t>
            </a:r>
            <a:endParaRPr dirty="0"/>
          </a:p>
        </p:txBody>
      </p:sp>
      <p:pic>
        <p:nvPicPr>
          <p:cNvPr id="5" name="Picture 4">
            <a:extLst>
              <a:ext uri="{FF2B5EF4-FFF2-40B4-BE49-F238E27FC236}">
                <a16:creationId xmlns:a16="http://schemas.microsoft.com/office/drawing/2014/main" id="{50F59DA6-ABFD-468D-B8F3-50698711DD5C}"/>
              </a:ext>
            </a:extLst>
          </p:cNvPr>
          <p:cNvPicPr>
            <a:picLocks noChangeAspect="1"/>
          </p:cNvPicPr>
          <p:nvPr/>
        </p:nvPicPr>
        <p:blipFill>
          <a:blip r:embed="rId2"/>
          <a:stretch>
            <a:fillRect/>
          </a:stretch>
        </p:blipFill>
        <p:spPr>
          <a:xfrm>
            <a:off x="3134355" y="1130355"/>
            <a:ext cx="18115290" cy="9156696"/>
          </a:xfrm>
          <a:prstGeom prst="rect">
            <a:avLst/>
          </a:prstGeom>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243" name="Shape 243"/>
          <p:cNvSpPr/>
          <p:nvPr/>
        </p:nvSpPr>
        <p:spPr>
          <a:xfrm>
            <a:off x="9020894" y="6197599"/>
            <a:ext cx="659621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rPr dirty="0"/>
              <a:t>Data Types</a:t>
            </a:r>
          </a:p>
        </p:txBody>
      </p:sp>
      <p:sp>
        <p:nvSpPr>
          <p:cNvPr id="244" name="Shape 244"/>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p:cNvSpPr>
          <p:nvPr>
            <p:ph type="title"/>
          </p:nvPr>
        </p:nvSpPr>
        <p:spPr>
          <a:xfrm>
            <a:off x="812800" y="317500"/>
            <a:ext cx="23114000" cy="2006600"/>
          </a:xfrm>
          <a:prstGeom prst="rect">
            <a:avLst/>
          </a:prstGeom>
        </p:spPr>
        <p:txBody>
          <a:bodyPr/>
          <a:lstStyle/>
          <a:p>
            <a:r>
              <a:rPr dirty="0"/>
              <a:t>Primitive Types</a:t>
            </a:r>
          </a:p>
        </p:txBody>
      </p:sp>
      <p:sp>
        <p:nvSpPr>
          <p:cNvPr id="248" name="Shape 248"/>
          <p:cNvSpPr/>
          <p:nvPr/>
        </p:nvSpPr>
        <p:spPr>
          <a:xfrm>
            <a:off x="-1447483" y="12738100"/>
            <a:ext cx="13736201" cy="635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defRPr sz="3500" u="sng">
                <a:hlinkClick r:id="rId2"/>
              </a:defRPr>
            </a:lvl1pPr>
          </a:lstStyle>
          <a:p>
            <a:pPr>
              <a:defRPr u="none"/>
            </a:pPr>
            <a:r>
              <a:rPr lang="en-US" u="sng" dirty="0">
                <a:hlinkClick r:id="rId3"/>
              </a:rPr>
              <a:t>http://hl7.org/fhir/datatypes.html#primitive</a:t>
            </a:r>
            <a:endParaRPr u="sng" dirty="0">
              <a:hlinkClick r:id="rId2"/>
            </a:endParaRPr>
          </a:p>
        </p:txBody>
      </p:sp>
      <p:pic>
        <p:nvPicPr>
          <p:cNvPr id="3" name="Picture 2">
            <a:extLst>
              <a:ext uri="{FF2B5EF4-FFF2-40B4-BE49-F238E27FC236}">
                <a16:creationId xmlns:a16="http://schemas.microsoft.com/office/drawing/2014/main" id="{EC3C0657-7EB5-4D28-89D6-B1540C25E06C}"/>
              </a:ext>
            </a:extLst>
          </p:cNvPr>
          <p:cNvPicPr>
            <a:picLocks noChangeAspect="1"/>
          </p:cNvPicPr>
          <p:nvPr/>
        </p:nvPicPr>
        <p:blipFill>
          <a:blip r:embed="rId4"/>
          <a:stretch>
            <a:fillRect/>
          </a:stretch>
        </p:blipFill>
        <p:spPr>
          <a:xfrm>
            <a:off x="1445854" y="2781300"/>
            <a:ext cx="21685728" cy="7239000"/>
          </a:xfrm>
          <a:prstGeom prst="rect">
            <a:avLst/>
          </a:prstGeom>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250"/>
          <p:cNvSpPr>
            <a:spLocks noGrp="1"/>
          </p:cNvSpPr>
          <p:nvPr>
            <p:ph type="title"/>
          </p:nvPr>
        </p:nvSpPr>
        <p:spPr>
          <a:prstGeom prst="rect">
            <a:avLst/>
          </a:prstGeom>
        </p:spPr>
        <p:txBody>
          <a:bodyPr/>
          <a:lstStyle/>
          <a:p>
            <a:r>
              <a:rPr dirty="0"/>
              <a:t>Surprises</a:t>
            </a:r>
          </a:p>
        </p:txBody>
      </p:sp>
      <p:sp>
        <p:nvSpPr>
          <p:cNvPr id="251" name="Shape 251"/>
          <p:cNvSpPr>
            <a:spLocks noGrp="1"/>
          </p:cNvSpPr>
          <p:nvPr>
            <p:ph type="body" idx="1"/>
          </p:nvPr>
        </p:nvSpPr>
        <p:spPr>
          <a:prstGeom prst="rect">
            <a:avLst/>
          </a:prstGeom>
        </p:spPr>
        <p:txBody>
          <a:bodyPr/>
          <a:lstStyle/>
          <a:p>
            <a:r>
              <a:rPr dirty="0"/>
              <a:t>Decimal: 1.01, 1.010</a:t>
            </a:r>
          </a:p>
          <a:p>
            <a:r>
              <a:rPr dirty="0"/>
              <a:t>Instant vs </a:t>
            </a:r>
            <a:r>
              <a:rPr dirty="0" err="1"/>
              <a:t>DateTime</a:t>
            </a:r>
            <a:endParaRPr dirty="0"/>
          </a:p>
          <a:p>
            <a:r>
              <a:rPr dirty="0" err="1"/>
              <a:t>DateTime</a:t>
            </a:r>
            <a:r>
              <a:rPr dirty="0"/>
              <a:t> vs Date vs Time</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5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5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Shape 255"/>
          <p:cNvSpPr>
            <a:spLocks noGrp="1"/>
          </p:cNvSpPr>
          <p:nvPr>
            <p:ph type="title"/>
          </p:nvPr>
        </p:nvSpPr>
        <p:spPr>
          <a:xfrm>
            <a:off x="635000" y="228600"/>
            <a:ext cx="23114000" cy="2006600"/>
          </a:xfrm>
          <a:prstGeom prst="rect">
            <a:avLst/>
          </a:prstGeom>
        </p:spPr>
        <p:txBody>
          <a:bodyPr/>
          <a:lstStyle/>
          <a:p>
            <a:r>
              <a:t>Complex Types</a:t>
            </a:r>
          </a:p>
        </p:txBody>
      </p:sp>
      <p:sp>
        <p:nvSpPr>
          <p:cNvPr id="257" name="Shape 257"/>
          <p:cNvSpPr/>
          <p:nvPr/>
        </p:nvSpPr>
        <p:spPr>
          <a:xfrm>
            <a:off x="1142587" y="12912800"/>
            <a:ext cx="8128827"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http://hl7.org/fhir/datatypes.html#complex</a:t>
            </a:r>
            <a:endParaRPr u="sng" dirty="0">
              <a:hlinkClick r:id="rId2"/>
            </a:endParaRPr>
          </a:p>
        </p:txBody>
      </p:sp>
      <p:pic>
        <p:nvPicPr>
          <p:cNvPr id="3" name="Picture 2">
            <a:extLst>
              <a:ext uri="{FF2B5EF4-FFF2-40B4-BE49-F238E27FC236}">
                <a16:creationId xmlns:a16="http://schemas.microsoft.com/office/drawing/2014/main" id="{9B2CB611-9E90-428C-B2AD-C9FA14FA4BC4}"/>
              </a:ext>
            </a:extLst>
          </p:cNvPr>
          <p:cNvPicPr>
            <a:picLocks noChangeAspect="1"/>
          </p:cNvPicPr>
          <p:nvPr/>
        </p:nvPicPr>
        <p:blipFill>
          <a:blip r:embed="rId4"/>
          <a:stretch>
            <a:fillRect/>
          </a:stretch>
        </p:blipFill>
        <p:spPr>
          <a:xfrm>
            <a:off x="8643442" y="2485353"/>
            <a:ext cx="7097115" cy="9621593"/>
          </a:xfrm>
          <a:prstGeom prst="rect">
            <a:avLst/>
          </a:prstGeom>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Shape 259"/>
          <p:cNvSpPr>
            <a:spLocks noGrp="1"/>
          </p:cNvSpPr>
          <p:nvPr>
            <p:ph type="title"/>
          </p:nvPr>
        </p:nvSpPr>
        <p:spPr>
          <a:xfrm>
            <a:off x="635000" y="274380"/>
            <a:ext cx="23114000" cy="2006601"/>
          </a:xfrm>
          <a:prstGeom prst="rect">
            <a:avLst/>
          </a:prstGeom>
        </p:spPr>
        <p:txBody>
          <a:bodyPr/>
          <a:lstStyle/>
          <a:p>
            <a:r>
              <a:t>Code Systems</a:t>
            </a:r>
          </a:p>
        </p:txBody>
      </p:sp>
      <p:sp>
        <p:nvSpPr>
          <p:cNvPr id="260" name="Shape 260"/>
          <p:cNvSpPr/>
          <p:nvPr/>
        </p:nvSpPr>
        <p:spPr>
          <a:xfrm>
            <a:off x="917972" y="12669903"/>
            <a:ext cx="8822928"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http://hl7.org/fhir/datatypes.html#codesystem</a:t>
            </a:r>
            <a:endParaRPr u="sng" dirty="0">
              <a:hlinkClick r:id="rId3"/>
            </a:endParaRPr>
          </a:p>
        </p:txBody>
      </p:sp>
      <p:pic>
        <p:nvPicPr>
          <p:cNvPr id="3" name="Picture 2">
            <a:extLst>
              <a:ext uri="{FF2B5EF4-FFF2-40B4-BE49-F238E27FC236}">
                <a16:creationId xmlns:a16="http://schemas.microsoft.com/office/drawing/2014/main" id="{06956BF1-88A3-422C-9EEC-C6167CFF291A}"/>
              </a:ext>
            </a:extLst>
          </p:cNvPr>
          <p:cNvPicPr>
            <a:picLocks noChangeAspect="1"/>
          </p:cNvPicPr>
          <p:nvPr/>
        </p:nvPicPr>
        <p:blipFill>
          <a:blip r:embed="rId5"/>
          <a:stretch>
            <a:fillRect/>
          </a:stretch>
        </p:blipFill>
        <p:spPr>
          <a:xfrm>
            <a:off x="0" y="3390901"/>
            <a:ext cx="24250650" cy="5105399"/>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Shape 265"/>
          <p:cNvSpPr>
            <a:spLocks noGrp="1"/>
          </p:cNvSpPr>
          <p:nvPr>
            <p:ph type="title"/>
          </p:nvPr>
        </p:nvSpPr>
        <p:spPr>
          <a:prstGeom prst="rect">
            <a:avLst/>
          </a:prstGeom>
        </p:spPr>
        <p:txBody>
          <a:bodyPr/>
          <a:lstStyle/>
          <a:p>
            <a:r>
              <a:t>Formats</a:t>
            </a:r>
          </a:p>
        </p:txBody>
      </p:sp>
      <p:sp>
        <p:nvSpPr>
          <p:cNvPr id="266" name="Shape 266"/>
          <p:cNvSpPr>
            <a:spLocks noGrp="1"/>
          </p:cNvSpPr>
          <p:nvPr>
            <p:ph type="body" idx="1"/>
          </p:nvPr>
        </p:nvSpPr>
        <p:spPr>
          <a:xfrm>
            <a:off x="1689100" y="9277350"/>
            <a:ext cx="21005800" cy="3143250"/>
          </a:xfrm>
          <a:prstGeom prst="rect">
            <a:avLst/>
          </a:prstGeom>
        </p:spPr>
        <p:txBody>
          <a:bodyPr/>
          <a:lstStyle/>
          <a:p>
            <a:pPr>
              <a:spcBef>
                <a:spcPts val="0"/>
              </a:spcBef>
            </a:pPr>
            <a:r>
              <a:rPr dirty="0"/>
              <a:t>JSON</a:t>
            </a:r>
            <a:r>
              <a:rPr lang="en-US" dirty="0"/>
              <a:t>, </a:t>
            </a:r>
            <a:r>
              <a:rPr dirty="0"/>
              <a:t>XML</a:t>
            </a:r>
            <a:r>
              <a:rPr lang="en-US" dirty="0"/>
              <a:t>, or RDF</a:t>
            </a:r>
            <a:endParaRPr dirty="0"/>
          </a:p>
          <a:p>
            <a:pPr>
              <a:spcBef>
                <a:spcPts val="0"/>
              </a:spcBef>
            </a:pPr>
            <a:r>
              <a:rPr dirty="0"/>
              <a:t>Via Accept or Content-Type headers</a:t>
            </a:r>
          </a:p>
          <a:p>
            <a:pPr>
              <a:spcBef>
                <a:spcPts val="0"/>
              </a:spcBef>
            </a:pPr>
            <a:r>
              <a:rPr dirty="0"/>
              <a:t>Via _format parameter</a:t>
            </a:r>
          </a:p>
        </p:txBody>
      </p:sp>
      <p:sp>
        <p:nvSpPr>
          <p:cNvPr id="267" name="Shape 267"/>
          <p:cNvSpPr/>
          <p:nvPr/>
        </p:nvSpPr>
        <p:spPr>
          <a:xfrm>
            <a:off x="180428" y="12864585"/>
            <a:ext cx="7599837"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a:spcBef>
                <a:spcPts val="5900"/>
              </a:spcBef>
              <a:defRPr sz="3500" u="sng">
                <a:hlinkClick r:id="rId2"/>
              </a:defRPr>
            </a:lvl1pPr>
          </a:lstStyle>
          <a:p>
            <a:pPr>
              <a:defRPr u="none"/>
            </a:pPr>
            <a:r>
              <a:rPr lang="en-US" u="sng" dirty="0">
                <a:hlinkClick r:id="rId3"/>
              </a:rPr>
              <a:t>https://hl7.org/fhir/http.html#mime-type</a:t>
            </a:r>
            <a:endParaRPr u="sng" dirty="0">
              <a:hlinkClick r:id="rId2"/>
            </a:endParaRPr>
          </a:p>
        </p:txBody>
      </p:sp>
      <p:pic>
        <p:nvPicPr>
          <p:cNvPr id="3" name="Picture 2">
            <a:extLst>
              <a:ext uri="{FF2B5EF4-FFF2-40B4-BE49-F238E27FC236}">
                <a16:creationId xmlns:a16="http://schemas.microsoft.com/office/drawing/2014/main" id="{CBB4776B-A744-4D2A-9DB1-E0A5FAE7B6D5}"/>
              </a:ext>
            </a:extLst>
          </p:cNvPr>
          <p:cNvPicPr>
            <a:picLocks noChangeAspect="1"/>
          </p:cNvPicPr>
          <p:nvPr/>
        </p:nvPicPr>
        <p:blipFill>
          <a:blip r:embed="rId4"/>
          <a:stretch>
            <a:fillRect/>
          </a:stretch>
        </p:blipFill>
        <p:spPr>
          <a:xfrm>
            <a:off x="1689100" y="3061732"/>
            <a:ext cx="18633487" cy="6215618"/>
          </a:xfrm>
          <a:prstGeom prst="rect">
            <a:avLst/>
          </a:prstGeom>
        </p:spPr>
      </p:pic>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6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6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6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269" name="Shape 269"/>
          <p:cNvSpPr/>
          <p:nvPr/>
        </p:nvSpPr>
        <p:spPr>
          <a:xfrm>
            <a:off x="9112023" y="6197599"/>
            <a:ext cx="6413954"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Resources</a:t>
            </a:r>
          </a:p>
        </p:txBody>
      </p:sp>
      <p:sp>
        <p:nvSpPr>
          <p:cNvPr id="270" name="Shape 270"/>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p:cNvSpPr>
          <p:nvPr>
            <p:ph type="body" idx="1"/>
          </p:nvPr>
        </p:nvSpPr>
        <p:spPr>
          <a:prstGeom prst="rect">
            <a:avLst/>
          </a:prstGeom>
        </p:spPr>
        <p:txBody>
          <a:bodyPr/>
          <a:lstStyle/>
          <a:p>
            <a:r>
              <a:rPr dirty="0"/>
              <a:t>Patient, Condition, </a:t>
            </a:r>
            <a:r>
              <a:rPr dirty="0" err="1"/>
              <a:t>Medication</a:t>
            </a:r>
            <a:r>
              <a:rPr lang="en-US" dirty="0" err="1"/>
              <a:t>Request</a:t>
            </a:r>
            <a:r>
              <a:rPr dirty="0"/>
              <a:t>…</a:t>
            </a:r>
          </a:p>
          <a:p>
            <a:r>
              <a:rPr dirty="0"/>
              <a:t>All resources have metadata</a:t>
            </a:r>
          </a:p>
          <a:p>
            <a:r>
              <a:rPr dirty="0"/>
              <a:t>All resources have narrative</a:t>
            </a:r>
          </a:p>
          <a:p>
            <a:r>
              <a:rPr dirty="0"/>
              <a:t>Structured data items</a:t>
            </a:r>
          </a:p>
          <a:p>
            <a:r>
              <a:rPr dirty="0"/>
              <a:t>[base]/[Resource] (case sensitive)</a:t>
            </a:r>
          </a:p>
          <a:p>
            <a:pPr lvl="1"/>
            <a:r>
              <a:rPr dirty="0"/>
              <a:t>[base]/Patient</a:t>
            </a:r>
          </a:p>
        </p:txBody>
      </p:sp>
      <p:sp>
        <p:nvSpPr>
          <p:cNvPr id="255" name="Shape 255"/>
          <p:cNvSpPr/>
          <p:nvPr/>
        </p:nvSpPr>
        <p:spPr>
          <a:xfrm>
            <a:off x="901786" y="12742909"/>
            <a:ext cx="6275757"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https://hl7.org/fhir/resource.html</a:t>
            </a:r>
            <a:endParaRPr u="sng" dirty="0">
              <a:hlinkClick r:id="rId2"/>
            </a:endParaRPr>
          </a:p>
        </p:txBody>
      </p:sp>
      <p:sp>
        <p:nvSpPr>
          <p:cNvPr id="7" name="Shape 272">
            <a:extLst>
              <a:ext uri="{FF2B5EF4-FFF2-40B4-BE49-F238E27FC236}">
                <a16:creationId xmlns:a16="http://schemas.microsoft.com/office/drawing/2014/main" id="{4B7364F5-D993-41D5-AB19-E058D6551D23}"/>
              </a:ext>
            </a:extLst>
          </p:cNvPr>
          <p:cNvSpPr>
            <a:spLocks noGrp="1"/>
          </p:cNvSpPr>
          <p:nvPr>
            <p:ph type="title"/>
          </p:nvPr>
        </p:nvSpPr>
        <p:spPr>
          <a:xfrm>
            <a:off x="1689100" y="952500"/>
            <a:ext cx="21005800" cy="2286000"/>
          </a:xfrm>
          <a:prstGeom prst="rect">
            <a:avLst/>
          </a:prstGeom>
        </p:spPr>
        <p:txBody>
          <a:bodyPr>
            <a:noAutofit/>
          </a:bodyPr>
          <a:lstStyle/>
          <a:p>
            <a:r>
              <a:rPr lang="en-US" b="0" dirty="0">
                <a:solidFill>
                  <a:schemeClr val="tx1"/>
                </a:solidFill>
                <a:latin typeface="+mn-lt"/>
              </a:rPr>
              <a:t>Resources</a:t>
            </a:r>
            <a:endParaRPr b="0" dirty="0">
              <a:latin typeface="+mn-lt"/>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p:nvPr/>
        </p:nvSpPr>
        <p:spPr>
          <a:xfrm>
            <a:off x="917444" y="12913255"/>
            <a:ext cx="6585136"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http://hl7.org/fhir/resourcelist.html</a:t>
            </a:r>
            <a:endParaRPr u="sng" dirty="0">
              <a:hlinkClick r:id="rId3"/>
            </a:endParaRPr>
          </a:p>
        </p:txBody>
      </p:sp>
      <p:pic>
        <p:nvPicPr>
          <p:cNvPr id="4" name="Picture 3">
            <a:extLst>
              <a:ext uri="{FF2B5EF4-FFF2-40B4-BE49-F238E27FC236}">
                <a16:creationId xmlns:a16="http://schemas.microsoft.com/office/drawing/2014/main" id="{6517CC14-EC0E-252F-BA31-73BD388F31A8}"/>
              </a:ext>
            </a:extLst>
          </p:cNvPr>
          <p:cNvPicPr>
            <a:picLocks noChangeAspect="1"/>
          </p:cNvPicPr>
          <p:nvPr/>
        </p:nvPicPr>
        <p:blipFill>
          <a:blip r:embed="rId5"/>
          <a:stretch>
            <a:fillRect/>
          </a:stretch>
        </p:blipFill>
        <p:spPr>
          <a:xfrm>
            <a:off x="9005226" y="265162"/>
            <a:ext cx="13894439" cy="13185676"/>
          </a:xfrm>
          <a:prstGeom prst="rect">
            <a:avLst/>
          </a:prstGeom>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p:cNvSpPr>
          <p:nvPr>
            <p:ph type="title"/>
          </p:nvPr>
        </p:nvSpPr>
        <p:spPr>
          <a:prstGeom prst="rect">
            <a:avLst/>
          </a:prstGeom>
        </p:spPr>
        <p:txBody>
          <a:bodyPr/>
          <a:lstStyle/>
          <a:p>
            <a:r>
              <a:t>Maturity Levels</a:t>
            </a:r>
          </a:p>
        </p:txBody>
      </p:sp>
      <p:sp>
        <p:nvSpPr>
          <p:cNvPr id="282" name="Shape 282"/>
          <p:cNvSpPr>
            <a:spLocks noGrp="1"/>
          </p:cNvSpPr>
          <p:nvPr>
            <p:ph type="body" idx="1"/>
          </p:nvPr>
        </p:nvSpPr>
        <p:spPr>
          <a:prstGeom prst="rect">
            <a:avLst/>
          </a:prstGeom>
        </p:spPr>
        <p:txBody>
          <a:bodyPr/>
          <a:lstStyle/>
          <a:p>
            <a:r>
              <a:rPr dirty="0"/>
              <a:t>Risk for change</a:t>
            </a:r>
          </a:p>
          <a:p>
            <a:r>
              <a:rPr dirty="0"/>
              <a:t>Lower number, highest risk</a:t>
            </a:r>
          </a:p>
          <a:p>
            <a:r>
              <a:rPr dirty="0"/>
              <a:t>0-5</a:t>
            </a:r>
            <a:r>
              <a:rPr lang="en-US" dirty="0"/>
              <a:t> or (N)</a:t>
            </a:r>
            <a:r>
              <a:rPr lang="en-US" dirty="0" err="1"/>
              <a:t>ormative</a:t>
            </a:r>
            <a:endParaRPr dirty="0"/>
          </a:p>
        </p:txBody>
      </p:sp>
      <p:sp>
        <p:nvSpPr>
          <p:cNvPr id="283" name="Shape 283"/>
          <p:cNvSpPr/>
          <p:nvPr/>
        </p:nvSpPr>
        <p:spPr>
          <a:xfrm>
            <a:off x="882802" y="12888920"/>
            <a:ext cx="7968527"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https://hl7.org/fhir/versions.html#maturity</a:t>
            </a:r>
            <a:endParaRPr u="sng" dirty="0">
              <a:hlinkClick r:id="rId3"/>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8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8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8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287" name="Shape 287"/>
          <p:cNvSpPr/>
          <p:nvPr/>
        </p:nvSpPr>
        <p:spPr>
          <a:xfrm>
            <a:off x="5805502" y="6197599"/>
            <a:ext cx="13026995"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Terminology Bindings</a:t>
            </a:r>
          </a:p>
        </p:txBody>
      </p:sp>
      <p:sp>
        <p:nvSpPr>
          <p:cNvPr id="288" name="Shape 288"/>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Shape 290"/>
          <p:cNvSpPr>
            <a:spLocks noGrp="1"/>
          </p:cNvSpPr>
          <p:nvPr>
            <p:ph type="title"/>
          </p:nvPr>
        </p:nvSpPr>
        <p:spPr>
          <a:xfrm>
            <a:off x="635000" y="323051"/>
            <a:ext cx="23114000" cy="2006601"/>
          </a:xfrm>
          <a:prstGeom prst="rect">
            <a:avLst/>
          </a:prstGeom>
        </p:spPr>
        <p:txBody>
          <a:bodyPr/>
          <a:lstStyle/>
          <a:p>
            <a:r>
              <a:t>Terminology Bindings</a:t>
            </a:r>
          </a:p>
        </p:txBody>
      </p:sp>
      <p:sp>
        <p:nvSpPr>
          <p:cNvPr id="291" name="Shape 291"/>
          <p:cNvSpPr/>
          <p:nvPr/>
        </p:nvSpPr>
        <p:spPr>
          <a:xfrm>
            <a:off x="635000" y="12751748"/>
            <a:ext cx="648094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https://hl7.org/fhir/patient.html#tx</a:t>
            </a:r>
            <a:endParaRPr u="sng" dirty="0">
              <a:hlinkClick r:id="rId2"/>
            </a:endParaRPr>
          </a:p>
        </p:txBody>
      </p:sp>
      <p:pic>
        <p:nvPicPr>
          <p:cNvPr id="3" name="Picture 2">
            <a:extLst>
              <a:ext uri="{FF2B5EF4-FFF2-40B4-BE49-F238E27FC236}">
                <a16:creationId xmlns:a16="http://schemas.microsoft.com/office/drawing/2014/main" id="{A698D791-45FB-4C5A-A8AF-7A160DC86E28}"/>
              </a:ext>
            </a:extLst>
          </p:cNvPr>
          <p:cNvPicPr>
            <a:picLocks noChangeAspect="1"/>
          </p:cNvPicPr>
          <p:nvPr/>
        </p:nvPicPr>
        <p:blipFill>
          <a:blip r:embed="rId4"/>
          <a:stretch>
            <a:fillRect/>
          </a:stretch>
        </p:blipFill>
        <p:spPr>
          <a:xfrm>
            <a:off x="1153698" y="3315394"/>
            <a:ext cx="22076604" cy="4710310"/>
          </a:xfrm>
          <a:prstGeom prst="rect">
            <a:avLst/>
          </a:prstGeom>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Shape 290"/>
          <p:cNvSpPr>
            <a:spLocks noGrp="1"/>
          </p:cNvSpPr>
          <p:nvPr>
            <p:ph type="title"/>
          </p:nvPr>
        </p:nvSpPr>
        <p:spPr>
          <a:xfrm>
            <a:off x="635000" y="323051"/>
            <a:ext cx="23114000" cy="2006601"/>
          </a:xfrm>
          <a:prstGeom prst="rect">
            <a:avLst/>
          </a:prstGeom>
        </p:spPr>
        <p:txBody>
          <a:bodyPr/>
          <a:lstStyle/>
          <a:p>
            <a:r>
              <a:t>Terminology Bindings</a:t>
            </a:r>
          </a:p>
        </p:txBody>
      </p:sp>
      <p:sp>
        <p:nvSpPr>
          <p:cNvPr id="291" name="Shape 291"/>
          <p:cNvSpPr/>
          <p:nvPr/>
        </p:nvSpPr>
        <p:spPr>
          <a:xfrm>
            <a:off x="1229675" y="12671294"/>
            <a:ext cx="17695550"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https://docs.oracle.com/en/industries/health/millennium-platform-apis/mfrap/api-patient.html</a:t>
            </a:r>
            <a:endParaRPr u="sng" dirty="0">
              <a:hlinkClick r:id="rId3"/>
            </a:endParaRPr>
          </a:p>
        </p:txBody>
      </p:sp>
      <p:pic>
        <p:nvPicPr>
          <p:cNvPr id="8" name="Picture 7">
            <a:extLst>
              <a:ext uri="{FF2B5EF4-FFF2-40B4-BE49-F238E27FC236}">
                <a16:creationId xmlns:a16="http://schemas.microsoft.com/office/drawing/2014/main" id="{D0CEE66B-E29E-DE49-ECBB-D3EED5AAC76D}"/>
              </a:ext>
            </a:extLst>
          </p:cNvPr>
          <p:cNvPicPr>
            <a:picLocks noChangeAspect="1"/>
          </p:cNvPicPr>
          <p:nvPr/>
        </p:nvPicPr>
        <p:blipFill>
          <a:blip r:embed="rId5"/>
          <a:stretch>
            <a:fillRect/>
          </a:stretch>
        </p:blipFill>
        <p:spPr>
          <a:xfrm>
            <a:off x="3156276" y="2614350"/>
            <a:ext cx="18071447" cy="3762900"/>
          </a:xfrm>
          <a:prstGeom prst="rect">
            <a:avLst/>
          </a:prstGeom>
        </p:spPr>
      </p:pic>
      <p:sp>
        <p:nvSpPr>
          <p:cNvPr id="6" name="Arrow: Right 5">
            <a:extLst>
              <a:ext uri="{FF2B5EF4-FFF2-40B4-BE49-F238E27FC236}">
                <a16:creationId xmlns:a16="http://schemas.microsoft.com/office/drawing/2014/main" id="{BFA6AD85-12FB-97A9-BB6A-3591A2B0A511}"/>
              </a:ext>
            </a:extLst>
          </p:cNvPr>
          <p:cNvSpPr/>
          <p:nvPr/>
        </p:nvSpPr>
        <p:spPr>
          <a:xfrm rot="10800000">
            <a:off x="10077450" y="4659651"/>
            <a:ext cx="2590800" cy="857250"/>
          </a:xfrm>
          <a:prstGeom prst="rightArrow">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Light"/>
            </a:endParaRPr>
          </a:p>
        </p:txBody>
      </p:sp>
      <p:pic>
        <p:nvPicPr>
          <p:cNvPr id="10" name="Picture 9">
            <a:extLst>
              <a:ext uri="{FF2B5EF4-FFF2-40B4-BE49-F238E27FC236}">
                <a16:creationId xmlns:a16="http://schemas.microsoft.com/office/drawing/2014/main" id="{E2AA25D5-5247-B394-190E-7C87576FD3AD}"/>
              </a:ext>
            </a:extLst>
          </p:cNvPr>
          <p:cNvPicPr>
            <a:picLocks noChangeAspect="1"/>
          </p:cNvPicPr>
          <p:nvPr/>
        </p:nvPicPr>
        <p:blipFill>
          <a:blip r:embed="rId7"/>
          <a:stretch>
            <a:fillRect/>
          </a:stretch>
        </p:blipFill>
        <p:spPr>
          <a:xfrm>
            <a:off x="3208670" y="2656126"/>
            <a:ext cx="17966657" cy="8011643"/>
          </a:xfrm>
          <a:prstGeom prst="rect">
            <a:avLst/>
          </a:prstGeom>
        </p:spPr>
      </p:pic>
    </p:spTree>
    <p:extLst>
      <p:ext uri="{BB962C8B-B14F-4D97-AF65-F5344CB8AC3E}">
        <p14:creationId xmlns:p14="http://schemas.microsoft.com/office/powerpoint/2010/main" val="36836755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Shape 294"/>
          <p:cNvSpPr>
            <a:spLocks noGrp="1"/>
          </p:cNvSpPr>
          <p:nvPr>
            <p:ph type="title"/>
          </p:nvPr>
        </p:nvSpPr>
        <p:spPr>
          <a:prstGeom prst="rect">
            <a:avLst/>
          </a:prstGeom>
        </p:spPr>
        <p:txBody>
          <a:bodyPr/>
          <a:lstStyle/>
          <a:p>
            <a:r>
              <a:t>Type/Binding Strength</a:t>
            </a:r>
          </a:p>
        </p:txBody>
      </p:sp>
      <p:sp>
        <p:nvSpPr>
          <p:cNvPr id="295" name="Shape 295"/>
          <p:cNvSpPr/>
          <p:nvPr/>
        </p:nvSpPr>
        <p:spPr>
          <a:xfrm>
            <a:off x="840228" y="12840250"/>
            <a:ext cx="8978419"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https://hl7.org/fhir/terminologies.html#strength</a:t>
            </a:r>
            <a:endParaRPr u="sng" dirty="0">
              <a:hlinkClick r:id="rId3"/>
            </a:endParaRPr>
          </a:p>
        </p:txBody>
      </p:sp>
      <p:pic>
        <p:nvPicPr>
          <p:cNvPr id="3" name="Picture 2">
            <a:extLst>
              <a:ext uri="{FF2B5EF4-FFF2-40B4-BE49-F238E27FC236}">
                <a16:creationId xmlns:a16="http://schemas.microsoft.com/office/drawing/2014/main" id="{17437AA3-EF88-4BC3-BD40-1B05FAEBC9D2}"/>
              </a:ext>
            </a:extLst>
          </p:cNvPr>
          <p:cNvPicPr>
            <a:picLocks noChangeAspect="1"/>
          </p:cNvPicPr>
          <p:nvPr/>
        </p:nvPicPr>
        <p:blipFill>
          <a:blip r:embed="rId5"/>
          <a:stretch>
            <a:fillRect/>
          </a:stretch>
        </p:blipFill>
        <p:spPr>
          <a:xfrm>
            <a:off x="642008" y="3238500"/>
            <a:ext cx="23013955" cy="4876800"/>
          </a:xfrm>
          <a:prstGeom prst="rect">
            <a:avLst/>
          </a:prstGeom>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hape 300"/>
          <p:cNvSpPr/>
          <p:nvPr/>
        </p:nvSpPr>
        <p:spPr>
          <a:xfrm>
            <a:off x="921026" y="12739543"/>
            <a:ext cx="7582204"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https://hl7.org/fhir/R4/condition.html#tx</a:t>
            </a:r>
            <a:endParaRPr u="sng" dirty="0">
              <a:hlinkClick r:id="rId3"/>
            </a:endParaRPr>
          </a:p>
        </p:txBody>
      </p:sp>
      <p:pic>
        <p:nvPicPr>
          <p:cNvPr id="3" name="Picture 2">
            <a:extLst>
              <a:ext uri="{FF2B5EF4-FFF2-40B4-BE49-F238E27FC236}">
                <a16:creationId xmlns:a16="http://schemas.microsoft.com/office/drawing/2014/main" id="{E349A9E6-C111-46CF-074F-09ED87BAF1B0}"/>
              </a:ext>
            </a:extLst>
          </p:cNvPr>
          <p:cNvPicPr>
            <a:picLocks noChangeAspect="1"/>
          </p:cNvPicPr>
          <p:nvPr/>
        </p:nvPicPr>
        <p:blipFill>
          <a:blip r:embed="rId5"/>
          <a:stretch>
            <a:fillRect/>
          </a:stretch>
        </p:blipFill>
        <p:spPr>
          <a:xfrm>
            <a:off x="921026" y="2941856"/>
            <a:ext cx="22541948" cy="5798895"/>
          </a:xfrm>
          <a:prstGeom prst="rect">
            <a:avLst/>
          </a:prstGeom>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305" name="Shape 305"/>
          <p:cNvSpPr/>
          <p:nvPr/>
        </p:nvSpPr>
        <p:spPr>
          <a:xfrm>
            <a:off x="9591129" y="6197599"/>
            <a:ext cx="545574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Narrative</a:t>
            </a:r>
          </a:p>
        </p:txBody>
      </p:sp>
      <p:sp>
        <p:nvSpPr>
          <p:cNvPr id="306" name="Shape 306"/>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hape 308"/>
          <p:cNvSpPr/>
          <p:nvPr/>
        </p:nvSpPr>
        <p:spPr>
          <a:xfrm>
            <a:off x="732120" y="12961927"/>
            <a:ext cx="8269892"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https://hl7.org/fhir/narrative.html#Narrative</a:t>
            </a:r>
            <a:endParaRPr u="sng" dirty="0">
              <a:hlinkClick r:id="rId3"/>
            </a:endParaRPr>
          </a:p>
        </p:txBody>
      </p:sp>
      <p:sp>
        <p:nvSpPr>
          <p:cNvPr id="309" name="Shape 309"/>
          <p:cNvSpPr/>
          <p:nvPr/>
        </p:nvSpPr>
        <p:spPr>
          <a:xfrm>
            <a:off x="546194" y="4140190"/>
            <a:ext cx="21972181" cy="543562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r>
              <a:t>“</a:t>
            </a:r>
            <a:r>
              <a:rPr i="1"/>
              <a:t>Any resource that is a domain resource (almost all types of resource) may include a </a:t>
            </a:r>
            <a:r>
              <a:rPr b="1" i="1">
                <a:latin typeface="+mj-lt"/>
                <a:ea typeface="+mj-ea"/>
                <a:cs typeface="+mj-cs"/>
                <a:sym typeface="Helvetica"/>
              </a:rPr>
              <a:t>human-readable</a:t>
            </a:r>
            <a:r>
              <a:rPr i="1"/>
              <a:t> narrative that contains a summary of the resource, and may be used to represent the content of the resource to a human. If narrative is present, it SHALL reflect all content needed for a human to </a:t>
            </a:r>
            <a:r>
              <a:rPr b="1" i="1">
                <a:latin typeface="+mj-lt"/>
                <a:ea typeface="+mj-ea"/>
                <a:cs typeface="+mj-cs"/>
                <a:sym typeface="Helvetica"/>
              </a:rPr>
              <a:t>understand the essential clinical and business information</a:t>
            </a:r>
            <a:r>
              <a:rPr i="1"/>
              <a:t> otherwise encoded within the resource. Resource definitions may define what content should be represented in the narrative to ensure clinical safety.</a:t>
            </a:r>
            <a:r>
              <a:t>”</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Shape 313"/>
          <p:cNvSpPr>
            <a:spLocks noGrp="1"/>
          </p:cNvSpPr>
          <p:nvPr>
            <p:ph type="body" idx="1"/>
          </p:nvPr>
        </p:nvSpPr>
        <p:spPr>
          <a:prstGeom prst="rect">
            <a:avLst/>
          </a:prstGeom>
        </p:spPr>
        <p:txBody>
          <a:bodyPr>
            <a:normAutofit fontScale="92500"/>
          </a:bodyPr>
          <a:lstStyle/>
          <a:p>
            <a:pPr marL="0" indent="0" defTabSz="808990">
              <a:spcBef>
                <a:spcPts val="5700"/>
              </a:spcBef>
              <a:buSzTx/>
              <a:buNone/>
              <a:defRPr sz="5096">
                <a:latin typeface="Courier"/>
                <a:ea typeface="Courier"/>
                <a:cs typeface="Courier"/>
                <a:sym typeface="Courier"/>
              </a:defRPr>
            </a:pPr>
            <a:r>
              <a:t>…”text”: {</a:t>
            </a:r>
          </a:p>
          <a:p>
            <a:pPr marL="0" indent="0" defTabSz="808990">
              <a:spcBef>
                <a:spcPts val="5700"/>
              </a:spcBef>
              <a:buSzTx/>
              <a:buNone/>
              <a:defRPr sz="5096">
                <a:latin typeface="Courier"/>
                <a:ea typeface="Courier"/>
                <a:cs typeface="Courier"/>
                <a:sym typeface="Courier"/>
              </a:defRPr>
            </a:pPr>
            <a:r>
              <a:t>    "status": "generated",</a:t>
            </a:r>
          </a:p>
          <a:p>
            <a:pPr marL="0" indent="0" defTabSz="808990">
              <a:spcBef>
                <a:spcPts val="5700"/>
              </a:spcBef>
              <a:buSzTx/>
              <a:buNone/>
              <a:defRPr sz="5096">
                <a:latin typeface="Courier"/>
                <a:ea typeface="Courier"/>
                <a:cs typeface="Courier"/>
                <a:sym typeface="Courier"/>
              </a:defRPr>
            </a:pPr>
            <a:r>
              <a:t>    "div": "&lt;div&gt;&lt;table&gt;&lt;tbody&gt;&lt;tr&gt;&lt;td&gt;Name&lt;/td&gt;&lt;td&gt;Peter James              &lt;b&gt;Chalmers&lt;/b&gt; (&amp;quot;Jim&amp;quot;)&lt;/td&gt;&lt;/tr&gt;&lt;tr&gt;&lt;td&gt;Address&lt;/td&gt;&lt;td&gt;534 Erewhon, Pleasantville, Vic, 3999&lt;/td&gt;&lt;/tr&gt;&lt;tr&gt;&lt;td&gt;Contacts&lt;/td&gt;&lt;td&gt;Home: unknown. Work: (03) 5555 6473&lt;/td&gt;&lt;/tr&gt;&lt;tr&gt;&lt;td&gt;Id&lt;/td&gt;&lt;td&gt;MRN: 12345 (Acme Healthcare)&lt;/td&gt;&lt;/tr&gt;&lt;/tbody&gt;&lt;/table&gt;&lt;/div&gt;"</a:t>
            </a:r>
          </a:p>
          <a:p>
            <a:pPr marL="0" indent="0" defTabSz="808990">
              <a:spcBef>
                <a:spcPts val="5700"/>
              </a:spcBef>
              <a:buSzTx/>
              <a:buNone/>
              <a:defRPr sz="5096">
                <a:latin typeface="Courier"/>
                <a:ea typeface="Courier"/>
                <a:cs typeface="Courier"/>
                <a:sym typeface="Courier"/>
              </a:defRPr>
            </a:pPr>
            <a:r>
              <a:t>  }…</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asted-image.png"/>
          <p:cNvPicPr>
            <a:picLocks noChangeAspect="1"/>
          </p:cNvPicPr>
          <p:nvPr/>
        </p:nvPicPr>
        <p:blipFill>
          <a:blip r:embed="rId2"/>
          <a:stretch>
            <a:fillRect/>
          </a:stretch>
        </p:blipFill>
        <p:spPr>
          <a:xfrm>
            <a:off x="4713544" y="4544223"/>
            <a:ext cx="14956912" cy="4627554"/>
          </a:xfrm>
          <a:prstGeom prst="rect">
            <a:avLst/>
          </a:prstGeom>
          <a:ln w="12700">
            <a:miter lim="400000"/>
          </a:ln>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317"/>
          <p:cNvSpPr>
            <a:spLocks noGrp="1"/>
          </p:cNvSpPr>
          <p:nvPr>
            <p:ph type="title"/>
          </p:nvPr>
        </p:nvSpPr>
        <p:spPr>
          <a:prstGeom prst="rect">
            <a:avLst/>
          </a:prstGeom>
        </p:spPr>
        <p:txBody>
          <a:bodyPr/>
          <a:lstStyle/>
          <a:p>
            <a:r>
              <a:t>Exercise 1</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hape 319"/>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Exercise 1</a:t>
            </a:r>
          </a:p>
        </p:txBody>
      </p:sp>
      <p:sp>
        <p:nvSpPr>
          <p:cNvPr id="320" name="Shape 320"/>
          <p:cNvSpPr>
            <a:spLocks noGrp="1"/>
          </p:cNvSpPr>
          <p:nvPr>
            <p:ph type="body" idx="4294967295"/>
          </p:nvPr>
        </p:nvSpPr>
        <p:spPr>
          <a:prstGeom prst="rect">
            <a:avLst/>
          </a:prstGeom>
        </p:spPr>
        <p:txBody>
          <a:bodyPr/>
          <a:lstStyle/>
          <a:p>
            <a:r>
              <a:rPr dirty="0"/>
              <a:t>Identify the FMM (maturity model) of the Following resources for </a:t>
            </a:r>
            <a:r>
              <a:rPr lang="en-US" dirty="0"/>
              <a:t>R4 (v4.0.1)</a:t>
            </a:r>
            <a:r>
              <a:rPr dirty="0"/>
              <a:t>:</a:t>
            </a:r>
          </a:p>
          <a:p>
            <a:pPr lvl="1"/>
            <a:r>
              <a:rPr dirty="0"/>
              <a:t>Patient</a:t>
            </a:r>
          </a:p>
          <a:p>
            <a:pPr lvl="1"/>
            <a:r>
              <a:rPr dirty="0"/>
              <a:t>Condition</a:t>
            </a:r>
          </a:p>
          <a:p>
            <a:pPr lvl="1"/>
            <a:r>
              <a:rPr dirty="0"/>
              <a:t>Observation</a:t>
            </a:r>
          </a:p>
          <a:p>
            <a:pPr lvl="1"/>
            <a:r>
              <a:rPr dirty="0"/>
              <a:t>Coverage</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Exercise 1: Answer</a:t>
            </a:r>
          </a:p>
        </p:txBody>
      </p:sp>
      <p:sp>
        <p:nvSpPr>
          <p:cNvPr id="323" name="Shape 323"/>
          <p:cNvSpPr>
            <a:spLocks noGrp="1"/>
          </p:cNvSpPr>
          <p:nvPr>
            <p:ph type="body" idx="4294967295"/>
          </p:nvPr>
        </p:nvSpPr>
        <p:spPr>
          <a:prstGeom prst="rect">
            <a:avLst/>
          </a:prstGeom>
        </p:spPr>
        <p:txBody>
          <a:bodyPr/>
          <a:lstStyle/>
          <a:p>
            <a:r>
              <a:rPr dirty="0"/>
              <a:t>Identify the FMM (maturity model) of the Following resources for </a:t>
            </a:r>
            <a:r>
              <a:rPr lang="en-US" dirty="0"/>
              <a:t>R4</a:t>
            </a:r>
            <a:r>
              <a:rPr dirty="0"/>
              <a:t>: </a:t>
            </a:r>
            <a:r>
              <a:rPr lang="en-US" u="sng" dirty="0">
                <a:hlinkClick r:id="rId2"/>
              </a:rPr>
              <a:t>https://hl7.org/fhir/R4/resourcelist.html</a:t>
            </a:r>
            <a:endParaRPr u="sng" dirty="0">
              <a:hlinkClick r:id="rId3"/>
            </a:endParaRPr>
          </a:p>
          <a:p>
            <a:pPr lvl="1"/>
            <a:r>
              <a:rPr dirty="0"/>
              <a:t>Patient: </a:t>
            </a:r>
            <a:r>
              <a:rPr lang="en-US" dirty="0"/>
              <a:t>N</a:t>
            </a:r>
            <a:endParaRPr dirty="0"/>
          </a:p>
          <a:p>
            <a:pPr lvl="1"/>
            <a:r>
              <a:rPr dirty="0"/>
              <a:t>Condition: </a:t>
            </a:r>
            <a:r>
              <a:rPr lang="en-US" dirty="0"/>
              <a:t>3</a:t>
            </a:r>
            <a:endParaRPr dirty="0"/>
          </a:p>
          <a:p>
            <a:pPr lvl="1"/>
            <a:r>
              <a:rPr dirty="0"/>
              <a:t>Observation: </a:t>
            </a:r>
            <a:r>
              <a:rPr lang="en-US" dirty="0"/>
              <a:t>N</a:t>
            </a:r>
            <a:endParaRPr dirty="0"/>
          </a:p>
          <a:p>
            <a:pPr lvl="1"/>
            <a:r>
              <a:rPr dirty="0"/>
              <a:t>Coverage: </a:t>
            </a:r>
            <a:r>
              <a:rPr lang="en-US" dirty="0"/>
              <a:t>2</a:t>
            </a:r>
            <a:endParaRPr dirty="0"/>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hape 325"/>
          <p:cNvSpPr>
            <a:spLocks noGrp="1"/>
          </p:cNvSpPr>
          <p:nvPr>
            <p:ph type="title"/>
          </p:nvPr>
        </p:nvSpPr>
        <p:spPr>
          <a:prstGeom prst="rect">
            <a:avLst/>
          </a:prstGeom>
        </p:spPr>
        <p:txBody>
          <a:bodyPr/>
          <a:lstStyle/>
          <a:p>
            <a:r>
              <a:t>Exercise 2</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Shape 327"/>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Exercise 2</a:t>
            </a:r>
          </a:p>
        </p:txBody>
      </p:sp>
      <p:sp>
        <p:nvSpPr>
          <p:cNvPr id="328" name="Shape 328"/>
          <p:cNvSpPr>
            <a:spLocks noGrp="1"/>
          </p:cNvSpPr>
          <p:nvPr>
            <p:ph type="body" idx="4294967295"/>
          </p:nvPr>
        </p:nvSpPr>
        <p:spPr>
          <a:prstGeom prst="rect">
            <a:avLst/>
          </a:prstGeom>
        </p:spPr>
        <p:txBody>
          <a:bodyPr/>
          <a:lstStyle/>
          <a:p>
            <a:r>
              <a:rPr dirty="0"/>
              <a:t>Find out what resources are available in Millennium’s HL7 FHIR </a:t>
            </a:r>
            <a:r>
              <a:rPr lang="en-US" dirty="0">
                <a:hlinkClick r:id="rId2"/>
              </a:rPr>
              <a:t>R4</a:t>
            </a:r>
            <a:r>
              <a:rPr lang="en-US" dirty="0"/>
              <a:t> </a:t>
            </a:r>
            <a:r>
              <a:rPr dirty="0"/>
              <a:t>implementation that are not in the </a:t>
            </a:r>
            <a:r>
              <a:rPr lang="en-US" dirty="0">
                <a:hlinkClick r:id="rId3"/>
              </a:rPr>
              <a:t>DSTU2</a:t>
            </a:r>
            <a:r>
              <a:rPr dirty="0"/>
              <a:t> implementation.</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hape 330"/>
          <p:cNvSpPr>
            <a:spLocks noGrp="1"/>
          </p:cNvSpPr>
          <p:nvPr>
            <p:ph type="title"/>
          </p:nvPr>
        </p:nvSpPr>
        <p:spPr>
          <a:prstGeom prst="rect">
            <a:avLst/>
          </a:prstGeom>
        </p:spPr>
        <p:txBody>
          <a:bodyPr/>
          <a:lstStyle>
            <a:lvl1pPr>
              <a:defRPr b="0">
                <a:solidFill>
                  <a:srgbClr val="000000"/>
                </a:solidFill>
                <a:latin typeface="+mn-lt"/>
                <a:ea typeface="+mn-ea"/>
                <a:cs typeface="+mn-cs"/>
                <a:sym typeface="Helvetica Light"/>
              </a:defRPr>
            </a:lvl1pPr>
          </a:lstStyle>
          <a:p>
            <a:r>
              <a:t>Exercise 2: Answer</a:t>
            </a:r>
          </a:p>
        </p:txBody>
      </p:sp>
      <p:pic>
        <p:nvPicPr>
          <p:cNvPr id="3" name="Picture 2">
            <a:extLst>
              <a:ext uri="{FF2B5EF4-FFF2-40B4-BE49-F238E27FC236}">
                <a16:creationId xmlns:a16="http://schemas.microsoft.com/office/drawing/2014/main" id="{8D90B10F-ED2B-32F7-CC6B-4BA6DAC67D8D}"/>
              </a:ext>
            </a:extLst>
          </p:cNvPr>
          <p:cNvPicPr>
            <a:picLocks noChangeAspect="1"/>
          </p:cNvPicPr>
          <p:nvPr/>
        </p:nvPicPr>
        <p:blipFill>
          <a:blip r:embed="rId2"/>
          <a:stretch>
            <a:fillRect/>
          </a:stretch>
        </p:blipFill>
        <p:spPr>
          <a:xfrm>
            <a:off x="7407897" y="3238500"/>
            <a:ext cx="9568205" cy="9851164"/>
          </a:xfrm>
          <a:prstGeom prst="rect">
            <a:avLst/>
          </a:prstGeom>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Shape 334"/>
          <p:cNvSpPr>
            <a:spLocks noGrp="1"/>
          </p:cNvSpPr>
          <p:nvPr>
            <p:ph type="title"/>
          </p:nvPr>
        </p:nvSpPr>
        <p:spPr>
          <a:prstGeom prst="rect">
            <a:avLst/>
          </a:prstGeom>
        </p:spPr>
        <p:txBody>
          <a:bodyPr/>
          <a:lstStyle/>
          <a:p>
            <a:r>
              <a:t>Exercise 3</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Shape 336"/>
          <p:cNvSpPr>
            <a:spLocks noGrp="1"/>
          </p:cNvSpPr>
          <p:nvPr>
            <p:ph type="title"/>
          </p:nvPr>
        </p:nvSpPr>
        <p:spPr>
          <a:prstGeom prst="rect">
            <a:avLst/>
          </a:prstGeom>
        </p:spPr>
        <p:txBody>
          <a:bodyPr/>
          <a:lstStyle/>
          <a:p>
            <a:r>
              <a:t>Exercise 3</a:t>
            </a:r>
          </a:p>
        </p:txBody>
      </p:sp>
      <p:sp>
        <p:nvSpPr>
          <p:cNvPr id="337" name="Shape 337"/>
          <p:cNvSpPr>
            <a:spLocks noGrp="1"/>
          </p:cNvSpPr>
          <p:nvPr>
            <p:ph type="body" idx="1"/>
          </p:nvPr>
        </p:nvSpPr>
        <p:spPr>
          <a:prstGeom prst="rect">
            <a:avLst/>
          </a:prstGeom>
        </p:spPr>
        <p:txBody>
          <a:bodyPr/>
          <a:lstStyle/>
          <a:p>
            <a:r>
              <a:rPr dirty="0"/>
              <a:t>What search parameters does the Millennium </a:t>
            </a:r>
            <a:r>
              <a:rPr lang="en-US" dirty="0"/>
              <a:t>R4</a:t>
            </a:r>
            <a:r>
              <a:rPr dirty="0"/>
              <a:t> implementation of Patient support? Are there any limitations or considerations?</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Shape 339"/>
          <p:cNvSpPr>
            <a:spLocks noGrp="1"/>
          </p:cNvSpPr>
          <p:nvPr>
            <p:ph type="title"/>
          </p:nvPr>
        </p:nvSpPr>
        <p:spPr>
          <a:prstGeom prst="rect">
            <a:avLst/>
          </a:prstGeom>
        </p:spPr>
        <p:txBody>
          <a:bodyPr/>
          <a:lstStyle/>
          <a:p>
            <a:r>
              <a:t>Exercise 3: Answer</a:t>
            </a:r>
          </a:p>
        </p:txBody>
      </p:sp>
      <p:sp>
        <p:nvSpPr>
          <p:cNvPr id="340" name="Shape 340"/>
          <p:cNvSpPr/>
          <p:nvPr/>
        </p:nvSpPr>
        <p:spPr>
          <a:xfrm>
            <a:off x="1790459" y="4113659"/>
            <a:ext cx="20334045" cy="5488682"/>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marL="610576" indent="-610576" algn="l">
              <a:buSzPct val="75000"/>
              <a:buChar char="•"/>
            </a:pPr>
            <a:r>
              <a:rPr lang="en-US" dirty="0"/>
              <a:t>Query by: _id</a:t>
            </a:r>
          </a:p>
          <a:p>
            <a:pPr marL="610576" indent="-610576" algn="l">
              <a:buSzPct val="75000"/>
              <a:buChar char="•"/>
            </a:pPr>
            <a:r>
              <a:rPr lang="en-US" dirty="0"/>
              <a:t>Query by: identifier</a:t>
            </a:r>
          </a:p>
          <a:p>
            <a:pPr marL="610576" indent="-610576" algn="l">
              <a:buSzPct val="75000"/>
              <a:buChar char="•"/>
            </a:pPr>
            <a:r>
              <a:rPr lang="en-US" dirty="0"/>
              <a:t>Query by a combination of: identifier, birthdate, name, given, family, address-</a:t>
            </a:r>
            <a:r>
              <a:rPr lang="en-US" dirty="0" err="1"/>
              <a:t>postalcode</a:t>
            </a:r>
            <a:r>
              <a:rPr lang="en-US" dirty="0"/>
              <a:t>, phone, or email</a:t>
            </a:r>
          </a:p>
          <a:p>
            <a:pPr marL="610576" indent="-610576" algn="l">
              <a:buSzPct val="75000"/>
              <a:buChar char="•"/>
            </a:pPr>
            <a:r>
              <a:rPr lang="en-US" dirty="0"/>
              <a:t>There are others (see next slide)</a:t>
            </a:r>
          </a:p>
          <a:p>
            <a:pPr marL="610576" indent="-610576" algn="l">
              <a:buSzPct val="75000"/>
              <a:buChar char="•"/>
            </a:pPr>
            <a:r>
              <a:rPr lang="en-US" u="sng" dirty="0">
                <a:hlinkClick r:id="rId3"/>
              </a:rPr>
              <a:t>https://docs.oracle.com/en/industries/health/millennium-platform-apis/mfrap/op-patient-get.html</a:t>
            </a:r>
            <a:endParaRPr u="sng" dirty="0">
              <a:hlinkClick r:id="rId4"/>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8401F8-E4D4-2729-9319-2AB9B99F8DF7}"/>
              </a:ext>
            </a:extLst>
          </p:cNvPr>
          <p:cNvPicPr>
            <a:picLocks noChangeAspect="1"/>
          </p:cNvPicPr>
          <p:nvPr/>
        </p:nvPicPr>
        <p:blipFill>
          <a:blip r:embed="rId2"/>
          <a:stretch>
            <a:fillRect/>
          </a:stretch>
        </p:blipFill>
        <p:spPr>
          <a:xfrm>
            <a:off x="3137224" y="2861705"/>
            <a:ext cx="18109552" cy="7992590"/>
          </a:xfrm>
          <a:prstGeom prst="rect">
            <a:avLst/>
          </a:prstGeom>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894B5E-CC4B-3108-1ED2-F5E9D6CC2DDE}"/>
              </a:ext>
            </a:extLst>
          </p:cNvPr>
          <p:cNvPicPr>
            <a:picLocks noChangeAspect="1"/>
          </p:cNvPicPr>
          <p:nvPr/>
        </p:nvPicPr>
        <p:blipFill>
          <a:blip r:embed="rId2"/>
          <a:stretch>
            <a:fillRect/>
          </a:stretch>
        </p:blipFill>
        <p:spPr>
          <a:xfrm>
            <a:off x="2637173" y="3378836"/>
            <a:ext cx="19109654" cy="6958327"/>
          </a:xfrm>
          <a:prstGeom prst="rect">
            <a:avLst/>
          </a:prstGeom>
        </p:spPr>
      </p:pic>
    </p:spTree>
    <p:extLst>
      <p:ext uri="{BB962C8B-B14F-4D97-AF65-F5344CB8AC3E}">
        <p14:creationId xmlns:p14="http://schemas.microsoft.com/office/powerpoint/2010/main" val="91215558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344" name="Shape 344"/>
          <p:cNvSpPr/>
          <p:nvPr/>
        </p:nvSpPr>
        <p:spPr>
          <a:xfrm>
            <a:off x="10755659" y="6197599"/>
            <a:ext cx="312668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Read</a:t>
            </a:r>
          </a:p>
        </p:txBody>
      </p:sp>
      <p:sp>
        <p:nvSpPr>
          <p:cNvPr id="345" name="Shape 345"/>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Shape 347"/>
          <p:cNvSpPr>
            <a:spLocks noGrp="1"/>
          </p:cNvSpPr>
          <p:nvPr>
            <p:ph type="title"/>
          </p:nvPr>
        </p:nvSpPr>
        <p:spPr>
          <a:prstGeom prst="rect">
            <a:avLst/>
          </a:prstGeom>
        </p:spPr>
        <p:txBody>
          <a:bodyPr/>
          <a:lstStyle/>
          <a:p>
            <a:r>
              <a:rPr dirty="0"/>
              <a:t>Read</a:t>
            </a:r>
          </a:p>
        </p:txBody>
      </p:sp>
      <p:sp>
        <p:nvSpPr>
          <p:cNvPr id="348" name="Shape 348"/>
          <p:cNvSpPr>
            <a:spLocks noGrp="1"/>
          </p:cNvSpPr>
          <p:nvPr>
            <p:ph type="body" idx="1"/>
          </p:nvPr>
        </p:nvSpPr>
        <p:spPr>
          <a:prstGeom prst="rect">
            <a:avLst/>
          </a:prstGeom>
        </p:spPr>
        <p:txBody>
          <a:bodyPr/>
          <a:lstStyle/>
          <a:p>
            <a:r>
              <a:rPr dirty="0"/>
              <a:t>“By ID”</a:t>
            </a:r>
          </a:p>
          <a:p>
            <a:r>
              <a:rPr lang="en-US" dirty="0"/>
              <a:t>GET </a:t>
            </a:r>
            <a:r>
              <a:rPr dirty="0"/>
              <a:t>[base]/[Resource]/[id]</a:t>
            </a:r>
          </a:p>
          <a:p>
            <a:r>
              <a:rPr lang="en-US" dirty="0"/>
              <a:t>GET </a:t>
            </a:r>
            <a:r>
              <a:rPr dirty="0"/>
              <a:t>[base]/Patient/123ABC</a:t>
            </a:r>
            <a:endParaRPr lang="en-US" dirty="0"/>
          </a:p>
          <a:p>
            <a:r>
              <a:rPr lang="en-US" dirty="0"/>
              <a:t>GET [base]/</a:t>
            </a:r>
            <a:r>
              <a:rPr lang="en-US" dirty="0" err="1"/>
              <a:t>Patient?_id</a:t>
            </a:r>
            <a:r>
              <a:rPr lang="en-US" dirty="0"/>
              <a:t>=123ABC</a:t>
            </a:r>
            <a:endParaRPr dirty="0"/>
          </a:p>
        </p:txBody>
      </p:sp>
      <p:sp>
        <p:nvSpPr>
          <p:cNvPr id="349" name="Shape 349"/>
          <p:cNvSpPr/>
          <p:nvPr/>
        </p:nvSpPr>
        <p:spPr>
          <a:xfrm>
            <a:off x="767354" y="12913255"/>
            <a:ext cx="6447278"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https://hl7.org/fhir/http.html#read</a:t>
            </a:r>
            <a:endParaRPr u="sng" dirty="0">
              <a:hlinkClick r:id="rId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hape 351"/>
          <p:cNvSpPr>
            <a:spLocks noGrp="1"/>
          </p:cNvSpPr>
          <p:nvPr>
            <p:ph type="title"/>
          </p:nvPr>
        </p:nvSpPr>
        <p:spPr>
          <a:prstGeom prst="rect">
            <a:avLst/>
          </a:prstGeom>
        </p:spPr>
        <p:txBody>
          <a:bodyPr/>
          <a:lstStyle/>
          <a:p>
            <a:r>
              <a:rPr dirty="0"/>
              <a:t>id vs identifier</a:t>
            </a:r>
          </a:p>
        </p:txBody>
      </p:sp>
      <p:sp>
        <p:nvSpPr>
          <p:cNvPr id="352" name="Shape 352"/>
          <p:cNvSpPr>
            <a:spLocks noGrp="1"/>
          </p:cNvSpPr>
          <p:nvPr>
            <p:ph type="body" idx="1"/>
          </p:nvPr>
        </p:nvSpPr>
        <p:spPr>
          <a:prstGeom prst="rect">
            <a:avLst/>
          </a:prstGeom>
        </p:spPr>
        <p:txBody>
          <a:bodyPr/>
          <a:lstStyle/>
          <a:p>
            <a:r>
              <a:rPr dirty="0"/>
              <a:t>id: logical identifier, must be unique within the FHIR server and resource</a:t>
            </a:r>
          </a:p>
          <a:p>
            <a:r>
              <a:rPr dirty="0"/>
              <a:t>identifier: business identifier or “alias”</a:t>
            </a:r>
          </a:p>
          <a:p>
            <a:pPr lvl="1"/>
            <a:r>
              <a:rPr lang="en-US" dirty="0"/>
              <a:t>FIN</a:t>
            </a:r>
          </a:p>
          <a:p>
            <a:pPr lvl="1"/>
            <a:r>
              <a:rPr lang="en-US" dirty="0"/>
              <a:t>CMRN</a:t>
            </a:r>
            <a:endParaRPr dirty="0"/>
          </a:p>
          <a:p>
            <a:pPr lvl="1"/>
            <a:r>
              <a:rPr dirty="0"/>
              <a:t>MRN</a:t>
            </a:r>
          </a:p>
          <a:p>
            <a:pPr lvl="1"/>
            <a:r>
              <a:rPr dirty="0"/>
              <a:t>Military ID</a:t>
            </a:r>
          </a:p>
        </p:txBody>
      </p:sp>
      <p:sp>
        <p:nvSpPr>
          <p:cNvPr id="353" name="Shape 353"/>
          <p:cNvSpPr/>
          <p:nvPr/>
        </p:nvSpPr>
        <p:spPr>
          <a:xfrm>
            <a:off x="802318" y="12913255"/>
            <a:ext cx="6864059"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https://hl7.org/fhir/resource.html#id</a:t>
            </a:r>
            <a:endParaRPr u="sng" dirty="0">
              <a:hlinkClick r:id="rId2"/>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5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52">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35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35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35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iterate>
                                    <p:tmAbs val="0"/>
                                  </p:iterate>
                                  <p:childTnLst>
                                    <p:set>
                                      <p:cBhvr>
                                        <p:cTn id="20" fill="hold"/>
                                        <p:tgtEl>
                                          <p:spTgt spid="35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 grpId="0" build="p" animBg="1" advAuto="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355" name="Shape 355"/>
          <p:cNvSpPr/>
          <p:nvPr/>
        </p:nvSpPr>
        <p:spPr>
          <a:xfrm>
            <a:off x="10207380" y="6197599"/>
            <a:ext cx="4223240"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Search</a:t>
            </a:r>
          </a:p>
        </p:txBody>
      </p:sp>
      <p:sp>
        <p:nvSpPr>
          <p:cNvPr id="356" name="Shape 356"/>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Shape 358"/>
          <p:cNvSpPr/>
          <p:nvPr/>
        </p:nvSpPr>
        <p:spPr>
          <a:xfrm>
            <a:off x="485614" y="12913255"/>
            <a:ext cx="8104784"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https://hl7.org/fhir/R4/patient.html#search</a:t>
            </a:r>
            <a:endParaRPr u="sng" dirty="0">
              <a:hlinkClick r:id="rId2"/>
            </a:endParaRPr>
          </a:p>
        </p:txBody>
      </p:sp>
      <p:pic>
        <p:nvPicPr>
          <p:cNvPr id="3" name="Picture 2">
            <a:extLst>
              <a:ext uri="{FF2B5EF4-FFF2-40B4-BE49-F238E27FC236}">
                <a16:creationId xmlns:a16="http://schemas.microsoft.com/office/drawing/2014/main" id="{4DBFE85A-476C-49EB-9CDC-3B07ABE0FCBD}"/>
              </a:ext>
            </a:extLst>
          </p:cNvPr>
          <p:cNvPicPr>
            <a:picLocks noChangeAspect="1"/>
          </p:cNvPicPr>
          <p:nvPr/>
        </p:nvPicPr>
        <p:blipFill>
          <a:blip r:embed="rId4"/>
          <a:stretch>
            <a:fillRect/>
          </a:stretch>
        </p:blipFill>
        <p:spPr>
          <a:xfrm>
            <a:off x="3886200" y="-6237"/>
            <a:ext cx="15632725" cy="12919492"/>
          </a:xfrm>
          <a:prstGeom prst="rect">
            <a:avLst/>
          </a:prstGeom>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p:nvPr/>
        </p:nvSpPr>
        <p:spPr>
          <a:xfrm>
            <a:off x="1107621" y="12805793"/>
            <a:ext cx="18373621"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https://docs.oracle.com/en/industries/health/millennium-platform-apis/mfrap/op-patient-get.html</a:t>
            </a:r>
            <a:endParaRPr u="sng" dirty="0">
              <a:hlinkClick r:id="rId2"/>
            </a:endParaRPr>
          </a:p>
        </p:txBody>
      </p:sp>
      <p:pic>
        <p:nvPicPr>
          <p:cNvPr id="2" name="Picture 1">
            <a:extLst>
              <a:ext uri="{FF2B5EF4-FFF2-40B4-BE49-F238E27FC236}">
                <a16:creationId xmlns:a16="http://schemas.microsoft.com/office/drawing/2014/main" id="{F466432B-796F-48DA-5DA9-2DA256529A30}"/>
              </a:ext>
            </a:extLst>
          </p:cNvPr>
          <p:cNvPicPr>
            <a:picLocks noChangeAspect="1"/>
          </p:cNvPicPr>
          <p:nvPr/>
        </p:nvPicPr>
        <p:blipFill>
          <a:blip r:embed="rId4"/>
          <a:stretch>
            <a:fillRect/>
          </a:stretch>
        </p:blipFill>
        <p:spPr>
          <a:xfrm>
            <a:off x="3137224" y="2861705"/>
            <a:ext cx="18109552" cy="7992590"/>
          </a:xfrm>
          <a:prstGeom prst="rect">
            <a:avLst/>
          </a:prstGeom>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Shape 364"/>
          <p:cNvSpPr/>
          <p:nvPr/>
        </p:nvSpPr>
        <p:spPr>
          <a:xfrm>
            <a:off x="685800" y="12746009"/>
            <a:ext cx="8426987"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https://hl7.org/fhir/search.html#Introduction</a:t>
            </a:r>
            <a:endParaRPr u="sng" dirty="0">
              <a:hlinkClick r:id="rId3"/>
            </a:endParaRPr>
          </a:p>
        </p:txBody>
      </p:sp>
      <p:sp>
        <p:nvSpPr>
          <p:cNvPr id="366" name="Shape 366"/>
          <p:cNvSpPr/>
          <p:nvPr/>
        </p:nvSpPr>
        <p:spPr>
          <a:xfrm>
            <a:off x="4212251" y="8546838"/>
            <a:ext cx="15959498" cy="872034"/>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r>
              <a:rPr dirty="0"/>
              <a:t>GET [base]/</a:t>
            </a:r>
            <a:r>
              <a:rPr dirty="0" err="1"/>
              <a:t>AllergyIntolerance?patient</a:t>
            </a:r>
            <a:r>
              <a:rPr dirty="0"/>
              <a:t>=123</a:t>
            </a:r>
            <a:r>
              <a:rPr lang="en-US" dirty="0"/>
              <a:t>&amp;_format=</a:t>
            </a:r>
            <a:r>
              <a:rPr lang="en-US" dirty="0" err="1"/>
              <a:t>json</a:t>
            </a:r>
            <a:endParaRPr dirty="0"/>
          </a:p>
        </p:txBody>
      </p:sp>
      <p:pic>
        <p:nvPicPr>
          <p:cNvPr id="3" name="Picture 2">
            <a:extLst>
              <a:ext uri="{FF2B5EF4-FFF2-40B4-BE49-F238E27FC236}">
                <a16:creationId xmlns:a16="http://schemas.microsoft.com/office/drawing/2014/main" id="{E16D29ED-0D25-4520-9EF8-0235E926C97A}"/>
              </a:ext>
            </a:extLst>
          </p:cNvPr>
          <p:cNvPicPr>
            <a:picLocks noChangeAspect="1"/>
          </p:cNvPicPr>
          <p:nvPr/>
        </p:nvPicPr>
        <p:blipFill>
          <a:blip r:embed="rId5"/>
          <a:stretch>
            <a:fillRect/>
          </a:stretch>
        </p:blipFill>
        <p:spPr>
          <a:xfrm>
            <a:off x="451835" y="2665307"/>
            <a:ext cx="23480330" cy="5210381"/>
          </a:xfrm>
          <a:prstGeom prst="rect">
            <a:avLst/>
          </a:prstGeom>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370" name="Shape 370"/>
          <p:cNvSpPr/>
          <p:nvPr/>
        </p:nvSpPr>
        <p:spPr>
          <a:xfrm>
            <a:off x="10208583" y="6197599"/>
            <a:ext cx="4220834"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Paging</a:t>
            </a:r>
          </a:p>
        </p:txBody>
      </p:sp>
      <p:sp>
        <p:nvSpPr>
          <p:cNvPr id="371" name="Shape 371"/>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Shape 373"/>
          <p:cNvSpPr/>
          <p:nvPr/>
        </p:nvSpPr>
        <p:spPr>
          <a:xfrm>
            <a:off x="744029" y="12937592"/>
            <a:ext cx="6883295"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https://hl7.org/fhir/http.html#paging</a:t>
            </a:r>
            <a:endParaRPr u="sng" dirty="0">
              <a:hlinkClick r:id="rId3"/>
            </a:endParaRPr>
          </a:p>
        </p:txBody>
      </p:sp>
      <p:sp>
        <p:nvSpPr>
          <p:cNvPr id="374" name="Shape 374"/>
          <p:cNvSpPr/>
          <p:nvPr/>
        </p:nvSpPr>
        <p:spPr>
          <a:xfrm>
            <a:off x="1578030" y="4498380"/>
            <a:ext cx="13347885" cy="471924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marL="610576" indent="-610576" algn="l">
              <a:buSzPct val="75000"/>
              <a:buChar char="•"/>
            </a:pPr>
            <a:r>
              <a:rPr b="1" dirty="0">
                <a:latin typeface="+mj-lt"/>
                <a:ea typeface="+mj-ea"/>
                <a:cs typeface="+mj-cs"/>
                <a:sym typeface="Helvetica"/>
              </a:rPr>
              <a:t>Self</a:t>
            </a:r>
            <a:r>
              <a:rPr dirty="0"/>
              <a:t>, First, </a:t>
            </a:r>
            <a:r>
              <a:rPr b="1" dirty="0">
                <a:latin typeface="+mj-lt"/>
              </a:rPr>
              <a:t>Previous</a:t>
            </a:r>
            <a:r>
              <a:rPr b="1" dirty="0">
                <a:latin typeface="+mj-lt"/>
                <a:ea typeface="+mj-ea"/>
                <a:cs typeface="+mj-cs"/>
                <a:sym typeface="Helvetica"/>
              </a:rPr>
              <a:t>, Next</a:t>
            </a:r>
            <a:r>
              <a:rPr dirty="0"/>
              <a:t>, Last</a:t>
            </a:r>
          </a:p>
          <a:p>
            <a:pPr marL="610576" indent="-610576" algn="l">
              <a:buSzPct val="75000"/>
              <a:buChar char="•"/>
            </a:pPr>
            <a:r>
              <a:rPr dirty="0"/>
              <a:t>Must use link as provided</a:t>
            </a:r>
          </a:p>
          <a:p>
            <a:pPr marL="1245576" lvl="1" indent="-610576" algn="l">
              <a:buSzPct val="75000"/>
              <a:buChar char="•"/>
            </a:pPr>
            <a:r>
              <a:rPr dirty="0"/>
              <a:t>Changing this has undefined consequences</a:t>
            </a:r>
          </a:p>
          <a:p>
            <a:pPr marL="610576" indent="-610576" algn="l">
              <a:buSzPct val="75000"/>
              <a:buChar char="•"/>
            </a:pPr>
            <a:r>
              <a:rPr dirty="0"/>
              <a:t>_count parameter</a:t>
            </a:r>
          </a:p>
          <a:p>
            <a:pPr marL="1245576" lvl="1" indent="-610576" algn="l">
              <a:buSzPct val="75000"/>
              <a:buChar char="•"/>
            </a:pPr>
            <a:r>
              <a:rPr dirty="0"/>
              <a:t>Less but not more</a:t>
            </a:r>
          </a:p>
          <a:p>
            <a:pPr marL="610576" indent="-610576" algn="l">
              <a:buSzPct val="75000"/>
              <a:buChar char="•"/>
            </a:pPr>
            <a:r>
              <a:rPr dirty="0"/>
              <a:t>For interoperability - handle paging</a:t>
            </a:r>
          </a:p>
        </p:txBody>
      </p:sp>
      <p:sp>
        <p:nvSpPr>
          <p:cNvPr id="375" name="Shape 375"/>
          <p:cNvSpPr>
            <a:spLocks noGrp="1"/>
          </p:cNvSpPr>
          <p:nvPr>
            <p:ph type="title"/>
          </p:nvPr>
        </p:nvSpPr>
        <p:spPr>
          <a:xfrm>
            <a:off x="1689100" y="952500"/>
            <a:ext cx="21005800" cy="2286000"/>
          </a:xfrm>
          <a:prstGeom prst="rect">
            <a:avLst/>
          </a:prstGeom>
        </p:spPr>
        <p:txBody>
          <a:bodyPr anchor="ctr"/>
          <a:lstStyle/>
          <a:p>
            <a:r>
              <a:t>Paging</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7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7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7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7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7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7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build="p" bldLvl="5"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 name="pasted-image.png"/>
          <p:cNvPicPr>
            <a:picLocks noChangeAspect="1"/>
          </p:cNvPicPr>
          <p:nvPr/>
        </p:nvPicPr>
        <p:blipFill>
          <a:blip r:embed="rId3"/>
          <a:stretch>
            <a:fillRect/>
          </a:stretch>
        </p:blipFill>
        <p:spPr>
          <a:xfrm>
            <a:off x="2273300" y="2616200"/>
            <a:ext cx="19837400" cy="8483600"/>
          </a:xfrm>
          <a:prstGeom prst="rect">
            <a:avLst/>
          </a:prstGeom>
          <a:ln w="12700">
            <a:miter lim="400000"/>
          </a:ln>
        </p:spPr>
      </p:pic>
      <p:sp>
        <p:nvSpPr>
          <p:cNvPr id="380" name="Shape 380"/>
          <p:cNvSpPr/>
          <p:nvPr/>
        </p:nvSpPr>
        <p:spPr>
          <a:xfrm>
            <a:off x="781772" y="4865544"/>
            <a:ext cx="3219109" cy="1270001"/>
          </a:xfrm>
          <a:prstGeom prst="rightArrow">
            <a:avLst>
              <a:gd name="adj1" fmla="val 32000"/>
              <a:gd name="adj2" fmla="val 64000"/>
            </a:avLst>
          </a:prstGeom>
          <a:blipFill>
            <a:blip r:embed="rId4"/>
          </a:blipFill>
          <a:ln w="12700">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
        <p:nvSpPr>
          <p:cNvPr id="381" name="Shape 381"/>
          <p:cNvSpPr/>
          <p:nvPr/>
        </p:nvSpPr>
        <p:spPr>
          <a:xfrm>
            <a:off x="568077" y="9080879"/>
            <a:ext cx="3219109" cy="1270001"/>
          </a:xfrm>
          <a:prstGeom prst="rightArrow">
            <a:avLst>
              <a:gd name="adj1" fmla="val 32000"/>
              <a:gd name="adj2" fmla="val 64000"/>
            </a:avLst>
          </a:prstGeom>
          <a:blipFill>
            <a:blip r:embed="rId4"/>
          </a:blipFill>
          <a:ln w="12700">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iterate>
                                    <p:tmAbs val="0"/>
                                  </p:iterate>
                                  <p:childTnLst>
                                    <p:set>
                                      <p:cBhvr>
                                        <p:cTn id="10" fill="hold">
                                          <p:stCondLst>
                                            <p:cond delay="0"/>
                                          </p:stCondLst>
                                        </p:cTn>
                                        <p:tgtEl>
                                          <p:spTgt spid="38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iterate>
                                    <p:tmAbs val="0"/>
                                  </p:iterate>
                                  <p:childTnLst>
                                    <p:set>
                                      <p:cBhvr>
                                        <p:cTn id="18" fill="hold">
                                          <p:stCondLst>
                                            <p:cond delay="0"/>
                                          </p:stCondLst>
                                        </p:cTn>
                                        <p:tgtEl>
                                          <p:spTgt spid="3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 grpId="0" animBg="1" advAuto="0"/>
      <p:bldP spid="380" grpId="1" animBg="1" advAuto="0"/>
      <p:bldP spid="381" grpId="0" animBg="1" advAuto="0"/>
      <p:bldP spid="381" grpId="1"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385" name="Shape 385"/>
          <p:cNvSpPr/>
          <p:nvPr/>
        </p:nvSpPr>
        <p:spPr>
          <a:xfrm>
            <a:off x="10390240" y="6197599"/>
            <a:ext cx="3857520"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Writes</a:t>
            </a:r>
          </a:p>
        </p:txBody>
      </p:sp>
      <p:sp>
        <p:nvSpPr>
          <p:cNvPr id="386" name="Shape 386"/>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Shape 388"/>
          <p:cNvSpPr>
            <a:spLocks noGrp="1"/>
          </p:cNvSpPr>
          <p:nvPr>
            <p:ph type="title"/>
          </p:nvPr>
        </p:nvSpPr>
        <p:spPr>
          <a:prstGeom prst="rect">
            <a:avLst/>
          </a:prstGeom>
        </p:spPr>
        <p:txBody>
          <a:bodyPr/>
          <a:lstStyle/>
          <a:p>
            <a:r>
              <a:t>Create</a:t>
            </a:r>
          </a:p>
        </p:txBody>
      </p:sp>
      <p:sp>
        <p:nvSpPr>
          <p:cNvPr id="389" name="Shape 389"/>
          <p:cNvSpPr>
            <a:spLocks noGrp="1"/>
          </p:cNvSpPr>
          <p:nvPr>
            <p:ph type="body" idx="1"/>
          </p:nvPr>
        </p:nvSpPr>
        <p:spPr>
          <a:prstGeom prst="rect">
            <a:avLst/>
          </a:prstGeom>
        </p:spPr>
        <p:txBody>
          <a:bodyPr/>
          <a:lstStyle/>
          <a:p>
            <a:r>
              <a:rPr dirty="0"/>
              <a:t>POST [base]/[Resource]</a:t>
            </a:r>
          </a:p>
          <a:p>
            <a:r>
              <a:rPr dirty="0"/>
              <a:t>POST [base]/</a:t>
            </a:r>
            <a:r>
              <a:rPr dirty="0" err="1"/>
              <a:t>AllergyIntolerance</a:t>
            </a:r>
            <a:endParaRPr dirty="0"/>
          </a:p>
          <a:p>
            <a:r>
              <a:rPr dirty="0"/>
              <a:t>Body (content-type) must match supported FHIR format</a:t>
            </a:r>
          </a:p>
        </p:txBody>
      </p:sp>
      <p:sp>
        <p:nvSpPr>
          <p:cNvPr id="390" name="Shape 390"/>
          <p:cNvSpPr/>
          <p:nvPr/>
        </p:nvSpPr>
        <p:spPr>
          <a:xfrm>
            <a:off x="835180" y="12840250"/>
            <a:ext cx="6798335"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https://hl7.org/fhir/http.html#create</a:t>
            </a:r>
            <a:endParaRPr u="sng" dirty="0">
              <a:hlinkClick r:id="rId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p:cNvSpPr>
          <p:nvPr>
            <p:ph type="title"/>
          </p:nvPr>
        </p:nvSpPr>
        <p:spPr>
          <a:prstGeom prst="rect">
            <a:avLst/>
          </a:prstGeom>
        </p:spPr>
        <p:txBody>
          <a:bodyPr/>
          <a:lstStyle/>
          <a:p>
            <a:r>
              <a:t>Update</a:t>
            </a:r>
          </a:p>
        </p:txBody>
      </p:sp>
      <p:sp>
        <p:nvSpPr>
          <p:cNvPr id="393" name="Shape 393"/>
          <p:cNvSpPr>
            <a:spLocks noGrp="1"/>
          </p:cNvSpPr>
          <p:nvPr>
            <p:ph type="body" idx="1"/>
          </p:nvPr>
        </p:nvSpPr>
        <p:spPr>
          <a:prstGeom prst="rect">
            <a:avLst/>
          </a:prstGeom>
        </p:spPr>
        <p:txBody>
          <a:bodyPr/>
          <a:lstStyle/>
          <a:p>
            <a:r>
              <a:rPr dirty="0"/>
              <a:t>PUT [base]/[Resource]/[id]</a:t>
            </a:r>
          </a:p>
          <a:p>
            <a:r>
              <a:rPr dirty="0"/>
              <a:t>PUT [base]/</a:t>
            </a:r>
            <a:r>
              <a:rPr dirty="0" err="1"/>
              <a:t>AllergyIntolerance</a:t>
            </a:r>
            <a:r>
              <a:rPr dirty="0"/>
              <a:t>/123</a:t>
            </a:r>
          </a:p>
          <a:p>
            <a:r>
              <a:rPr dirty="0"/>
              <a:t>Body (content-type) must match supported FHIR format</a:t>
            </a:r>
          </a:p>
        </p:txBody>
      </p:sp>
      <p:sp>
        <p:nvSpPr>
          <p:cNvPr id="394" name="Shape 394"/>
          <p:cNvSpPr/>
          <p:nvPr/>
        </p:nvSpPr>
        <p:spPr>
          <a:xfrm>
            <a:off x="874011" y="12913255"/>
            <a:ext cx="6915355"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https://hl7.org/fhir/http.html#update</a:t>
            </a:r>
            <a:endParaRPr u="sng" dirty="0">
              <a:hlinkClick r:id="rId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p:cNvSpPr>
          <p:nvPr>
            <p:ph type="title"/>
          </p:nvPr>
        </p:nvSpPr>
        <p:spPr>
          <a:prstGeom prst="rect">
            <a:avLst/>
          </a:prstGeom>
        </p:spPr>
        <p:txBody>
          <a:bodyPr/>
          <a:lstStyle/>
          <a:p>
            <a:r>
              <a:rPr lang="en-US" dirty="0"/>
              <a:t>Patch</a:t>
            </a:r>
            <a:endParaRPr dirty="0"/>
          </a:p>
        </p:txBody>
      </p:sp>
      <p:sp>
        <p:nvSpPr>
          <p:cNvPr id="393" name="Shape 393"/>
          <p:cNvSpPr>
            <a:spLocks noGrp="1"/>
          </p:cNvSpPr>
          <p:nvPr>
            <p:ph type="body" idx="1"/>
          </p:nvPr>
        </p:nvSpPr>
        <p:spPr>
          <a:prstGeom prst="rect">
            <a:avLst/>
          </a:prstGeom>
        </p:spPr>
        <p:txBody>
          <a:bodyPr/>
          <a:lstStyle/>
          <a:p>
            <a:r>
              <a:rPr lang="en-US" dirty="0"/>
              <a:t>PATCH</a:t>
            </a:r>
            <a:r>
              <a:rPr dirty="0"/>
              <a:t> [base]/[Resource]/[id]</a:t>
            </a:r>
          </a:p>
          <a:p>
            <a:r>
              <a:rPr lang="en-US" dirty="0"/>
              <a:t>PATCH</a:t>
            </a:r>
            <a:r>
              <a:rPr dirty="0"/>
              <a:t> [base]/</a:t>
            </a:r>
            <a:r>
              <a:rPr dirty="0" err="1"/>
              <a:t>AllergyIntolerance</a:t>
            </a:r>
            <a:r>
              <a:rPr dirty="0"/>
              <a:t>/123</a:t>
            </a:r>
          </a:p>
          <a:p>
            <a:r>
              <a:rPr dirty="0"/>
              <a:t>Body (content-type) must match supported FHIR format</a:t>
            </a:r>
          </a:p>
        </p:txBody>
      </p:sp>
      <p:sp>
        <p:nvSpPr>
          <p:cNvPr id="394" name="Shape 394"/>
          <p:cNvSpPr/>
          <p:nvPr/>
        </p:nvSpPr>
        <p:spPr>
          <a:xfrm>
            <a:off x="874011" y="12913255"/>
            <a:ext cx="6915355"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https://hl7.org/fhir/http.html#patch</a:t>
            </a:r>
            <a:endParaRPr u="sng" dirty="0">
              <a:hlinkClick r:id="rId2"/>
            </a:endParaRPr>
          </a:p>
        </p:txBody>
      </p:sp>
    </p:spTree>
    <p:extLst>
      <p:ext uri="{BB962C8B-B14F-4D97-AF65-F5344CB8AC3E}">
        <p14:creationId xmlns:p14="http://schemas.microsoft.com/office/powerpoint/2010/main" val="3393738076"/>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Shape 396"/>
          <p:cNvSpPr>
            <a:spLocks noGrp="1"/>
          </p:cNvSpPr>
          <p:nvPr>
            <p:ph type="title"/>
          </p:nvPr>
        </p:nvSpPr>
        <p:spPr>
          <a:prstGeom prst="rect">
            <a:avLst/>
          </a:prstGeom>
        </p:spPr>
        <p:txBody>
          <a:bodyPr/>
          <a:lstStyle/>
          <a:p>
            <a:r>
              <a:t>Conditional Update</a:t>
            </a:r>
          </a:p>
        </p:txBody>
      </p:sp>
      <p:sp>
        <p:nvSpPr>
          <p:cNvPr id="397" name="Shape 397"/>
          <p:cNvSpPr>
            <a:spLocks noGrp="1"/>
          </p:cNvSpPr>
          <p:nvPr>
            <p:ph type="body" idx="1"/>
          </p:nvPr>
        </p:nvSpPr>
        <p:spPr>
          <a:prstGeom prst="rect">
            <a:avLst/>
          </a:prstGeom>
        </p:spPr>
        <p:txBody>
          <a:bodyPr/>
          <a:lstStyle/>
          <a:p>
            <a:r>
              <a:rPr dirty="0"/>
              <a:t>Optimistic Locking via “If-Match”</a:t>
            </a:r>
          </a:p>
          <a:p>
            <a:r>
              <a:rPr dirty="0"/>
              <a:t>Example: Version in database: 2a</a:t>
            </a:r>
          </a:p>
          <a:p>
            <a:pPr lvl="2"/>
            <a:r>
              <a:rPr dirty="0"/>
              <a:t>Version in “If-Match”: 1a - failure</a:t>
            </a:r>
          </a:p>
          <a:p>
            <a:pPr lvl="2"/>
            <a:r>
              <a:rPr dirty="0"/>
              <a:t>Version in “If-Match”: 2a - success</a:t>
            </a:r>
          </a:p>
        </p:txBody>
      </p:sp>
      <p:sp>
        <p:nvSpPr>
          <p:cNvPr id="398" name="Shape 398"/>
          <p:cNvSpPr/>
          <p:nvPr/>
        </p:nvSpPr>
        <p:spPr>
          <a:xfrm>
            <a:off x="742552" y="12840250"/>
            <a:ext cx="771365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https://hl7.org/fhir/http.html#transaction</a:t>
            </a:r>
            <a:endParaRPr u="sng" dirty="0">
              <a:hlinkClick r:id="rId2"/>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9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9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9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39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3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 grpId="0" build="p" animBg="1" advAuto="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Shape 400"/>
          <p:cNvSpPr>
            <a:spLocks noGrp="1"/>
          </p:cNvSpPr>
          <p:nvPr>
            <p:ph type="title"/>
          </p:nvPr>
        </p:nvSpPr>
        <p:spPr>
          <a:prstGeom prst="rect">
            <a:avLst/>
          </a:prstGeom>
        </p:spPr>
        <p:txBody>
          <a:bodyPr/>
          <a:lstStyle/>
          <a:p>
            <a:r>
              <a:t>Exercise 4</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Shape 402"/>
          <p:cNvSpPr>
            <a:spLocks noGrp="1"/>
          </p:cNvSpPr>
          <p:nvPr>
            <p:ph type="title"/>
          </p:nvPr>
        </p:nvSpPr>
        <p:spPr>
          <a:prstGeom prst="rect">
            <a:avLst/>
          </a:prstGeom>
        </p:spPr>
        <p:txBody>
          <a:bodyPr/>
          <a:lstStyle/>
          <a:p>
            <a:r>
              <a:t>Exercise 4</a:t>
            </a:r>
          </a:p>
        </p:txBody>
      </p:sp>
      <p:sp>
        <p:nvSpPr>
          <p:cNvPr id="403" name="Shape 403"/>
          <p:cNvSpPr>
            <a:spLocks noGrp="1"/>
          </p:cNvSpPr>
          <p:nvPr>
            <p:ph type="body" idx="1"/>
          </p:nvPr>
        </p:nvSpPr>
        <p:spPr>
          <a:prstGeom prst="rect">
            <a:avLst/>
          </a:prstGeom>
        </p:spPr>
        <p:txBody>
          <a:bodyPr/>
          <a:lstStyle/>
          <a:p>
            <a:r>
              <a:rPr dirty="0"/>
              <a:t>Find out the </a:t>
            </a:r>
            <a:r>
              <a:rPr lang="en-US" dirty="0"/>
              <a:t>full name for Nancy Smart (id = </a:t>
            </a:r>
            <a:r>
              <a:rPr lang="en-US" dirty="0">
                <a:effectLst/>
                <a:ea typeface="Arial" panose="020B0604020202020204" pitchFamily="34" charset="0"/>
              </a:rPr>
              <a:t>12724066</a:t>
            </a:r>
            <a:r>
              <a:rPr lang="en-US" dirty="0"/>
              <a:t>)</a:t>
            </a:r>
            <a:endParaRPr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Shape 405"/>
          <p:cNvSpPr>
            <a:spLocks noGrp="1"/>
          </p:cNvSpPr>
          <p:nvPr>
            <p:ph type="title"/>
          </p:nvPr>
        </p:nvSpPr>
        <p:spPr>
          <a:prstGeom prst="rect">
            <a:avLst/>
          </a:prstGeom>
        </p:spPr>
        <p:txBody>
          <a:bodyPr/>
          <a:lstStyle/>
          <a:p>
            <a:r>
              <a:rPr dirty="0"/>
              <a:t>Exercise 4: Answer</a:t>
            </a:r>
          </a:p>
        </p:txBody>
      </p:sp>
      <p:sp>
        <p:nvSpPr>
          <p:cNvPr id="406" name="Shape 406"/>
          <p:cNvSpPr>
            <a:spLocks noGrp="1"/>
          </p:cNvSpPr>
          <p:nvPr>
            <p:ph type="body" sz="half" idx="1"/>
          </p:nvPr>
        </p:nvSpPr>
        <p:spPr>
          <a:xfrm>
            <a:off x="1689100" y="3238500"/>
            <a:ext cx="12493797" cy="9207500"/>
          </a:xfrm>
          <a:prstGeom prst="rect">
            <a:avLst/>
          </a:prstGeom>
        </p:spPr>
        <p:txBody>
          <a:bodyPr/>
          <a:lstStyle/>
          <a:p>
            <a:r>
              <a:rPr lang="en-US" dirty="0"/>
              <a:t>Answer: SMARTS SR., NANCYS II</a:t>
            </a:r>
          </a:p>
          <a:p>
            <a:r>
              <a:rPr lang="en-US" dirty="0"/>
              <a:t>GET </a:t>
            </a:r>
            <a:r>
              <a:rPr lang="en-US" u="sng" dirty="0">
                <a:hlinkClick r:id="rId3"/>
              </a:rPr>
              <a:t>https://fhir-open.cerner.com/r4/ec2458f2-1e24-41c8-b71b-0e701af7583d/Patient/12724066?_format=json</a:t>
            </a:r>
            <a:endParaRPr lang="en-US" u="sng" dirty="0">
              <a:hlinkClick r:id="rId4"/>
            </a:endParaRPr>
          </a:p>
          <a:p>
            <a:r>
              <a:rPr lang="en-US" u="sng" dirty="0">
                <a:hlinkClick r:id="rId5"/>
              </a:rPr>
              <a:t>https://hl7.org/fhir/datatypes.html#HumanName</a:t>
            </a:r>
            <a:r>
              <a:rPr dirty="0"/>
              <a:t> (middle is subsequent given name)</a:t>
            </a:r>
          </a:p>
        </p:txBody>
      </p:sp>
      <p:pic>
        <p:nvPicPr>
          <p:cNvPr id="3" name="Picture 2">
            <a:extLst>
              <a:ext uri="{FF2B5EF4-FFF2-40B4-BE49-F238E27FC236}">
                <a16:creationId xmlns:a16="http://schemas.microsoft.com/office/drawing/2014/main" id="{7F30950F-6337-DB43-DD3D-10CFE022D230}"/>
              </a:ext>
            </a:extLst>
          </p:cNvPr>
          <p:cNvPicPr>
            <a:picLocks noChangeAspect="1"/>
          </p:cNvPicPr>
          <p:nvPr/>
        </p:nvPicPr>
        <p:blipFill>
          <a:blip r:embed="rId6"/>
          <a:stretch>
            <a:fillRect/>
          </a:stretch>
        </p:blipFill>
        <p:spPr>
          <a:xfrm>
            <a:off x="14182897" y="3238500"/>
            <a:ext cx="9571625" cy="8191500"/>
          </a:xfrm>
          <a:prstGeom prst="rect">
            <a:avLst/>
          </a:prstGeom>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Shape 405"/>
          <p:cNvSpPr>
            <a:spLocks noGrp="1"/>
          </p:cNvSpPr>
          <p:nvPr>
            <p:ph type="title"/>
          </p:nvPr>
        </p:nvSpPr>
        <p:spPr>
          <a:prstGeom prst="rect">
            <a:avLst/>
          </a:prstGeom>
        </p:spPr>
        <p:txBody>
          <a:bodyPr/>
          <a:lstStyle/>
          <a:p>
            <a:r>
              <a:rPr b="0" dirty="0">
                <a:ln w="0"/>
                <a:solidFill>
                  <a:schemeClr val="tx1"/>
                </a:solidFill>
                <a:effectLst>
                  <a:outerShdw blurRad="38100" dist="19050" dir="2700000" algn="tl" rotWithShape="0">
                    <a:schemeClr val="dk1">
                      <a:alpha val="40000"/>
                    </a:schemeClr>
                  </a:outerShdw>
                </a:effectLst>
                <a:latin typeface="+mn-lt"/>
              </a:rPr>
              <a:t>Exercise 4: Answer</a:t>
            </a:r>
          </a:p>
        </p:txBody>
      </p:sp>
      <p:sp>
        <p:nvSpPr>
          <p:cNvPr id="406" name="Shape 406"/>
          <p:cNvSpPr>
            <a:spLocks noGrp="1"/>
          </p:cNvSpPr>
          <p:nvPr>
            <p:ph type="body" sz="half" idx="1"/>
          </p:nvPr>
        </p:nvSpPr>
        <p:spPr>
          <a:xfrm>
            <a:off x="1689100" y="3238500"/>
            <a:ext cx="12493797" cy="9207500"/>
          </a:xfrm>
          <a:prstGeom prst="rect">
            <a:avLst/>
          </a:prstGeom>
        </p:spPr>
        <p:txBody>
          <a:bodyPr/>
          <a:lstStyle/>
          <a:p>
            <a:r>
              <a:rPr lang="en-US" dirty="0"/>
              <a:t>Middle Name Example</a:t>
            </a:r>
            <a:endParaRPr dirty="0"/>
          </a:p>
          <a:p>
            <a:r>
              <a:rPr lang="en-US" u="sng" dirty="0">
                <a:hlinkClick r:id="rId3"/>
              </a:rPr>
              <a:t>https://hl7.org/fhir/datatypes.html#HumanName</a:t>
            </a:r>
            <a:r>
              <a:rPr dirty="0"/>
              <a:t> (middle is subsequent given name)</a:t>
            </a:r>
          </a:p>
        </p:txBody>
      </p:sp>
      <p:pic>
        <p:nvPicPr>
          <p:cNvPr id="3" name="Picture 2">
            <a:extLst>
              <a:ext uri="{FF2B5EF4-FFF2-40B4-BE49-F238E27FC236}">
                <a16:creationId xmlns:a16="http://schemas.microsoft.com/office/drawing/2014/main" id="{CB9EAE29-4A19-4DCE-90DE-B97AF082296C}"/>
              </a:ext>
            </a:extLst>
          </p:cNvPr>
          <p:cNvPicPr>
            <a:picLocks noChangeAspect="1"/>
          </p:cNvPicPr>
          <p:nvPr/>
        </p:nvPicPr>
        <p:blipFill>
          <a:blip r:embed="rId4"/>
          <a:stretch>
            <a:fillRect/>
          </a:stretch>
        </p:blipFill>
        <p:spPr>
          <a:xfrm>
            <a:off x="14782799" y="3900260"/>
            <a:ext cx="9381583" cy="7415439"/>
          </a:xfrm>
          <a:prstGeom prst="rect">
            <a:avLst/>
          </a:prstGeom>
        </p:spPr>
      </p:pic>
    </p:spTree>
    <p:extLst>
      <p:ext uri="{BB962C8B-B14F-4D97-AF65-F5344CB8AC3E}">
        <p14:creationId xmlns:p14="http://schemas.microsoft.com/office/powerpoint/2010/main" val="2225904522"/>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411"/>
          <p:cNvSpPr>
            <a:spLocks noGrp="1"/>
          </p:cNvSpPr>
          <p:nvPr>
            <p:ph type="title"/>
          </p:nvPr>
        </p:nvSpPr>
        <p:spPr>
          <a:prstGeom prst="rect">
            <a:avLst/>
          </a:prstGeom>
        </p:spPr>
        <p:txBody>
          <a:bodyPr/>
          <a:lstStyle/>
          <a:p>
            <a:r>
              <a:t>Exercise 5</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Shape 413"/>
          <p:cNvSpPr>
            <a:spLocks noGrp="1"/>
          </p:cNvSpPr>
          <p:nvPr>
            <p:ph type="title"/>
          </p:nvPr>
        </p:nvSpPr>
        <p:spPr>
          <a:prstGeom prst="rect">
            <a:avLst/>
          </a:prstGeom>
        </p:spPr>
        <p:txBody>
          <a:bodyPr/>
          <a:lstStyle/>
          <a:p>
            <a:r>
              <a:t>Exercise 5</a:t>
            </a:r>
          </a:p>
        </p:txBody>
      </p:sp>
      <p:sp>
        <p:nvSpPr>
          <p:cNvPr id="414" name="Shape 414"/>
          <p:cNvSpPr>
            <a:spLocks noGrp="1"/>
          </p:cNvSpPr>
          <p:nvPr>
            <p:ph type="body" idx="1"/>
          </p:nvPr>
        </p:nvSpPr>
        <p:spPr>
          <a:prstGeom prst="rect">
            <a:avLst/>
          </a:prstGeom>
        </p:spPr>
        <p:txBody>
          <a:bodyPr/>
          <a:lstStyle/>
          <a:p>
            <a:r>
              <a:rPr dirty="0"/>
              <a:t>How many </a:t>
            </a:r>
            <a:r>
              <a:rPr b="1" dirty="0">
                <a:latin typeface="+mj-lt"/>
                <a:ea typeface="+mj-ea"/>
                <a:cs typeface="+mj-cs"/>
                <a:sym typeface="Helvetica"/>
              </a:rPr>
              <a:t>current</a:t>
            </a:r>
            <a:r>
              <a:rPr dirty="0"/>
              <a:t> allergies or intolerances does </a:t>
            </a:r>
            <a:r>
              <a:rPr lang="en-US" dirty="0"/>
              <a:t>Sandy Smart (id = </a:t>
            </a:r>
            <a:r>
              <a:rPr lang="en-US" b="0" i="0" dirty="0">
                <a:solidFill>
                  <a:srgbClr val="212121"/>
                </a:solidFill>
                <a:effectLst/>
              </a:rPr>
              <a:t>12742399</a:t>
            </a:r>
            <a:r>
              <a:rPr lang="en-US" dirty="0"/>
              <a:t>)</a:t>
            </a:r>
            <a:r>
              <a:rPr dirty="0"/>
              <a:t> have?</a:t>
            </a:r>
          </a:p>
          <a:p>
            <a:pPr lvl="1"/>
            <a:r>
              <a:rPr dirty="0"/>
              <a:t>Current: actual or possible existing allergies or intolerances </a:t>
            </a:r>
          </a:p>
          <a:p>
            <a:pPr lvl="1"/>
            <a:r>
              <a:rPr dirty="0"/>
              <a:t>Hint: What indicates “current” for this FHIR resource?</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Shape 416"/>
          <p:cNvSpPr>
            <a:spLocks noGrp="1"/>
          </p:cNvSpPr>
          <p:nvPr>
            <p:ph type="title"/>
          </p:nvPr>
        </p:nvSpPr>
        <p:spPr>
          <a:prstGeom prst="rect">
            <a:avLst/>
          </a:prstGeom>
        </p:spPr>
        <p:txBody>
          <a:bodyPr/>
          <a:lstStyle/>
          <a:p>
            <a:r>
              <a:rPr dirty="0"/>
              <a:t>Exercise 5: Answer</a:t>
            </a:r>
          </a:p>
        </p:txBody>
      </p:sp>
      <p:sp>
        <p:nvSpPr>
          <p:cNvPr id="417" name="Shape 417"/>
          <p:cNvSpPr>
            <a:spLocks noGrp="1"/>
          </p:cNvSpPr>
          <p:nvPr>
            <p:ph type="body" idx="1"/>
          </p:nvPr>
        </p:nvSpPr>
        <p:spPr>
          <a:prstGeom prst="rect">
            <a:avLst/>
          </a:prstGeom>
        </p:spPr>
        <p:txBody>
          <a:bodyPr/>
          <a:lstStyle/>
          <a:p>
            <a:r>
              <a:rPr lang="en-US" dirty="0"/>
              <a:t>64</a:t>
            </a:r>
            <a:endParaRPr dirty="0"/>
          </a:p>
          <a:p>
            <a:pPr lvl="1"/>
            <a:r>
              <a:rPr dirty="0"/>
              <a:t>GET </a:t>
            </a:r>
            <a:r>
              <a:rPr lang="en-US" u="sng" dirty="0">
                <a:hlinkClick r:id="rId3"/>
              </a:rPr>
              <a:t>https://fhir-open.cerner.com/r4/ec2458f2-1e24-41c8-b71b-0e701af7583d/AllergyIntolerance?clinical-status=active&amp;patient=12742399&amp;_format=json</a:t>
            </a:r>
            <a:endParaRPr u="sng" dirty="0">
              <a:hlinkClick r:id="rId4"/>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Shape 424"/>
          <p:cNvSpPr/>
          <p:nvPr/>
        </p:nvSpPr>
        <p:spPr>
          <a:xfrm>
            <a:off x="358005" y="12570296"/>
            <a:ext cx="13893227"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a:spcBef>
                <a:spcPts val="5900"/>
              </a:spcBef>
              <a:defRPr sz="3500" u="sng">
                <a:hlinkClick r:id="rId2"/>
              </a:defRPr>
            </a:lvl1pPr>
          </a:lstStyle>
          <a:p>
            <a:pPr>
              <a:defRPr u="none"/>
            </a:pPr>
            <a:r>
              <a:rPr lang="en-US" u="sng" dirty="0">
                <a:hlinkClick r:id="rId3"/>
              </a:rPr>
              <a:t>https://hl7.org/fhir/r4/valueset-allergyintolerance-clinical.html#expansion</a:t>
            </a:r>
            <a:endParaRPr u="sng" dirty="0">
              <a:hlinkClick r:id="rId2"/>
            </a:endParaRPr>
          </a:p>
        </p:txBody>
      </p:sp>
      <p:pic>
        <p:nvPicPr>
          <p:cNvPr id="3" name="Picture 2">
            <a:extLst>
              <a:ext uri="{FF2B5EF4-FFF2-40B4-BE49-F238E27FC236}">
                <a16:creationId xmlns:a16="http://schemas.microsoft.com/office/drawing/2014/main" id="{B490AD7B-4952-46E1-B830-8E1077EACE63}"/>
              </a:ext>
            </a:extLst>
          </p:cNvPr>
          <p:cNvPicPr>
            <a:picLocks noChangeAspect="1"/>
          </p:cNvPicPr>
          <p:nvPr/>
        </p:nvPicPr>
        <p:blipFill>
          <a:blip r:embed="rId4"/>
          <a:stretch>
            <a:fillRect/>
          </a:stretch>
        </p:blipFill>
        <p:spPr>
          <a:xfrm>
            <a:off x="323849" y="1976437"/>
            <a:ext cx="23736301" cy="7049884"/>
          </a:xfrm>
          <a:prstGeom prst="rect">
            <a:avLst/>
          </a:prstGeom>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Shape 426"/>
          <p:cNvSpPr>
            <a:spLocks noGrp="1"/>
          </p:cNvSpPr>
          <p:nvPr>
            <p:ph type="title"/>
          </p:nvPr>
        </p:nvSpPr>
        <p:spPr>
          <a:prstGeom prst="rect">
            <a:avLst/>
          </a:prstGeom>
        </p:spPr>
        <p:txBody>
          <a:bodyPr/>
          <a:lstStyle/>
          <a:p>
            <a:r>
              <a:t>What if it wasn’t mapped/known?</a:t>
            </a:r>
          </a:p>
        </p:txBody>
      </p:sp>
      <p:sp>
        <p:nvSpPr>
          <p:cNvPr id="427" name="Shape 427"/>
          <p:cNvSpPr/>
          <p:nvPr/>
        </p:nvSpPr>
        <p:spPr>
          <a:xfrm>
            <a:off x="366997" y="12893512"/>
            <a:ext cx="9914574"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https://hl7.org/fhir/allergyintolerance.html#resource</a:t>
            </a:r>
            <a:endParaRPr u="sng" dirty="0">
              <a:hlinkClick r:id="rId3"/>
            </a:endParaRPr>
          </a:p>
        </p:txBody>
      </p:sp>
      <p:pic>
        <p:nvPicPr>
          <p:cNvPr id="5" name="Picture 4">
            <a:extLst>
              <a:ext uri="{FF2B5EF4-FFF2-40B4-BE49-F238E27FC236}">
                <a16:creationId xmlns:a16="http://schemas.microsoft.com/office/drawing/2014/main" id="{A1337DD0-8B7D-4A22-9FB3-CA89812D6103}"/>
              </a:ext>
            </a:extLst>
          </p:cNvPr>
          <p:cNvPicPr>
            <a:picLocks noChangeAspect="1"/>
          </p:cNvPicPr>
          <p:nvPr/>
        </p:nvPicPr>
        <p:blipFill>
          <a:blip r:embed="rId5"/>
          <a:stretch>
            <a:fillRect/>
          </a:stretch>
        </p:blipFill>
        <p:spPr>
          <a:xfrm>
            <a:off x="1323975" y="976312"/>
            <a:ext cx="21278086" cy="3557588"/>
          </a:xfrm>
          <a:prstGeom prst="rect">
            <a:avLst/>
          </a:prstGeom>
        </p:spPr>
      </p:pic>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433"/>
          <p:cNvSpPr>
            <a:spLocks noGrp="1"/>
          </p:cNvSpPr>
          <p:nvPr>
            <p:ph type="title"/>
          </p:nvPr>
        </p:nvSpPr>
        <p:spPr>
          <a:prstGeom prst="rect">
            <a:avLst/>
          </a:prstGeom>
        </p:spPr>
        <p:txBody>
          <a:bodyPr/>
          <a:lstStyle/>
          <a:p>
            <a:r>
              <a:t>Exercise 6</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Shape 435"/>
          <p:cNvSpPr>
            <a:spLocks noGrp="1"/>
          </p:cNvSpPr>
          <p:nvPr>
            <p:ph type="title"/>
          </p:nvPr>
        </p:nvSpPr>
        <p:spPr>
          <a:prstGeom prst="rect">
            <a:avLst/>
          </a:prstGeom>
        </p:spPr>
        <p:txBody>
          <a:bodyPr/>
          <a:lstStyle/>
          <a:p>
            <a:r>
              <a:t>Exercise 6</a:t>
            </a:r>
          </a:p>
        </p:txBody>
      </p:sp>
      <p:sp>
        <p:nvSpPr>
          <p:cNvPr id="436" name="Shape 436"/>
          <p:cNvSpPr>
            <a:spLocks noGrp="1"/>
          </p:cNvSpPr>
          <p:nvPr>
            <p:ph type="body" idx="1"/>
          </p:nvPr>
        </p:nvSpPr>
        <p:spPr>
          <a:prstGeom prst="rect">
            <a:avLst/>
          </a:prstGeom>
        </p:spPr>
        <p:txBody>
          <a:bodyPr/>
          <a:lstStyle/>
          <a:p>
            <a:r>
              <a:rPr dirty="0"/>
              <a:t>How many different </a:t>
            </a:r>
            <a:r>
              <a:rPr lang="en-US" dirty="0"/>
              <a:t>medication orders </a:t>
            </a:r>
            <a:r>
              <a:rPr dirty="0"/>
              <a:t>of </a:t>
            </a:r>
            <a:r>
              <a:rPr lang="en-US" i="1" dirty="0"/>
              <a:t>Sertraline </a:t>
            </a:r>
            <a:r>
              <a:rPr dirty="0"/>
              <a:t>does </a:t>
            </a:r>
            <a:r>
              <a:rPr lang="en-US" dirty="0"/>
              <a:t>Fredrick Smart (id = </a:t>
            </a:r>
            <a:r>
              <a:rPr lang="en-US" b="0" i="0" dirty="0">
                <a:solidFill>
                  <a:srgbClr val="212121"/>
                </a:solidFill>
                <a:effectLst/>
              </a:rPr>
              <a:t>12724070</a:t>
            </a:r>
            <a:r>
              <a:rPr lang="en-US" dirty="0"/>
              <a:t>)</a:t>
            </a:r>
            <a:r>
              <a:rPr dirty="0"/>
              <a:t> have?</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Shape 438"/>
          <p:cNvSpPr>
            <a:spLocks noGrp="1"/>
          </p:cNvSpPr>
          <p:nvPr>
            <p:ph type="title"/>
          </p:nvPr>
        </p:nvSpPr>
        <p:spPr>
          <a:prstGeom prst="rect">
            <a:avLst/>
          </a:prstGeom>
        </p:spPr>
        <p:txBody>
          <a:bodyPr/>
          <a:lstStyle/>
          <a:p>
            <a:r>
              <a:t>Exercise 6: Answer</a:t>
            </a:r>
          </a:p>
        </p:txBody>
      </p:sp>
      <p:sp>
        <p:nvSpPr>
          <p:cNvPr id="439" name="Shape 439"/>
          <p:cNvSpPr>
            <a:spLocks noGrp="1"/>
          </p:cNvSpPr>
          <p:nvPr>
            <p:ph type="body" idx="1"/>
          </p:nvPr>
        </p:nvSpPr>
        <p:spPr>
          <a:xfrm>
            <a:off x="1689100" y="3238500"/>
            <a:ext cx="21005800" cy="9220201"/>
          </a:xfrm>
          <a:prstGeom prst="rect">
            <a:avLst/>
          </a:prstGeom>
        </p:spPr>
        <p:txBody>
          <a:bodyPr>
            <a:normAutofit lnSpcReduction="10000"/>
          </a:bodyPr>
          <a:lstStyle/>
          <a:p>
            <a:r>
              <a:rPr dirty="0"/>
              <a:t>1</a:t>
            </a:r>
          </a:p>
          <a:p>
            <a:r>
              <a:rPr dirty="0"/>
              <a:t>GET </a:t>
            </a:r>
            <a:r>
              <a:rPr lang="en-US" u="sng" dirty="0">
                <a:hlinkClick r:id="rId2"/>
              </a:rPr>
              <a:t>https://fhir-open.cerner.com/r4/ec2458f2-1e24-41c8-b71b-0e701af7583d/MedicationRequest?patient=12724070&amp;status=active&amp;_format=json</a:t>
            </a:r>
            <a:endParaRPr lang="en-US" u="sng" dirty="0"/>
          </a:p>
          <a:p>
            <a:r>
              <a:rPr lang="en-US" dirty="0"/>
              <a:t>GET </a:t>
            </a:r>
            <a:r>
              <a:rPr lang="en-US" b="0" i="0" dirty="0">
                <a:solidFill>
                  <a:srgbClr val="212121"/>
                </a:solidFill>
                <a:effectLst/>
                <a:hlinkClick r:id="rId3"/>
              </a:rPr>
              <a:t>https://fhir-open.cerner.com/r4/ec2458f2-1e24-41c8-b71b-0e701af7583d/MedicationRequest?patient=12724070&amp;status=active&amp;-pageContext=T3BlblBsYXRmb3JtRmhpckNvbnRleHQ9dHJ1ZSZwYWdlQ29udGV4dD00ODM4MTE5NzdfNDgzODEyNjgxXzEyNzI0MDcwXzFfMSZjb25jZXB0PWNoYXJ0ZWQ%3D&amp;-pageDirection=NEXT&amp;_format=json</a:t>
            </a:r>
            <a:endParaRPr dirty="0">
              <a:hlinkClick r:id="rId4"/>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Shape 441"/>
          <p:cNvSpPr>
            <a:spLocks noGrp="1"/>
          </p:cNvSpPr>
          <p:nvPr>
            <p:ph type="title"/>
          </p:nvPr>
        </p:nvSpPr>
        <p:spPr>
          <a:prstGeom prst="rect">
            <a:avLst/>
          </a:prstGeom>
        </p:spPr>
        <p:txBody>
          <a:bodyPr/>
          <a:lstStyle/>
          <a:p>
            <a:r>
              <a:t>Paging</a:t>
            </a:r>
          </a:p>
        </p:txBody>
      </p:sp>
      <p:sp>
        <p:nvSpPr>
          <p:cNvPr id="442" name="Shape 442"/>
          <p:cNvSpPr>
            <a:spLocks noGrp="1"/>
          </p:cNvSpPr>
          <p:nvPr>
            <p:ph type="body" sz="half" idx="1"/>
          </p:nvPr>
        </p:nvSpPr>
        <p:spPr>
          <a:xfrm>
            <a:off x="1689100" y="8307938"/>
            <a:ext cx="21005800" cy="4775307"/>
          </a:xfrm>
          <a:prstGeom prst="rect">
            <a:avLst/>
          </a:prstGeom>
        </p:spPr>
        <p:txBody>
          <a:bodyPr>
            <a:normAutofit fontScale="92500" lnSpcReduction="10000"/>
          </a:bodyPr>
          <a:lstStyle/>
          <a:p>
            <a:pPr marL="622300" indent="-622300" defTabSz="808990">
              <a:spcBef>
                <a:spcPts val="5700"/>
              </a:spcBef>
              <a:defRPr sz="5096"/>
            </a:pPr>
            <a:r>
              <a:rPr dirty="0"/>
              <a:t>GET </a:t>
            </a:r>
            <a:r>
              <a:rPr lang="en-US" u="sng" dirty="0">
                <a:hlinkClick r:id="rId2"/>
              </a:rPr>
              <a:t>https://fhir-open.cerner.com/r4/ec2458f2-1e24-41c8-b71b-0e701af7583d/MedicationRequest?patient=12724070&amp;status=active&amp;-pageContext=T3BlblBsYXRmb3JtRmhpckNvbnRleHQ9dHJ1ZSZwYWdlQ29udGV4dD00ODM4MTE5NzdfNDgzODEyNjgxXzEyNzI0MDcwXzFfMSZjb25jZXB0PWNoYXJ0ZWQ%3D&amp;-pageDirection=NEXT&amp;_format=json</a:t>
            </a:r>
            <a:endParaRPr u="sng" dirty="0">
              <a:hlinkClick r:id="rId3"/>
            </a:endParaRPr>
          </a:p>
          <a:p>
            <a:pPr marL="1244600" lvl="1" indent="-622300" defTabSz="808990">
              <a:spcBef>
                <a:spcPts val="5700"/>
              </a:spcBef>
              <a:defRPr sz="5096"/>
            </a:pPr>
            <a:r>
              <a:rPr dirty="0"/>
              <a:t>Added _format parameter</a:t>
            </a:r>
          </a:p>
        </p:txBody>
      </p:sp>
      <p:pic>
        <p:nvPicPr>
          <p:cNvPr id="3" name="Picture 2">
            <a:extLst>
              <a:ext uri="{FF2B5EF4-FFF2-40B4-BE49-F238E27FC236}">
                <a16:creationId xmlns:a16="http://schemas.microsoft.com/office/drawing/2014/main" id="{6FFDF4A4-08E3-4DEB-BCBD-6D8C4996435F}"/>
              </a:ext>
            </a:extLst>
          </p:cNvPr>
          <p:cNvPicPr>
            <a:picLocks noChangeAspect="1"/>
          </p:cNvPicPr>
          <p:nvPr/>
        </p:nvPicPr>
        <p:blipFill>
          <a:blip r:embed="rId4"/>
          <a:stretch>
            <a:fillRect/>
          </a:stretch>
        </p:blipFill>
        <p:spPr>
          <a:xfrm>
            <a:off x="3168650" y="3238500"/>
            <a:ext cx="18046700" cy="5069438"/>
          </a:xfrm>
          <a:prstGeom prst="rect">
            <a:avLst/>
          </a:prstGeom>
        </p:spPr>
      </p:pic>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Shape 448"/>
          <p:cNvSpPr/>
          <p:nvPr/>
        </p:nvSpPr>
        <p:spPr>
          <a:xfrm>
            <a:off x="165150" y="12747462"/>
            <a:ext cx="1006205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http://hl7.org/fhir/medicationadministration.html#bnr</a:t>
            </a:r>
            <a:endParaRPr u="sng" dirty="0">
              <a:hlinkClick r:id="rId2"/>
            </a:endParaRPr>
          </a:p>
        </p:txBody>
      </p:sp>
      <p:pic>
        <p:nvPicPr>
          <p:cNvPr id="3" name="Picture 2">
            <a:extLst>
              <a:ext uri="{FF2B5EF4-FFF2-40B4-BE49-F238E27FC236}">
                <a16:creationId xmlns:a16="http://schemas.microsoft.com/office/drawing/2014/main" id="{02A2BF4F-0814-4F2C-BBAD-24701A46274F}"/>
              </a:ext>
            </a:extLst>
          </p:cNvPr>
          <p:cNvPicPr>
            <a:picLocks noChangeAspect="1"/>
          </p:cNvPicPr>
          <p:nvPr/>
        </p:nvPicPr>
        <p:blipFill>
          <a:blip r:embed="rId4"/>
          <a:stretch>
            <a:fillRect/>
          </a:stretch>
        </p:blipFill>
        <p:spPr>
          <a:xfrm>
            <a:off x="489592" y="2400036"/>
            <a:ext cx="23404815" cy="6648713"/>
          </a:xfrm>
          <a:prstGeom prst="rect">
            <a:avLst/>
          </a:prstGeom>
        </p:spPr>
      </p:pic>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Shape 451"/>
          <p:cNvSpPr>
            <a:spLocks noGrp="1"/>
          </p:cNvSpPr>
          <p:nvPr>
            <p:ph type="title"/>
          </p:nvPr>
        </p:nvSpPr>
        <p:spPr>
          <a:prstGeom prst="rect">
            <a:avLst/>
          </a:prstGeom>
        </p:spPr>
        <p:txBody>
          <a:bodyPr/>
          <a:lstStyle/>
          <a:p>
            <a:r>
              <a:t>Exercise 7</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Shape 453"/>
          <p:cNvSpPr>
            <a:spLocks noGrp="1"/>
          </p:cNvSpPr>
          <p:nvPr>
            <p:ph type="title"/>
          </p:nvPr>
        </p:nvSpPr>
        <p:spPr>
          <a:prstGeom prst="rect">
            <a:avLst/>
          </a:prstGeom>
        </p:spPr>
        <p:txBody>
          <a:bodyPr/>
          <a:lstStyle/>
          <a:p>
            <a:r>
              <a:rPr dirty="0"/>
              <a:t>Exercise 7</a:t>
            </a:r>
          </a:p>
        </p:txBody>
      </p:sp>
      <p:sp>
        <p:nvSpPr>
          <p:cNvPr id="454" name="Shape 454"/>
          <p:cNvSpPr>
            <a:spLocks noGrp="1"/>
          </p:cNvSpPr>
          <p:nvPr>
            <p:ph type="body" idx="1"/>
          </p:nvPr>
        </p:nvSpPr>
        <p:spPr>
          <a:prstGeom prst="rect">
            <a:avLst/>
          </a:prstGeom>
        </p:spPr>
        <p:txBody>
          <a:bodyPr/>
          <a:lstStyle/>
          <a:p>
            <a:r>
              <a:rPr dirty="0"/>
              <a:t>What is the name of the patient with </a:t>
            </a:r>
            <a:r>
              <a:rPr lang="en-US" dirty="0"/>
              <a:t>C</a:t>
            </a:r>
            <a:r>
              <a:rPr dirty="0"/>
              <a:t>MRN </a:t>
            </a:r>
            <a:r>
              <a:rPr lang="en-US" dirty="0"/>
              <a:t>171</a:t>
            </a:r>
          </a:p>
          <a:p>
            <a:r>
              <a:rPr dirty="0"/>
              <a:t>Hint: the system</a:t>
            </a:r>
            <a:r>
              <a:rPr lang="en-US" dirty="0"/>
              <a:t> </a:t>
            </a:r>
            <a:r>
              <a:rPr lang="en-US" dirty="0" err="1"/>
              <a:t>oid</a:t>
            </a:r>
            <a:r>
              <a:rPr dirty="0"/>
              <a:t> is </a:t>
            </a:r>
            <a:r>
              <a:rPr lang="en-US" b="0" i="0" dirty="0">
                <a:solidFill>
                  <a:srgbClr val="212121"/>
                </a:solidFill>
                <a:effectLst/>
              </a:rPr>
              <a:t>urn:oid:2.16.840.1.113883.3.787.0.0</a:t>
            </a:r>
            <a:endParaRPr dirty="0"/>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Shape 456"/>
          <p:cNvSpPr>
            <a:spLocks noGrp="1"/>
          </p:cNvSpPr>
          <p:nvPr>
            <p:ph type="title"/>
          </p:nvPr>
        </p:nvSpPr>
        <p:spPr>
          <a:prstGeom prst="rect">
            <a:avLst/>
          </a:prstGeom>
        </p:spPr>
        <p:txBody>
          <a:bodyPr/>
          <a:lstStyle/>
          <a:p>
            <a:r>
              <a:t>Exercise 7: Answer</a:t>
            </a:r>
          </a:p>
        </p:txBody>
      </p:sp>
      <p:sp>
        <p:nvSpPr>
          <p:cNvPr id="457" name="Shape 457"/>
          <p:cNvSpPr>
            <a:spLocks noGrp="1"/>
          </p:cNvSpPr>
          <p:nvPr>
            <p:ph type="body" idx="1"/>
          </p:nvPr>
        </p:nvSpPr>
        <p:spPr>
          <a:prstGeom prst="rect">
            <a:avLst/>
          </a:prstGeom>
        </p:spPr>
        <p:txBody>
          <a:bodyPr/>
          <a:lstStyle/>
          <a:p>
            <a:r>
              <a:rPr lang="en-US" dirty="0"/>
              <a:t>SMARTS SR., NANCYS II</a:t>
            </a:r>
            <a:endParaRPr dirty="0"/>
          </a:p>
          <a:p>
            <a:r>
              <a:rPr dirty="0"/>
              <a:t>GET </a:t>
            </a:r>
            <a:r>
              <a:rPr lang="en-US" dirty="0">
                <a:hlinkClick r:id="rId2"/>
              </a:rPr>
              <a:t>https://fhir-open.cerner.com/r4/ec2458f2-1e24-41c8-b71b-0e701af7583d/Patient?identifier=urn:oid:2.16.840.1.113883.3.787.0.0|171&amp;_format=json</a:t>
            </a:r>
            <a:endParaRPr dirty="0"/>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2C01AEE-CA19-0C5B-5E08-F4A998A613D2}"/>
              </a:ext>
            </a:extLst>
          </p:cNvPr>
          <p:cNvPicPr>
            <a:picLocks noChangeAspect="1"/>
          </p:cNvPicPr>
          <p:nvPr/>
        </p:nvPicPr>
        <p:blipFill>
          <a:blip r:embed="rId2"/>
          <a:stretch>
            <a:fillRect/>
          </a:stretch>
        </p:blipFill>
        <p:spPr>
          <a:xfrm>
            <a:off x="1181024" y="864111"/>
            <a:ext cx="13740767" cy="10486376"/>
          </a:xfrm>
          <a:prstGeom prst="rect">
            <a:avLst/>
          </a:prstGeom>
        </p:spPr>
      </p:pic>
      <p:pic>
        <p:nvPicPr>
          <p:cNvPr id="2" name="Picture 1">
            <a:extLst>
              <a:ext uri="{FF2B5EF4-FFF2-40B4-BE49-F238E27FC236}">
                <a16:creationId xmlns:a16="http://schemas.microsoft.com/office/drawing/2014/main" id="{3E72094B-7189-9D7D-1A6D-6C21899B86EE}"/>
              </a:ext>
            </a:extLst>
          </p:cNvPr>
          <p:cNvPicPr>
            <a:picLocks noChangeAspect="1"/>
          </p:cNvPicPr>
          <p:nvPr/>
        </p:nvPicPr>
        <p:blipFill>
          <a:blip r:embed="rId3"/>
          <a:stretch>
            <a:fillRect/>
          </a:stretch>
        </p:blipFill>
        <p:spPr>
          <a:xfrm>
            <a:off x="14921791" y="864111"/>
            <a:ext cx="9462209" cy="8191500"/>
          </a:xfrm>
          <a:prstGeom prst="rect">
            <a:avLst/>
          </a:prstGeom>
        </p:spPr>
      </p:pic>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461" name="Shape 461"/>
          <p:cNvSpPr/>
          <p:nvPr/>
        </p:nvSpPr>
        <p:spPr>
          <a:xfrm>
            <a:off x="8975780" y="6197599"/>
            <a:ext cx="6686440"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Extensions</a:t>
            </a:r>
          </a:p>
        </p:txBody>
      </p:sp>
      <p:sp>
        <p:nvSpPr>
          <p:cNvPr id="462" name="Shape 462"/>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4" name="pasted-image.png"/>
          <p:cNvPicPr>
            <a:picLocks noChangeAspect="1"/>
          </p:cNvPicPr>
          <p:nvPr/>
        </p:nvPicPr>
        <p:blipFill>
          <a:blip r:embed="rId2"/>
          <a:stretch>
            <a:fillRect/>
          </a:stretch>
        </p:blipFill>
        <p:spPr>
          <a:xfrm>
            <a:off x="5454973" y="3489486"/>
            <a:ext cx="13474054" cy="6737028"/>
          </a:xfrm>
          <a:prstGeom prst="rect">
            <a:avLst/>
          </a:prstGeom>
          <a:ln w="12700">
            <a:miter lim="400000"/>
          </a:ln>
        </p:spPr>
      </p:pic>
      <p:sp>
        <p:nvSpPr>
          <p:cNvPr id="465" name="Shape 465"/>
          <p:cNvSpPr/>
          <p:nvPr/>
        </p:nvSpPr>
        <p:spPr>
          <a:xfrm>
            <a:off x="771505" y="12845573"/>
            <a:ext cx="679032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https://hl7.org/fhir/extensibility.html</a:t>
            </a:r>
            <a:endParaRPr u="sng" dirty="0">
              <a:hlinkClick r:id="rId3"/>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Shape 467"/>
          <p:cNvSpPr>
            <a:spLocks noGrp="1"/>
          </p:cNvSpPr>
          <p:nvPr>
            <p:ph type="title"/>
          </p:nvPr>
        </p:nvSpPr>
        <p:spPr>
          <a:prstGeom prst="rect">
            <a:avLst/>
          </a:prstGeom>
        </p:spPr>
        <p:txBody>
          <a:bodyPr/>
          <a:lstStyle/>
          <a:p>
            <a:r>
              <a:t>Extension “Rules”</a:t>
            </a:r>
          </a:p>
        </p:txBody>
      </p:sp>
      <p:sp>
        <p:nvSpPr>
          <p:cNvPr id="468" name="Shape 468"/>
          <p:cNvSpPr>
            <a:spLocks noGrp="1"/>
          </p:cNvSpPr>
          <p:nvPr>
            <p:ph type="body" idx="1"/>
          </p:nvPr>
        </p:nvSpPr>
        <p:spPr>
          <a:prstGeom prst="rect">
            <a:avLst/>
          </a:prstGeom>
        </p:spPr>
        <p:txBody>
          <a:bodyPr/>
          <a:lstStyle/>
          <a:p>
            <a:r>
              <a:t>They’re Expected</a:t>
            </a:r>
          </a:p>
          <a:p>
            <a:r>
              <a:t>They can nest</a:t>
            </a:r>
          </a:p>
          <a:p>
            <a:r>
              <a:t>Server/Client cannot reject because of extension</a:t>
            </a:r>
          </a:p>
          <a:p>
            <a:pPr lvl="1"/>
            <a:r>
              <a:t>Unless it’s a modifier</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6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6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6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6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4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 grpId="0" build="p" bldLvl="5" animBg="1" advAuto="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Shape 470"/>
          <p:cNvSpPr>
            <a:spLocks noGrp="1"/>
          </p:cNvSpPr>
          <p:nvPr>
            <p:ph type="title"/>
          </p:nvPr>
        </p:nvSpPr>
        <p:spPr>
          <a:xfrm>
            <a:off x="635000" y="104033"/>
            <a:ext cx="23114000" cy="2006601"/>
          </a:xfrm>
          <a:prstGeom prst="rect">
            <a:avLst/>
          </a:prstGeom>
        </p:spPr>
        <p:txBody>
          <a:bodyPr/>
          <a:lstStyle/>
          <a:p>
            <a:r>
              <a:t>Examples</a:t>
            </a:r>
          </a:p>
        </p:txBody>
      </p:sp>
      <p:pic>
        <p:nvPicPr>
          <p:cNvPr id="471" name="pasted-image.png"/>
          <p:cNvPicPr>
            <a:picLocks noChangeAspect="1"/>
          </p:cNvPicPr>
          <p:nvPr/>
        </p:nvPicPr>
        <p:blipFill>
          <a:blip r:embed="rId2"/>
          <a:stretch>
            <a:fillRect/>
          </a:stretch>
        </p:blipFill>
        <p:spPr>
          <a:xfrm>
            <a:off x="3352800" y="2032000"/>
            <a:ext cx="17678400" cy="9652000"/>
          </a:xfrm>
          <a:prstGeom prst="rect">
            <a:avLst/>
          </a:prstGeom>
          <a:ln w="12700">
            <a:miter lim="400000"/>
          </a:ln>
        </p:spPr>
      </p:pic>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Shape 473"/>
          <p:cNvSpPr>
            <a:spLocks noGrp="1"/>
          </p:cNvSpPr>
          <p:nvPr>
            <p:ph type="title"/>
          </p:nvPr>
        </p:nvSpPr>
        <p:spPr>
          <a:xfrm>
            <a:off x="635000" y="250045"/>
            <a:ext cx="23114000" cy="2006601"/>
          </a:xfrm>
          <a:prstGeom prst="rect">
            <a:avLst/>
          </a:prstGeom>
        </p:spPr>
        <p:txBody>
          <a:bodyPr/>
          <a:lstStyle/>
          <a:p>
            <a:r>
              <a:t>Modifier Example</a:t>
            </a:r>
          </a:p>
        </p:txBody>
      </p:sp>
      <p:pic>
        <p:nvPicPr>
          <p:cNvPr id="474" name="pasted-image.png"/>
          <p:cNvPicPr>
            <a:picLocks noChangeAspect="1"/>
          </p:cNvPicPr>
          <p:nvPr/>
        </p:nvPicPr>
        <p:blipFill>
          <a:blip r:embed="rId3"/>
          <a:stretch>
            <a:fillRect/>
          </a:stretch>
        </p:blipFill>
        <p:spPr>
          <a:xfrm>
            <a:off x="3429000" y="2293224"/>
            <a:ext cx="17526000" cy="10541001"/>
          </a:xfrm>
          <a:prstGeom prst="rect">
            <a:avLst/>
          </a:prstGeom>
          <a:ln w="12700">
            <a:miter lim="400000"/>
          </a:ln>
        </p:spPr>
      </p:pic>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Shape 478"/>
          <p:cNvSpPr/>
          <p:nvPr/>
        </p:nvSpPr>
        <p:spPr>
          <a:xfrm>
            <a:off x="634436" y="12961927"/>
            <a:ext cx="10363414"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https://hl7.org/fhir/R4/extension-patient-birthtime.html</a:t>
            </a:r>
            <a:endParaRPr u="sng" dirty="0">
              <a:hlinkClick r:id="rId3"/>
            </a:endParaRPr>
          </a:p>
        </p:txBody>
      </p:sp>
      <p:pic>
        <p:nvPicPr>
          <p:cNvPr id="3" name="Picture 2">
            <a:extLst>
              <a:ext uri="{FF2B5EF4-FFF2-40B4-BE49-F238E27FC236}">
                <a16:creationId xmlns:a16="http://schemas.microsoft.com/office/drawing/2014/main" id="{763DB2B0-8B44-4D06-8A77-07FDDBDD697A}"/>
              </a:ext>
            </a:extLst>
          </p:cNvPr>
          <p:cNvPicPr>
            <a:picLocks noChangeAspect="1"/>
          </p:cNvPicPr>
          <p:nvPr/>
        </p:nvPicPr>
        <p:blipFill>
          <a:blip r:embed="rId5"/>
          <a:stretch>
            <a:fillRect/>
          </a:stretch>
        </p:blipFill>
        <p:spPr>
          <a:xfrm>
            <a:off x="3310851" y="375609"/>
            <a:ext cx="17762297" cy="12032523"/>
          </a:xfrm>
          <a:prstGeom prst="rect">
            <a:avLst/>
          </a:prstGeom>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483" name="Shape 483"/>
          <p:cNvSpPr/>
          <p:nvPr/>
        </p:nvSpPr>
        <p:spPr>
          <a:xfrm>
            <a:off x="8291859" y="6197599"/>
            <a:ext cx="805428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Conformance</a:t>
            </a:r>
          </a:p>
        </p:txBody>
      </p:sp>
      <p:sp>
        <p:nvSpPr>
          <p:cNvPr id="484" name="Shape 484"/>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Shape 486"/>
          <p:cNvSpPr>
            <a:spLocks noGrp="1"/>
          </p:cNvSpPr>
          <p:nvPr>
            <p:ph type="title"/>
          </p:nvPr>
        </p:nvSpPr>
        <p:spPr>
          <a:prstGeom prst="rect">
            <a:avLst/>
          </a:prstGeom>
        </p:spPr>
        <p:txBody>
          <a:bodyPr/>
          <a:lstStyle/>
          <a:p>
            <a:r>
              <a:t>Conformance Resource</a:t>
            </a:r>
          </a:p>
        </p:txBody>
      </p:sp>
      <p:sp>
        <p:nvSpPr>
          <p:cNvPr id="487" name="Shape 487"/>
          <p:cNvSpPr>
            <a:spLocks noGrp="1"/>
          </p:cNvSpPr>
          <p:nvPr>
            <p:ph type="body" idx="1"/>
          </p:nvPr>
        </p:nvSpPr>
        <p:spPr>
          <a:prstGeom prst="rect">
            <a:avLst/>
          </a:prstGeom>
        </p:spPr>
        <p:txBody>
          <a:bodyPr/>
          <a:lstStyle/>
          <a:p>
            <a:r>
              <a:rPr dirty="0"/>
              <a:t>Weird: located at </a:t>
            </a:r>
            <a:r>
              <a:rPr strike="sngStrike" dirty="0"/>
              <a:t>[base]/Conformance</a:t>
            </a:r>
            <a:r>
              <a:rPr dirty="0"/>
              <a:t> [base]/metadata</a:t>
            </a:r>
          </a:p>
          <a:p>
            <a:r>
              <a:rPr dirty="0"/>
              <a:t>Describes the Server</a:t>
            </a:r>
          </a:p>
          <a:p>
            <a:r>
              <a:rPr dirty="0"/>
              <a:t>Step towards auto-config</a:t>
            </a:r>
          </a:p>
        </p:txBody>
      </p:sp>
      <p:sp>
        <p:nvSpPr>
          <p:cNvPr id="488" name="Shape 488"/>
          <p:cNvSpPr/>
          <p:nvPr/>
        </p:nvSpPr>
        <p:spPr>
          <a:xfrm>
            <a:off x="417224" y="12864585"/>
            <a:ext cx="797494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http://hl7.org/fhir/conformance-rules.html</a:t>
            </a:r>
            <a:endParaRPr u="sng" dirty="0">
              <a:hlinkClick r:id="rId3"/>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8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8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8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 grpId="0" build="p" bldLvl="5" animBg="1" advAuto="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Shape 492"/>
          <p:cNvSpPr>
            <a:spLocks noGrp="1"/>
          </p:cNvSpPr>
          <p:nvPr>
            <p:ph type="title"/>
          </p:nvPr>
        </p:nvSpPr>
        <p:spPr>
          <a:prstGeom prst="rect">
            <a:avLst/>
          </a:prstGeom>
        </p:spPr>
        <p:txBody>
          <a:bodyPr/>
          <a:lstStyle/>
          <a:p>
            <a:r>
              <a:t>What?</a:t>
            </a:r>
          </a:p>
        </p:txBody>
      </p:sp>
      <p:sp>
        <p:nvSpPr>
          <p:cNvPr id="493" name="Shape 493"/>
          <p:cNvSpPr>
            <a:spLocks noGrp="1"/>
          </p:cNvSpPr>
          <p:nvPr>
            <p:ph type="body" sz="half" idx="1"/>
          </p:nvPr>
        </p:nvSpPr>
        <p:spPr>
          <a:prstGeom prst="rect">
            <a:avLst/>
          </a:prstGeom>
        </p:spPr>
        <p:txBody>
          <a:bodyPr/>
          <a:lstStyle/>
          <a:p>
            <a:r>
              <a:t>Which operations?</a:t>
            </a:r>
          </a:p>
          <a:p>
            <a:r>
              <a:t>Which parameters?</a:t>
            </a:r>
          </a:p>
          <a:p>
            <a:r>
              <a:t>Which formats?</a:t>
            </a:r>
          </a:p>
          <a:p>
            <a:r>
              <a:t>Profiles…</a:t>
            </a:r>
          </a:p>
        </p:txBody>
      </p:sp>
      <p:pic>
        <p:nvPicPr>
          <p:cNvPr id="494" name="pasted-image.png"/>
          <p:cNvPicPr>
            <a:picLocks noChangeAspect="1"/>
          </p:cNvPicPr>
          <p:nvPr/>
        </p:nvPicPr>
        <p:blipFill>
          <a:blip r:embed="rId3"/>
          <a:stretch>
            <a:fillRect/>
          </a:stretch>
        </p:blipFill>
        <p:spPr>
          <a:xfrm>
            <a:off x="15411411" y="5187683"/>
            <a:ext cx="2782593" cy="2782594"/>
          </a:xfrm>
          <a:prstGeom prst="rect">
            <a:avLst/>
          </a:prstGeom>
          <a:ln w="12700">
            <a:miter lim="400000"/>
          </a:ln>
        </p:spPr>
      </p:pic>
      <p:pic>
        <p:nvPicPr>
          <p:cNvPr id="495" name="pasted-image.png"/>
          <p:cNvPicPr>
            <a:picLocks noChangeAspect="1"/>
          </p:cNvPicPr>
          <p:nvPr/>
        </p:nvPicPr>
        <p:blipFill>
          <a:blip r:embed="rId3"/>
          <a:stretch>
            <a:fillRect/>
          </a:stretch>
        </p:blipFill>
        <p:spPr>
          <a:xfrm>
            <a:off x="17844944" y="8714633"/>
            <a:ext cx="2453982" cy="2453981"/>
          </a:xfrm>
          <a:prstGeom prst="rect">
            <a:avLst/>
          </a:prstGeom>
          <a:ln w="12700">
            <a:miter lim="400000"/>
          </a:ln>
        </p:spPr>
      </p:pic>
      <p:pic>
        <p:nvPicPr>
          <p:cNvPr id="496" name="pasted-image.png"/>
          <p:cNvPicPr>
            <a:picLocks noChangeAspect="1"/>
          </p:cNvPicPr>
          <p:nvPr/>
        </p:nvPicPr>
        <p:blipFill>
          <a:blip r:embed="rId3"/>
          <a:stretch>
            <a:fillRect/>
          </a:stretch>
        </p:blipFill>
        <p:spPr>
          <a:xfrm>
            <a:off x="16706507" y="4266591"/>
            <a:ext cx="1981201" cy="1981201"/>
          </a:xfrm>
          <a:prstGeom prst="rect">
            <a:avLst/>
          </a:prstGeom>
          <a:ln w="12700">
            <a:miter lim="400000"/>
          </a:ln>
        </p:spPr>
      </p:pic>
      <p:pic>
        <p:nvPicPr>
          <p:cNvPr id="497" name="pasted-image.png"/>
          <p:cNvPicPr>
            <a:picLocks noChangeAspect="1"/>
          </p:cNvPicPr>
          <p:nvPr/>
        </p:nvPicPr>
        <p:blipFill>
          <a:blip r:embed="rId3"/>
          <a:stretch>
            <a:fillRect/>
          </a:stretch>
        </p:blipFill>
        <p:spPr>
          <a:xfrm>
            <a:off x="16711831" y="5897177"/>
            <a:ext cx="3890146" cy="3890146"/>
          </a:xfrm>
          <a:prstGeom prst="rect">
            <a:avLst/>
          </a:prstGeom>
          <a:ln w="12700">
            <a:miter lim="400000"/>
          </a:ln>
        </p:spPr>
      </p:pic>
      <p:pic>
        <p:nvPicPr>
          <p:cNvPr id="498" name="pasted-image.png"/>
          <p:cNvPicPr>
            <a:picLocks noChangeAspect="1"/>
          </p:cNvPicPr>
          <p:nvPr/>
        </p:nvPicPr>
        <p:blipFill>
          <a:blip r:embed="rId3"/>
          <a:stretch>
            <a:fillRect/>
          </a:stretch>
        </p:blipFill>
        <p:spPr>
          <a:xfrm>
            <a:off x="16655707" y="9236322"/>
            <a:ext cx="1981201" cy="1981201"/>
          </a:xfrm>
          <a:prstGeom prst="rect">
            <a:avLst/>
          </a:prstGeom>
          <a:ln w="12700">
            <a:miter lim="400000"/>
          </a:ln>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Shape 502"/>
          <p:cNvSpPr>
            <a:spLocks noGrp="1"/>
          </p:cNvSpPr>
          <p:nvPr>
            <p:ph type="title"/>
          </p:nvPr>
        </p:nvSpPr>
        <p:spPr>
          <a:prstGeom prst="rect">
            <a:avLst/>
          </a:prstGeom>
        </p:spPr>
        <p:txBody>
          <a:bodyPr/>
          <a:lstStyle/>
          <a:p>
            <a:r>
              <a:t>Exercise 8</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Shape 504"/>
          <p:cNvSpPr>
            <a:spLocks noGrp="1"/>
          </p:cNvSpPr>
          <p:nvPr>
            <p:ph type="title"/>
          </p:nvPr>
        </p:nvSpPr>
        <p:spPr>
          <a:prstGeom prst="rect">
            <a:avLst/>
          </a:prstGeom>
        </p:spPr>
        <p:txBody>
          <a:bodyPr/>
          <a:lstStyle/>
          <a:p>
            <a:r>
              <a:t>Exercise 8</a:t>
            </a:r>
          </a:p>
        </p:txBody>
      </p:sp>
      <p:sp>
        <p:nvSpPr>
          <p:cNvPr id="505" name="Shape 505"/>
          <p:cNvSpPr>
            <a:spLocks noGrp="1"/>
          </p:cNvSpPr>
          <p:nvPr>
            <p:ph type="body" idx="1"/>
          </p:nvPr>
        </p:nvSpPr>
        <p:spPr>
          <a:prstGeom prst="rect">
            <a:avLst/>
          </a:prstGeom>
        </p:spPr>
        <p:txBody>
          <a:bodyPr/>
          <a:lstStyle/>
          <a:p>
            <a:r>
              <a:rPr dirty="0"/>
              <a:t>Which extensions are supported by the Millennium </a:t>
            </a:r>
            <a:r>
              <a:rPr lang="en-US" dirty="0"/>
              <a:t>R4 </a:t>
            </a:r>
            <a:r>
              <a:rPr dirty="0"/>
              <a:t>Patient resource?</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Shape 507"/>
          <p:cNvSpPr>
            <a:spLocks noGrp="1"/>
          </p:cNvSpPr>
          <p:nvPr>
            <p:ph type="title"/>
          </p:nvPr>
        </p:nvSpPr>
        <p:spPr>
          <a:prstGeom prst="rect">
            <a:avLst/>
          </a:prstGeom>
        </p:spPr>
        <p:txBody>
          <a:bodyPr/>
          <a:lstStyle/>
          <a:p>
            <a:r>
              <a:rPr lang="en-US"/>
              <a:t>Exercise 8: Answer</a:t>
            </a:r>
            <a:endParaRPr lang="en-US" dirty="0"/>
          </a:p>
        </p:txBody>
      </p:sp>
      <p:sp>
        <p:nvSpPr>
          <p:cNvPr id="509" name="Shape 509"/>
          <p:cNvSpPr/>
          <p:nvPr/>
        </p:nvSpPr>
        <p:spPr>
          <a:xfrm>
            <a:off x="2932015" y="12263994"/>
            <a:ext cx="17695549" cy="6412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https://docs.oracle.com/en/industries/health/millennium-platform-apis/mfrap/api-patient.html</a:t>
            </a:r>
            <a:endParaRPr u="sng" dirty="0">
              <a:hlinkClick r:id="rId3"/>
            </a:endParaRPr>
          </a:p>
        </p:txBody>
      </p:sp>
      <p:pic>
        <p:nvPicPr>
          <p:cNvPr id="4" name="Picture 3">
            <a:extLst>
              <a:ext uri="{FF2B5EF4-FFF2-40B4-BE49-F238E27FC236}">
                <a16:creationId xmlns:a16="http://schemas.microsoft.com/office/drawing/2014/main" id="{50F4C502-4F1E-2280-F010-43EC5AA670F0}"/>
              </a:ext>
            </a:extLst>
          </p:cNvPr>
          <p:cNvPicPr>
            <a:picLocks noChangeAspect="1"/>
          </p:cNvPicPr>
          <p:nvPr/>
        </p:nvPicPr>
        <p:blipFill>
          <a:blip r:embed="rId5"/>
          <a:stretch>
            <a:fillRect/>
          </a:stretch>
        </p:blipFill>
        <p:spPr>
          <a:xfrm>
            <a:off x="3832930" y="3238500"/>
            <a:ext cx="15893718" cy="8262378"/>
          </a:xfrm>
          <a:prstGeom prst="rect">
            <a:avLst/>
          </a:prstGeom>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Shape 511"/>
          <p:cNvSpPr>
            <a:spLocks noGrp="1"/>
          </p:cNvSpPr>
          <p:nvPr>
            <p:ph type="title"/>
          </p:nvPr>
        </p:nvSpPr>
        <p:spPr>
          <a:prstGeom prst="rect">
            <a:avLst/>
          </a:prstGeom>
        </p:spPr>
        <p:txBody>
          <a:bodyPr/>
          <a:lstStyle/>
          <a:p>
            <a:r>
              <a:t>Exercise 9</a:t>
            </a: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Shape 513"/>
          <p:cNvSpPr>
            <a:spLocks noGrp="1"/>
          </p:cNvSpPr>
          <p:nvPr>
            <p:ph type="title"/>
          </p:nvPr>
        </p:nvSpPr>
        <p:spPr>
          <a:prstGeom prst="rect">
            <a:avLst/>
          </a:prstGeom>
        </p:spPr>
        <p:txBody>
          <a:bodyPr/>
          <a:lstStyle/>
          <a:p>
            <a:r>
              <a:t>Exercise 9</a:t>
            </a:r>
          </a:p>
        </p:txBody>
      </p:sp>
      <p:sp>
        <p:nvSpPr>
          <p:cNvPr id="514" name="Shape 514"/>
          <p:cNvSpPr>
            <a:spLocks noGrp="1"/>
          </p:cNvSpPr>
          <p:nvPr>
            <p:ph type="body" idx="1"/>
          </p:nvPr>
        </p:nvSpPr>
        <p:spPr>
          <a:prstGeom prst="rect">
            <a:avLst/>
          </a:prstGeom>
        </p:spPr>
        <p:txBody>
          <a:bodyPr/>
          <a:lstStyle/>
          <a:p>
            <a:r>
              <a:rPr dirty="0"/>
              <a:t>According to the Conformance statement, does this FHIR server support OAuth? </a:t>
            </a:r>
            <a:r>
              <a:rPr lang="en-US" dirty="0">
                <a:hlinkClick r:id="rId3"/>
              </a:rPr>
              <a:t>https://fhir-open.cerner.com/r4/ec2458f2-1e24-41c8-b71b-0e701af7583d/</a:t>
            </a:r>
            <a:endParaRPr dirty="0"/>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Shape 518"/>
          <p:cNvSpPr>
            <a:spLocks noGrp="1"/>
          </p:cNvSpPr>
          <p:nvPr>
            <p:ph type="title"/>
          </p:nvPr>
        </p:nvSpPr>
        <p:spPr>
          <a:prstGeom prst="rect">
            <a:avLst/>
          </a:prstGeom>
        </p:spPr>
        <p:txBody>
          <a:bodyPr/>
          <a:lstStyle/>
          <a:p>
            <a:r>
              <a:t>Exercise 9: Answer</a:t>
            </a:r>
          </a:p>
        </p:txBody>
      </p:sp>
      <p:sp>
        <p:nvSpPr>
          <p:cNvPr id="519" name="Shape 519"/>
          <p:cNvSpPr>
            <a:spLocks noGrp="1"/>
          </p:cNvSpPr>
          <p:nvPr>
            <p:ph type="body" sz="half" idx="1"/>
          </p:nvPr>
        </p:nvSpPr>
        <p:spPr>
          <a:xfrm>
            <a:off x="1689100" y="3238500"/>
            <a:ext cx="12493797" cy="9207500"/>
          </a:xfrm>
          <a:prstGeom prst="rect">
            <a:avLst/>
          </a:prstGeom>
        </p:spPr>
        <p:txBody>
          <a:bodyPr/>
          <a:lstStyle/>
          <a:p>
            <a:r>
              <a:rPr dirty="0"/>
              <a:t>Answer: No (it’s our open endpoint)</a:t>
            </a:r>
          </a:p>
          <a:p>
            <a:r>
              <a:rPr dirty="0"/>
              <a:t>GET </a:t>
            </a:r>
            <a:r>
              <a:rPr lang="en-US" u="sng" dirty="0">
                <a:hlinkClick r:id="rId2"/>
              </a:rPr>
              <a:t>https://fhir-open.cerner.com/r4/ec2458f2-1e24-41c8-b71b-0e701af7583d/metadata?_format=json</a:t>
            </a:r>
            <a:endParaRPr u="sng" dirty="0">
              <a:hlinkClick r:id="rId3"/>
            </a:endParaRPr>
          </a:p>
        </p:txBody>
      </p:sp>
      <p:pic>
        <p:nvPicPr>
          <p:cNvPr id="3" name="Picture 2">
            <a:extLst>
              <a:ext uri="{FF2B5EF4-FFF2-40B4-BE49-F238E27FC236}">
                <a16:creationId xmlns:a16="http://schemas.microsoft.com/office/drawing/2014/main" id="{ED770F73-BDFF-42CD-BF00-76C3BAA6751C}"/>
              </a:ext>
            </a:extLst>
          </p:cNvPr>
          <p:cNvPicPr>
            <a:picLocks noChangeAspect="1"/>
          </p:cNvPicPr>
          <p:nvPr/>
        </p:nvPicPr>
        <p:blipFill>
          <a:blip r:embed="rId4"/>
          <a:stretch>
            <a:fillRect/>
          </a:stretch>
        </p:blipFill>
        <p:spPr>
          <a:xfrm>
            <a:off x="14182897" y="5325268"/>
            <a:ext cx="9949312" cy="5033963"/>
          </a:xfrm>
          <a:prstGeom prst="rect">
            <a:avLst/>
          </a:prstGeom>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Shape 524"/>
          <p:cNvSpPr/>
          <p:nvPr/>
        </p:nvSpPr>
        <p:spPr>
          <a:xfrm>
            <a:off x="549677" y="12671420"/>
            <a:ext cx="7974940"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2"/>
              </a:defRPr>
            </a:lvl1pPr>
          </a:lstStyle>
          <a:p>
            <a:pPr>
              <a:defRPr u="none"/>
            </a:pPr>
            <a:r>
              <a:rPr lang="en-US" u="sng" dirty="0">
                <a:hlinkClick r:id="rId3"/>
              </a:rPr>
              <a:t>http://hl7.org/fhir/conformance-rules.html</a:t>
            </a:r>
            <a:endParaRPr u="sng" dirty="0">
              <a:hlinkClick r:id="rId2"/>
            </a:endParaRPr>
          </a:p>
        </p:txBody>
      </p:sp>
      <p:sp>
        <p:nvSpPr>
          <p:cNvPr id="9" name="TextBox 8">
            <a:extLst>
              <a:ext uri="{FF2B5EF4-FFF2-40B4-BE49-F238E27FC236}">
                <a16:creationId xmlns:a16="http://schemas.microsoft.com/office/drawing/2014/main" id="{A57890BC-2DF8-44F0-9F72-6EEC59219551}"/>
              </a:ext>
            </a:extLst>
          </p:cNvPr>
          <p:cNvSpPr txBox="1"/>
          <p:nvPr/>
        </p:nvSpPr>
        <p:spPr>
          <a:xfrm>
            <a:off x="1323975" y="10382250"/>
            <a:ext cx="21736050" cy="1631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85800" indent="-685800" algn="l">
              <a:buFont typeface="Arial" panose="020B0604020202020204" pitchFamily="34" charset="0"/>
              <a:buChar char="•"/>
            </a:pPr>
            <a:r>
              <a:rPr lang="en-US" dirty="0">
                <a:solidFill>
                  <a:srgbClr val="212121"/>
                </a:solidFill>
              </a:rPr>
              <a:t>GET </a:t>
            </a:r>
            <a:r>
              <a:rPr lang="en-US" b="0" i="0" dirty="0">
                <a:solidFill>
                  <a:srgbClr val="212121"/>
                </a:solidFill>
                <a:effectLst/>
                <a:hlinkClick r:id="rId4"/>
              </a:rPr>
              <a:t>https://fhir-ehr-code.cerner.com/r4/ec2458f2-1e24-41c8-b71b-0e701af7583d/metadata?_format=json</a:t>
            </a:r>
            <a:endParaRPr lang="en-US" b="0" i="0" dirty="0">
              <a:solidFill>
                <a:srgbClr val="212121"/>
              </a:solidFill>
              <a:effectLst/>
            </a:endParaRPr>
          </a:p>
        </p:txBody>
      </p:sp>
      <p:pic>
        <p:nvPicPr>
          <p:cNvPr id="4" name="Picture 3">
            <a:extLst>
              <a:ext uri="{FF2B5EF4-FFF2-40B4-BE49-F238E27FC236}">
                <a16:creationId xmlns:a16="http://schemas.microsoft.com/office/drawing/2014/main" id="{4CF9B21F-7873-02C4-EDF1-287C32FD9658}"/>
              </a:ext>
            </a:extLst>
          </p:cNvPr>
          <p:cNvPicPr>
            <a:picLocks noChangeAspect="1"/>
          </p:cNvPicPr>
          <p:nvPr/>
        </p:nvPicPr>
        <p:blipFill>
          <a:blip r:embed="rId5"/>
          <a:stretch>
            <a:fillRect/>
          </a:stretch>
        </p:blipFill>
        <p:spPr>
          <a:xfrm>
            <a:off x="4512402" y="1702534"/>
            <a:ext cx="15359195" cy="5231286"/>
          </a:xfrm>
          <a:prstGeom prst="rect">
            <a:avLst/>
          </a:prstGeom>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529" name="Shape 529"/>
          <p:cNvSpPr/>
          <p:nvPr/>
        </p:nvSpPr>
        <p:spPr>
          <a:xfrm>
            <a:off x="10002564" y="6197599"/>
            <a:ext cx="463287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Profiles</a:t>
            </a:r>
          </a:p>
        </p:txBody>
      </p:sp>
      <p:sp>
        <p:nvSpPr>
          <p:cNvPr id="530" name="Shape 530"/>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Shape 532"/>
          <p:cNvSpPr>
            <a:spLocks noGrp="1"/>
          </p:cNvSpPr>
          <p:nvPr>
            <p:ph type="title"/>
          </p:nvPr>
        </p:nvSpPr>
        <p:spPr>
          <a:prstGeom prst="rect">
            <a:avLst/>
          </a:prstGeom>
        </p:spPr>
        <p:txBody>
          <a:bodyPr/>
          <a:lstStyle/>
          <a:p>
            <a:r>
              <a:t>What</a:t>
            </a:r>
          </a:p>
        </p:txBody>
      </p:sp>
      <p:sp>
        <p:nvSpPr>
          <p:cNvPr id="533" name="Shape 533"/>
          <p:cNvSpPr/>
          <p:nvPr/>
        </p:nvSpPr>
        <p:spPr>
          <a:xfrm>
            <a:off x="521459" y="12782550"/>
            <a:ext cx="8558433"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https://hl7.org/fhir/profiling.html#profile-uses</a:t>
            </a:r>
            <a:endParaRPr u="sng" dirty="0">
              <a:hlinkClick r:id="rId3"/>
            </a:endParaRPr>
          </a:p>
        </p:txBody>
      </p:sp>
      <p:pic>
        <p:nvPicPr>
          <p:cNvPr id="3" name="Picture 2">
            <a:extLst>
              <a:ext uri="{FF2B5EF4-FFF2-40B4-BE49-F238E27FC236}">
                <a16:creationId xmlns:a16="http://schemas.microsoft.com/office/drawing/2014/main" id="{7A18D3AF-02EE-4463-A239-503758CCE27B}"/>
              </a:ext>
            </a:extLst>
          </p:cNvPr>
          <p:cNvPicPr>
            <a:picLocks noChangeAspect="1"/>
          </p:cNvPicPr>
          <p:nvPr/>
        </p:nvPicPr>
        <p:blipFill>
          <a:blip r:embed="rId5"/>
          <a:stretch>
            <a:fillRect/>
          </a:stretch>
        </p:blipFill>
        <p:spPr>
          <a:xfrm>
            <a:off x="1282062" y="3981209"/>
            <a:ext cx="21819876" cy="5715481"/>
          </a:xfrm>
          <a:prstGeom prst="rect">
            <a:avLst/>
          </a:prstGeom>
        </p:spPr>
      </p:pic>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Shape 538"/>
          <p:cNvSpPr>
            <a:spLocks noGrp="1"/>
          </p:cNvSpPr>
          <p:nvPr>
            <p:ph type="title"/>
          </p:nvPr>
        </p:nvSpPr>
        <p:spPr>
          <a:prstGeom prst="rect">
            <a:avLst/>
          </a:prstGeom>
        </p:spPr>
        <p:txBody>
          <a:bodyPr/>
          <a:lstStyle/>
          <a:p>
            <a:r>
              <a:t>Rules</a:t>
            </a:r>
          </a:p>
        </p:txBody>
      </p:sp>
      <p:sp>
        <p:nvSpPr>
          <p:cNvPr id="539" name="Shape 539"/>
          <p:cNvSpPr>
            <a:spLocks noGrp="1"/>
          </p:cNvSpPr>
          <p:nvPr>
            <p:ph type="body" idx="1"/>
          </p:nvPr>
        </p:nvSpPr>
        <p:spPr>
          <a:prstGeom prst="rect">
            <a:avLst/>
          </a:prstGeom>
        </p:spPr>
        <p:txBody>
          <a:bodyPr/>
          <a:lstStyle/>
          <a:p>
            <a:pPr marL="495300" indent="-495300" defTabSz="643889">
              <a:spcBef>
                <a:spcPts val="4600"/>
              </a:spcBef>
              <a:defRPr sz="4055"/>
            </a:pPr>
            <a:r>
              <a:rPr dirty="0"/>
              <a:t>Detailed contract</a:t>
            </a:r>
          </a:p>
          <a:p>
            <a:pPr marL="495300" indent="-495300" defTabSz="643889">
              <a:spcBef>
                <a:spcPts val="4600"/>
              </a:spcBef>
              <a:defRPr sz="4055"/>
            </a:pPr>
            <a:r>
              <a:rPr dirty="0"/>
              <a:t>Parameters, operations, </a:t>
            </a:r>
            <a:r>
              <a:rPr dirty="0" err="1"/>
              <a:t>api</a:t>
            </a:r>
            <a:r>
              <a:rPr dirty="0"/>
              <a:t> calls</a:t>
            </a:r>
          </a:p>
          <a:p>
            <a:pPr marL="495300" indent="-495300" defTabSz="643889">
              <a:spcBef>
                <a:spcPts val="4600"/>
              </a:spcBef>
              <a:defRPr sz="4055"/>
            </a:pPr>
            <a:r>
              <a:rPr dirty="0"/>
              <a:t>Fields, cardinality</a:t>
            </a:r>
          </a:p>
          <a:p>
            <a:pPr marL="495300" indent="-495300" defTabSz="643889">
              <a:spcBef>
                <a:spcPts val="4600"/>
              </a:spcBef>
              <a:defRPr sz="4055"/>
            </a:pPr>
            <a:r>
              <a:rPr dirty="0"/>
              <a:t>Terminology binding, extensions</a:t>
            </a:r>
          </a:p>
          <a:p>
            <a:pPr marL="495300" indent="-495300" defTabSz="643889">
              <a:spcBef>
                <a:spcPts val="4600"/>
              </a:spcBef>
              <a:defRPr sz="4055"/>
            </a:pPr>
            <a:r>
              <a:rPr dirty="0"/>
              <a:t>Must be compatible with core</a:t>
            </a:r>
          </a:p>
          <a:p>
            <a:pPr marL="990600" lvl="1" indent="-495300" defTabSz="643889">
              <a:spcBef>
                <a:spcPts val="4600"/>
              </a:spcBef>
              <a:defRPr sz="4055"/>
            </a:pPr>
            <a:r>
              <a:rPr dirty="0"/>
              <a:t>Can’t change required binding</a:t>
            </a:r>
          </a:p>
          <a:p>
            <a:pPr marL="990600" lvl="1" indent="-495300" defTabSz="643889">
              <a:spcBef>
                <a:spcPts val="4600"/>
              </a:spcBef>
              <a:defRPr sz="4055"/>
            </a:pPr>
            <a:r>
              <a:rPr dirty="0"/>
              <a:t>Cardinality can restrict more (1..* to 1..1 but not 0..*)</a:t>
            </a:r>
          </a:p>
          <a:p>
            <a:pPr marL="990600" lvl="1" indent="-495300" defTabSz="643889">
              <a:spcBef>
                <a:spcPts val="4600"/>
              </a:spcBef>
              <a:defRPr sz="4055"/>
            </a:pPr>
            <a:r>
              <a:rPr dirty="0"/>
              <a:t>Can’t rename fields </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3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3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3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3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53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53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53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539">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5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 grpId="0" build="p" bldLvl="5" animBg="1" advAuto="0"/>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191BC"/>
        </a:solidFill>
        <a:effectLst/>
      </p:bgPr>
    </p:bg>
    <p:spTree>
      <p:nvGrpSpPr>
        <p:cNvPr id="1" name=""/>
        <p:cNvGrpSpPr/>
        <p:nvPr/>
      </p:nvGrpSpPr>
      <p:grpSpPr>
        <a:xfrm>
          <a:off x="0" y="0"/>
          <a:ext cx="0" cy="0"/>
          <a:chOff x="0" y="0"/>
          <a:chExt cx="0" cy="0"/>
        </a:xfrm>
      </p:grpSpPr>
      <p:sp>
        <p:nvSpPr>
          <p:cNvPr id="553" name="Shape 553"/>
          <p:cNvSpPr/>
          <p:nvPr/>
        </p:nvSpPr>
        <p:spPr>
          <a:xfrm>
            <a:off x="8873824" y="6197599"/>
            <a:ext cx="6890352" cy="15748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9700" b="1">
                <a:solidFill>
                  <a:srgbClr val="FFFFFF"/>
                </a:solidFill>
                <a:latin typeface="+mj-lt"/>
                <a:ea typeface="+mj-ea"/>
                <a:cs typeface="+mj-cs"/>
                <a:sym typeface="Helvetica"/>
              </a:defRPr>
            </a:lvl1pPr>
          </a:lstStyle>
          <a:p>
            <a:r>
              <a:t>Questions?</a:t>
            </a:r>
          </a:p>
        </p:txBody>
      </p:sp>
      <p:sp>
        <p:nvSpPr>
          <p:cNvPr id="554" name="Shape 554"/>
          <p:cNvSpPr/>
          <p:nvPr/>
        </p:nvSpPr>
        <p:spPr>
          <a:xfrm>
            <a:off x="106484" y="133974"/>
            <a:ext cx="24171032" cy="13448052"/>
          </a:xfrm>
          <a:prstGeom prst="rect">
            <a:avLst/>
          </a:prstGeom>
          <a:ln w="266700">
            <a:solidFill>
              <a:srgbClr val="FFFFFF"/>
            </a:solidFill>
            <a:miter lim="400000"/>
          </a:ln>
          <a:effectLst>
            <a:outerShdw blurRad="38100" dist="25400" dir="5400000" rotWithShape="0">
              <a:srgbClr val="000000">
                <a:alpha val="50000"/>
              </a:srgbClr>
            </a:outerShdw>
          </a:effectLst>
        </p:spPr>
        <p:txBody>
          <a:bodyPr lIns="50800" tIns="50800" rIns="50800" bIns="50800" anchor="ctr"/>
          <a:lstStyle/>
          <a:p>
            <a:pPr>
              <a:defRPr sz="3200">
                <a:solidFill>
                  <a:srgbClr val="FFFFFF"/>
                </a:solidFill>
              </a:defRPr>
            </a:pPr>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Shape 556"/>
          <p:cNvSpPr>
            <a:spLocks noGrp="1"/>
          </p:cNvSpPr>
          <p:nvPr>
            <p:ph type="title"/>
          </p:nvPr>
        </p:nvSpPr>
        <p:spPr>
          <a:prstGeom prst="rect">
            <a:avLst/>
          </a:prstGeom>
        </p:spPr>
        <p:txBody>
          <a:bodyPr/>
          <a:lstStyle/>
          <a:p>
            <a:r>
              <a:t>More Exercises!</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 name="Shape 558"/>
          <p:cNvSpPr>
            <a:spLocks noGrp="1"/>
          </p:cNvSpPr>
          <p:nvPr>
            <p:ph type="title"/>
          </p:nvPr>
        </p:nvSpPr>
        <p:spPr>
          <a:prstGeom prst="rect">
            <a:avLst/>
          </a:prstGeom>
        </p:spPr>
        <p:txBody>
          <a:bodyPr/>
          <a:lstStyle/>
          <a:p>
            <a:r>
              <a:t>Exercise 10</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Shape 560"/>
          <p:cNvSpPr>
            <a:spLocks noGrp="1"/>
          </p:cNvSpPr>
          <p:nvPr>
            <p:ph type="title"/>
          </p:nvPr>
        </p:nvSpPr>
        <p:spPr>
          <a:prstGeom prst="rect">
            <a:avLst/>
          </a:prstGeom>
        </p:spPr>
        <p:txBody>
          <a:bodyPr/>
          <a:lstStyle/>
          <a:p>
            <a:r>
              <a:t>Exercise 10</a:t>
            </a:r>
          </a:p>
        </p:txBody>
      </p:sp>
      <p:sp>
        <p:nvSpPr>
          <p:cNvPr id="561" name="Shape 561"/>
          <p:cNvSpPr>
            <a:spLocks noGrp="1"/>
          </p:cNvSpPr>
          <p:nvPr>
            <p:ph type="body" idx="1"/>
          </p:nvPr>
        </p:nvSpPr>
        <p:spPr>
          <a:prstGeom prst="rect">
            <a:avLst/>
          </a:prstGeom>
        </p:spPr>
        <p:txBody>
          <a:bodyPr/>
          <a:lstStyle/>
          <a:p>
            <a:r>
              <a:rPr dirty="0"/>
              <a:t>Does </a:t>
            </a:r>
            <a:r>
              <a:rPr lang="en-US" dirty="0"/>
              <a:t>Fredrick</a:t>
            </a:r>
            <a:r>
              <a:rPr dirty="0"/>
              <a:t> Smart</a:t>
            </a:r>
            <a:r>
              <a:rPr lang="en-US" dirty="0"/>
              <a:t> (id = </a:t>
            </a:r>
            <a:r>
              <a:rPr lang="en-US" b="0" i="0" dirty="0">
                <a:solidFill>
                  <a:srgbClr val="212121"/>
                </a:solidFill>
                <a:effectLst/>
              </a:rPr>
              <a:t>12724070</a:t>
            </a:r>
            <a:r>
              <a:rPr lang="en-US" dirty="0"/>
              <a:t>)</a:t>
            </a:r>
            <a:r>
              <a:rPr dirty="0"/>
              <a:t> have a normal blood pressure?</a:t>
            </a:r>
          </a:p>
          <a:p>
            <a:pPr lvl="1"/>
            <a:r>
              <a:rPr dirty="0"/>
              <a:t>Hint: LOINC </a:t>
            </a:r>
            <a:r>
              <a:rPr lang="en-US" b="0" i="0" dirty="0">
                <a:solidFill>
                  <a:srgbClr val="212121"/>
                </a:solidFill>
                <a:effectLst/>
              </a:rPr>
              <a:t>85354-9</a:t>
            </a:r>
            <a:r>
              <a:rPr dirty="0"/>
              <a:t> can be used to find blood pressures</a:t>
            </a: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Shape 563"/>
          <p:cNvSpPr>
            <a:spLocks noGrp="1"/>
          </p:cNvSpPr>
          <p:nvPr>
            <p:ph type="title"/>
          </p:nvPr>
        </p:nvSpPr>
        <p:spPr>
          <a:prstGeom prst="rect">
            <a:avLst/>
          </a:prstGeom>
        </p:spPr>
        <p:txBody>
          <a:bodyPr/>
          <a:lstStyle/>
          <a:p>
            <a:r>
              <a:t>Exercise 10: Answer</a:t>
            </a:r>
          </a:p>
        </p:txBody>
      </p:sp>
      <p:sp>
        <p:nvSpPr>
          <p:cNvPr id="564" name="Shape 564"/>
          <p:cNvSpPr>
            <a:spLocks noGrp="1"/>
          </p:cNvSpPr>
          <p:nvPr>
            <p:ph type="body" idx="1"/>
          </p:nvPr>
        </p:nvSpPr>
        <p:spPr>
          <a:prstGeom prst="rect">
            <a:avLst/>
          </a:prstGeom>
        </p:spPr>
        <p:txBody>
          <a:bodyPr>
            <a:normAutofit/>
          </a:bodyPr>
          <a:lstStyle/>
          <a:p>
            <a:r>
              <a:rPr lang="en-US" dirty="0"/>
              <a:t>Hard to tell (Unknown/75)</a:t>
            </a:r>
          </a:p>
          <a:p>
            <a:r>
              <a:rPr dirty="0"/>
              <a:t>GET </a:t>
            </a:r>
            <a:r>
              <a:rPr lang="en-US" u="sng" dirty="0">
                <a:hlinkClick r:id="rId3"/>
              </a:rPr>
              <a:t>https://fhir-open.cerner.com/r4/ec2458f2-1e24-41c8-b71b-0e701af7583d/Observation?patient=12724070&amp;code=http://loinc.org|85354-9&amp;_format=json</a:t>
            </a:r>
            <a:r>
              <a:rPr dirty="0"/>
              <a:t>(code: http://loinc.org|</a:t>
            </a:r>
            <a:r>
              <a:rPr lang="en-US" b="0" i="0" dirty="0">
                <a:solidFill>
                  <a:srgbClr val="212121"/>
                </a:solidFill>
                <a:effectLst/>
              </a:rPr>
              <a:t>85354-9</a:t>
            </a:r>
            <a:r>
              <a:rPr dirty="0"/>
              <a:t>)</a:t>
            </a: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Shape 563"/>
          <p:cNvSpPr>
            <a:spLocks noGrp="1"/>
          </p:cNvSpPr>
          <p:nvPr>
            <p:ph type="title"/>
          </p:nvPr>
        </p:nvSpPr>
        <p:spPr>
          <a:prstGeom prst="rect">
            <a:avLst/>
          </a:prstGeom>
        </p:spPr>
        <p:txBody>
          <a:bodyPr/>
          <a:lstStyle/>
          <a:p>
            <a:r>
              <a:t>Exercise 10: Answer</a:t>
            </a:r>
          </a:p>
        </p:txBody>
      </p:sp>
      <p:sp>
        <p:nvSpPr>
          <p:cNvPr id="564" name="Shape 564"/>
          <p:cNvSpPr>
            <a:spLocks noGrp="1"/>
          </p:cNvSpPr>
          <p:nvPr>
            <p:ph type="body" idx="1"/>
          </p:nvPr>
        </p:nvSpPr>
        <p:spPr>
          <a:xfrm>
            <a:off x="1689100" y="3238500"/>
            <a:ext cx="22047200" cy="5924550"/>
          </a:xfrm>
          <a:prstGeom prst="rect">
            <a:avLst/>
          </a:prstGeom>
        </p:spPr>
        <p:txBody>
          <a:bodyPr>
            <a:normAutofit/>
          </a:bodyPr>
          <a:lstStyle/>
          <a:p>
            <a:r>
              <a:rPr lang="en-US" dirty="0"/>
              <a:t>Cannot use individual codes for blood pressure like we could in DSTU 2.</a:t>
            </a:r>
          </a:p>
          <a:p>
            <a:r>
              <a:rPr lang="en-US" dirty="0"/>
              <a:t>GET </a:t>
            </a:r>
            <a:r>
              <a:rPr lang="en-US" dirty="0">
                <a:hlinkClick r:id="rId3"/>
              </a:rPr>
              <a:t>https://fhir-open.cerner.com/r4/ec2458f2-1e24-41c8-b71b-0e701af7583d/Observation?patient=12724070&amp;code=http://loinc.org|8480-6,http://loinc.org|8462-4&amp;_format=json</a:t>
            </a:r>
            <a:endParaRPr dirty="0"/>
          </a:p>
        </p:txBody>
      </p:sp>
      <p:pic>
        <p:nvPicPr>
          <p:cNvPr id="3" name="Picture 2">
            <a:extLst>
              <a:ext uri="{FF2B5EF4-FFF2-40B4-BE49-F238E27FC236}">
                <a16:creationId xmlns:a16="http://schemas.microsoft.com/office/drawing/2014/main" id="{A3643C26-FAFA-4226-A3AE-461986C1F723}"/>
              </a:ext>
            </a:extLst>
          </p:cNvPr>
          <p:cNvPicPr>
            <a:picLocks noChangeAspect="1"/>
          </p:cNvPicPr>
          <p:nvPr/>
        </p:nvPicPr>
        <p:blipFill>
          <a:blip r:embed="rId4"/>
          <a:stretch>
            <a:fillRect/>
          </a:stretch>
        </p:blipFill>
        <p:spPr>
          <a:xfrm>
            <a:off x="1689100" y="8681861"/>
            <a:ext cx="15074900" cy="3692096"/>
          </a:xfrm>
          <a:prstGeom prst="rect">
            <a:avLst/>
          </a:prstGeom>
        </p:spPr>
      </p:pic>
    </p:spTree>
    <p:extLst>
      <p:ext uri="{BB962C8B-B14F-4D97-AF65-F5344CB8AC3E}">
        <p14:creationId xmlns:p14="http://schemas.microsoft.com/office/powerpoint/2010/main" val="2032465039"/>
      </p:ext>
    </p:extLst>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 name="Shape 572"/>
          <p:cNvSpPr/>
          <p:nvPr/>
        </p:nvSpPr>
        <p:spPr>
          <a:xfrm>
            <a:off x="795337" y="12353873"/>
            <a:ext cx="19301759" cy="641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3500" u="sng">
                <a:hlinkClick r:id="rId3"/>
              </a:defRPr>
            </a:lvl1pPr>
          </a:lstStyle>
          <a:p>
            <a:pPr>
              <a:defRPr u="none"/>
            </a:pPr>
            <a:r>
              <a:rPr lang="en-US" u="sng" dirty="0">
                <a:hlinkClick r:id="rId4"/>
              </a:rPr>
              <a:t>https://docs.oracle.com/en/industries/health/millennium-platform-apis/mfrap/op-observation-get.html</a:t>
            </a:r>
            <a:endParaRPr u="sng" dirty="0">
              <a:hlinkClick r:id="rId3"/>
            </a:endParaRPr>
          </a:p>
        </p:txBody>
      </p:sp>
      <p:sp>
        <p:nvSpPr>
          <p:cNvPr id="5" name="Rectangle 4">
            <a:extLst>
              <a:ext uri="{FF2B5EF4-FFF2-40B4-BE49-F238E27FC236}">
                <a16:creationId xmlns:a16="http://schemas.microsoft.com/office/drawing/2014/main" id="{4F5567DB-ED12-94B1-7BB8-D450C0F5DF50}"/>
              </a:ext>
            </a:extLst>
          </p:cNvPr>
          <p:cNvSpPr/>
          <p:nvPr/>
        </p:nvSpPr>
        <p:spPr>
          <a:xfrm>
            <a:off x="9024730" y="6042991"/>
            <a:ext cx="11728174" cy="2325757"/>
          </a:xfrm>
          <a:prstGeom prst="rect">
            <a:avLst/>
          </a:prstGeom>
          <a:noFill/>
          <a:ln w="5715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Light"/>
            </a:endParaRPr>
          </a:p>
        </p:txBody>
      </p:sp>
      <p:pic>
        <p:nvPicPr>
          <p:cNvPr id="4" name="Picture 3">
            <a:extLst>
              <a:ext uri="{FF2B5EF4-FFF2-40B4-BE49-F238E27FC236}">
                <a16:creationId xmlns:a16="http://schemas.microsoft.com/office/drawing/2014/main" id="{2C8D92D0-0B1B-D53B-D450-1A88F08FCA87}"/>
              </a:ext>
            </a:extLst>
          </p:cNvPr>
          <p:cNvPicPr>
            <a:picLocks noChangeAspect="1"/>
          </p:cNvPicPr>
          <p:nvPr/>
        </p:nvPicPr>
        <p:blipFill>
          <a:blip r:embed="rId5"/>
          <a:stretch>
            <a:fillRect/>
          </a:stretch>
        </p:blipFill>
        <p:spPr>
          <a:xfrm>
            <a:off x="3232487" y="2194861"/>
            <a:ext cx="17919026" cy="9326277"/>
          </a:xfrm>
          <a:prstGeom prst="rect">
            <a:avLst/>
          </a:prstGeom>
        </p:spPr>
      </p:pic>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Shape 575"/>
          <p:cNvSpPr>
            <a:spLocks noGrp="1"/>
          </p:cNvSpPr>
          <p:nvPr>
            <p:ph type="title"/>
          </p:nvPr>
        </p:nvSpPr>
        <p:spPr>
          <a:prstGeom prst="rect">
            <a:avLst/>
          </a:prstGeom>
        </p:spPr>
        <p:txBody>
          <a:bodyPr/>
          <a:lstStyle/>
          <a:p>
            <a:r>
              <a:t>Exercise 11</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Shape 577"/>
          <p:cNvSpPr>
            <a:spLocks noGrp="1"/>
          </p:cNvSpPr>
          <p:nvPr>
            <p:ph type="title"/>
          </p:nvPr>
        </p:nvSpPr>
        <p:spPr>
          <a:prstGeom prst="rect">
            <a:avLst/>
          </a:prstGeom>
        </p:spPr>
        <p:txBody>
          <a:bodyPr/>
          <a:lstStyle/>
          <a:p>
            <a:r>
              <a:rPr dirty="0"/>
              <a:t>Exercise 11</a:t>
            </a:r>
          </a:p>
        </p:txBody>
      </p:sp>
      <p:sp>
        <p:nvSpPr>
          <p:cNvPr id="578" name="Shape 578"/>
          <p:cNvSpPr>
            <a:spLocks noGrp="1"/>
          </p:cNvSpPr>
          <p:nvPr>
            <p:ph type="body" idx="1"/>
          </p:nvPr>
        </p:nvSpPr>
        <p:spPr>
          <a:prstGeom prst="rect">
            <a:avLst/>
          </a:prstGeom>
        </p:spPr>
        <p:txBody>
          <a:bodyPr/>
          <a:lstStyle/>
          <a:p>
            <a:r>
              <a:rPr dirty="0"/>
              <a:t>Is </a:t>
            </a:r>
            <a:r>
              <a:rPr lang="en-US" dirty="0"/>
              <a:t>Hailey</a:t>
            </a:r>
            <a:r>
              <a:rPr dirty="0"/>
              <a:t> Smart</a:t>
            </a:r>
            <a:r>
              <a:rPr lang="en-US" dirty="0"/>
              <a:t> (id = 12724068)</a:t>
            </a:r>
            <a:r>
              <a:rPr dirty="0"/>
              <a:t> currently taking insulin?</a:t>
            </a:r>
            <a:endParaRPr lang="en-US" dirty="0"/>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Shape 580"/>
          <p:cNvSpPr>
            <a:spLocks noGrp="1"/>
          </p:cNvSpPr>
          <p:nvPr>
            <p:ph type="title"/>
          </p:nvPr>
        </p:nvSpPr>
        <p:spPr>
          <a:prstGeom prst="rect">
            <a:avLst/>
          </a:prstGeom>
        </p:spPr>
        <p:txBody>
          <a:bodyPr/>
          <a:lstStyle/>
          <a:p>
            <a:r>
              <a:t>Exercise 11: Answer</a:t>
            </a:r>
          </a:p>
        </p:txBody>
      </p:sp>
      <p:sp>
        <p:nvSpPr>
          <p:cNvPr id="581" name="Shape 581"/>
          <p:cNvSpPr>
            <a:spLocks noGrp="1"/>
          </p:cNvSpPr>
          <p:nvPr>
            <p:ph type="body" idx="1"/>
          </p:nvPr>
        </p:nvSpPr>
        <p:spPr>
          <a:prstGeom prst="rect">
            <a:avLst/>
          </a:prstGeom>
        </p:spPr>
        <p:txBody>
          <a:bodyPr/>
          <a:lstStyle/>
          <a:p>
            <a:r>
              <a:rPr dirty="0"/>
              <a:t>Answer: </a:t>
            </a:r>
            <a:r>
              <a:rPr lang="en-US" dirty="0"/>
              <a:t>Its ordered, but not currently being administered at the hospital probably due to being a home medication</a:t>
            </a:r>
            <a:endParaRPr dirty="0"/>
          </a:p>
          <a:p>
            <a:r>
              <a:rPr dirty="0"/>
              <a:t>GET </a:t>
            </a:r>
            <a:r>
              <a:rPr lang="en-US" dirty="0">
                <a:hlinkClick r:id="rId2"/>
              </a:rPr>
              <a:t>https://fhir-open.cerner.com/r4/ec2458f2-1e24-41c8-b71b-0e701af7583d/MedicationAdministration?patient=12724068&amp;status=in-progress&amp;_format=json</a:t>
            </a:r>
            <a:endParaRPr lang="en-US" dirty="0"/>
          </a:p>
          <a:p>
            <a:r>
              <a:rPr lang="en-US" dirty="0"/>
              <a:t>GET </a:t>
            </a:r>
            <a:r>
              <a:rPr lang="en-US" dirty="0">
                <a:hlinkClick r:id="rId3"/>
              </a:rPr>
              <a:t>https://fhir-open.cerner.com/r4/ec2458f2-1e24-41c8-b71b-0e701af7583d/MedicationRequest?patient=12724068&amp;status=active&amp;_format=json</a:t>
            </a:r>
            <a:endParaRPr lang="en-US" dirty="0"/>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Shape 583"/>
          <p:cNvSpPr>
            <a:spLocks noGrp="1"/>
          </p:cNvSpPr>
          <p:nvPr>
            <p:ph type="title"/>
          </p:nvPr>
        </p:nvSpPr>
        <p:spPr>
          <a:prstGeom prst="rect">
            <a:avLst/>
          </a:prstGeom>
        </p:spPr>
        <p:txBody>
          <a:bodyPr/>
          <a:lstStyle/>
          <a:p>
            <a:r>
              <a:t>Exercise 12</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Shape 585"/>
          <p:cNvSpPr>
            <a:spLocks noGrp="1"/>
          </p:cNvSpPr>
          <p:nvPr>
            <p:ph type="title"/>
          </p:nvPr>
        </p:nvSpPr>
        <p:spPr>
          <a:prstGeom prst="rect">
            <a:avLst/>
          </a:prstGeom>
        </p:spPr>
        <p:txBody>
          <a:bodyPr/>
          <a:lstStyle/>
          <a:p>
            <a:r>
              <a:t>Exercise 12</a:t>
            </a:r>
          </a:p>
        </p:txBody>
      </p:sp>
      <p:sp>
        <p:nvSpPr>
          <p:cNvPr id="586" name="Shape 586"/>
          <p:cNvSpPr>
            <a:spLocks noGrp="1"/>
          </p:cNvSpPr>
          <p:nvPr>
            <p:ph type="body" idx="1"/>
          </p:nvPr>
        </p:nvSpPr>
        <p:spPr>
          <a:prstGeom prst="rect">
            <a:avLst/>
          </a:prstGeom>
        </p:spPr>
        <p:txBody>
          <a:bodyPr/>
          <a:lstStyle/>
          <a:p>
            <a:r>
              <a:rPr dirty="0"/>
              <a:t>Wh</a:t>
            </a:r>
            <a:r>
              <a:rPr lang="en-US" dirty="0"/>
              <a:t>o</a:t>
            </a:r>
            <a:r>
              <a:rPr dirty="0"/>
              <a:t> has a pacemaker: </a:t>
            </a:r>
            <a:r>
              <a:rPr lang="en-US" dirty="0"/>
              <a:t>Sandy Smart (id= 12742399) or Nancy Smart (id = 12724066)</a:t>
            </a:r>
            <a:r>
              <a:rPr dirty="0"/>
              <a:t>?</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Shape 588"/>
          <p:cNvSpPr>
            <a:spLocks noGrp="1"/>
          </p:cNvSpPr>
          <p:nvPr>
            <p:ph type="title"/>
          </p:nvPr>
        </p:nvSpPr>
        <p:spPr>
          <a:prstGeom prst="rect">
            <a:avLst/>
          </a:prstGeom>
        </p:spPr>
        <p:txBody>
          <a:bodyPr/>
          <a:lstStyle/>
          <a:p>
            <a:r>
              <a:t>Exercise 12: Answer</a:t>
            </a:r>
          </a:p>
        </p:txBody>
      </p:sp>
      <p:sp>
        <p:nvSpPr>
          <p:cNvPr id="589" name="Shape 589"/>
          <p:cNvSpPr>
            <a:spLocks noGrp="1"/>
          </p:cNvSpPr>
          <p:nvPr>
            <p:ph type="body" idx="1"/>
          </p:nvPr>
        </p:nvSpPr>
        <p:spPr>
          <a:prstGeom prst="rect">
            <a:avLst/>
          </a:prstGeom>
        </p:spPr>
        <p:txBody>
          <a:bodyPr/>
          <a:lstStyle/>
          <a:p>
            <a:r>
              <a:rPr lang="en-US" dirty="0"/>
              <a:t>Nancy Smart</a:t>
            </a:r>
            <a:endParaRPr dirty="0"/>
          </a:p>
          <a:p>
            <a:r>
              <a:rPr dirty="0"/>
              <a:t>GET </a:t>
            </a:r>
            <a:r>
              <a:rPr lang="en-US" u="sng" dirty="0">
                <a:hlinkClick r:id="rId2"/>
              </a:rPr>
              <a:t>https://fhir-open.cerner.com/r4/ec2458f2-1e24-41c8-b71b-0e701af7583d/Device?patient=12724066&amp;_format=json</a:t>
            </a:r>
            <a:r>
              <a:rPr dirty="0"/>
              <a:t> </a:t>
            </a: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Shape 591"/>
          <p:cNvSpPr>
            <a:spLocks noGrp="1"/>
          </p:cNvSpPr>
          <p:nvPr>
            <p:ph type="title"/>
          </p:nvPr>
        </p:nvSpPr>
        <p:spPr>
          <a:prstGeom prst="rect">
            <a:avLst/>
          </a:prstGeom>
        </p:spPr>
        <p:txBody>
          <a:bodyPr/>
          <a:lstStyle/>
          <a:p>
            <a:r>
              <a:t>Exercise 13</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Shape 593"/>
          <p:cNvSpPr>
            <a:spLocks noGrp="1"/>
          </p:cNvSpPr>
          <p:nvPr>
            <p:ph type="title"/>
          </p:nvPr>
        </p:nvSpPr>
        <p:spPr>
          <a:prstGeom prst="rect">
            <a:avLst/>
          </a:prstGeom>
        </p:spPr>
        <p:txBody>
          <a:bodyPr/>
          <a:lstStyle/>
          <a:p>
            <a:r>
              <a:rPr dirty="0"/>
              <a:t>Exercise 13</a:t>
            </a:r>
          </a:p>
        </p:txBody>
      </p:sp>
      <p:sp>
        <p:nvSpPr>
          <p:cNvPr id="594" name="Shape 594"/>
          <p:cNvSpPr>
            <a:spLocks noGrp="1"/>
          </p:cNvSpPr>
          <p:nvPr>
            <p:ph type="body" idx="1"/>
          </p:nvPr>
        </p:nvSpPr>
        <p:spPr>
          <a:prstGeom prst="rect">
            <a:avLst/>
          </a:prstGeom>
        </p:spPr>
        <p:txBody>
          <a:bodyPr/>
          <a:lstStyle/>
          <a:p>
            <a:r>
              <a:rPr dirty="0"/>
              <a:t>Who </a:t>
            </a:r>
            <a:r>
              <a:rPr lang="en-US" dirty="0"/>
              <a:t>are</a:t>
            </a:r>
            <a:r>
              <a:rPr dirty="0"/>
              <a:t> patient </a:t>
            </a:r>
            <a:r>
              <a:rPr lang="en-US" dirty="0"/>
              <a:t>Nancy Smart’s (id = 12724066)</a:t>
            </a:r>
            <a:r>
              <a:rPr dirty="0"/>
              <a:t> </a:t>
            </a:r>
            <a:r>
              <a:rPr lang="en-US" dirty="0"/>
              <a:t>children</a:t>
            </a:r>
            <a:r>
              <a:rPr dirty="0"/>
              <a:t>?</a:t>
            </a:r>
            <a:endParaRPr lang="en-US" dirty="0"/>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Shape 596"/>
          <p:cNvSpPr>
            <a:spLocks noGrp="1"/>
          </p:cNvSpPr>
          <p:nvPr>
            <p:ph type="title"/>
          </p:nvPr>
        </p:nvSpPr>
        <p:spPr>
          <a:prstGeom prst="rect">
            <a:avLst/>
          </a:prstGeom>
        </p:spPr>
        <p:txBody>
          <a:bodyPr/>
          <a:lstStyle/>
          <a:p>
            <a:r>
              <a:t>Exercise 13: Answer</a:t>
            </a:r>
          </a:p>
        </p:txBody>
      </p:sp>
      <p:sp>
        <p:nvSpPr>
          <p:cNvPr id="597" name="Shape 597"/>
          <p:cNvSpPr>
            <a:spLocks noGrp="1"/>
          </p:cNvSpPr>
          <p:nvPr>
            <p:ph type="body" idx="1"/>
          </p:nvPr>
        </p:nvSpPr>
        <p:spPr>
          <a:prstGeom prst="rect">
            <a:avLst/>
          </a:prstGeom>
        </p:spPr>
        <p:txBody>
          <a:bodyPr/>
          <a:lstStyle/>
          <a:p>
            <a:r>
              <a:rPr dirty="0"/>
              <a:t>Answer: </a:t>
            </a:r>
            <a:r>
              <a:rPr lang="en-US" dirty="0"/>
              <a:t>Tim Peters, Sandy Smart, Timmy Smart</a:t>
            </a:r>
            <a:endParaRPr dirty="0"/>
          </a:p>
          <a:p>
            <a:r>
              <a:rPr dirty="0"/>
              <a:t>GET </a:t>
            </a:r>
            <a:r>
              <a:rPr lang="en-US" u="sng" dirty="0">
                <a:hlinkClick r:id="rId2"/>
              </a:rPr>
              <a:t>https://fhir-open.cerner.com/r4/ec2458f2-1e24-41c8-b71b-0e701af7583d/RelatedPerson?patient=12724066&amp;-relationship-level=http://hl7.org/fhir/resource-types|Patient&amp;_format=json</a:t>
            </a:r>
            <a:endParaRPr u="sng" dirty="0">
              <a:hlinkClick r:id="rId3"/>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4D6AFF-CD90-4AC4-B89B-F2AB9D511375}"/>
              </a:ext>
            </a:extLst>
          </p:cNvPr>
          <p:cNvPicPr>
            <a:picLocks noChangeAspect="1"/>
          </p:cNvPicPr>
          <p:nvPr/>
        </p:nvPicPr>
        <p:blipFill>
          <a:blip r:embed="rId2"/>
          <a:stretch>
            <a:fillRect/>
          </a:stretch>
        </p:blipFill>
        <p:spPr>
          <a:xfrm>
            <a:off x="4704972" y="629795"/>
            <a:ext cx="14974055" cy="12456410"/>
          </a:xfrm>
          <a:prstGeom prst="rect">
            <a:avLst/>
          </a:prstGeom>
        </p:spPr>
      </p:pic>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Shape 601"/>
          <p:cNvSpPr>
            <a:spLocks noGrp="1"/>
          </p:cNvSpPr>
          <p:nvPr>
            <p:ph type="title"/>
          </p:nvPr>
        </p:nvSpPr>
        <p:spPr>
          <a:xfrm>
            <a:off x="1778000" y="5181600"/>
            <a:ext cx="20828000" cy="2762250"/>
          </a:xfrm>
          <a:prstGeom prst="rect">
            <a:avLst/>
          </a:prstGeom>
        </p:spPr>
        <p:txBody>
          <a:bodyPr>
            <a:normAutofit fontScale="90000"/>
          </a:bodyPr>
          <a:lstStyle/>
          <a:p>
            <a:r>
              <a:rPr lang="en-US" dirty="0"/>
              <a:t>For more test patients</a:t>
            </a:r>
            <a:br>
              <a:rPr lang="en-US" dirty="0"/>
            </a:br>
            <a:endParaRPr dirty="0"/>
          </a:p>
        </p:txBody>
      </p:sp>
      <p:sp>
        <p:nvSpPr>
          <p:cNvPr id="4" name="TextBox 3">
            <a:extLst>
              <a:ext uri="{FF2B5EF4-FFF2-40B4-BE49-F238E27FC236}">
                <a16:creationId xmlns:a16="http://schemas.microsoft.com/office/drawing/2014/main" id="{54049316-8E4A-4856-AF3E-97C5B4F4A8CB}"/>
              </a:ext>
            </a:extLst>
          </p:cNvPr>
          <p:cNvSpPr txBox="1"/>
          <p:nvPr/>
        </p:nvSpPr>
        <p:spPr>
          <a:xfrm>
            <a:off x="1778000" y="7334072"/>
            <a:ext cx="20828000" cy="1631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solidFill>
                  <a:schemeClr val="bg1"/>
                </a:solidFill>
                <a:hlinkClick r:id="rId2">
                  <a:extLst>
                    <a:ext uri="{A12FA001-AC4F-418D-AE19-62706E023703}">
                      <ahyp:hlinkClr xmlns:ahyp="http://schemas.microsoft.com/office/drawing/2018/hyperlinkcolor" val="tx"/>
                    </a:ext>
                  </a:extLst>
                </a:hlinkClick>
              </a:rPr>
              <a:t>https://docs.google.com/document/d/10RnVyF1etl_17pyCyK96tyhUWRbrTyEcqpwzW-Z-Ybs</a:t>
            </a:r>
            <a:endParaRPr lang="en-US" dirty="0">
              <a:solidFill>
                <a:schemeClr val="bg1"/>
              </a:solidFill>
            </a:endParaRP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Shape 601"/>
          <p:cNvSpPr>
            <a:spLocks noGrp="1"/>
          </p:cNvSpPr>
          <p:nvPr>
            <p:ph type="title"/>
          </p:nvPr>
        </p:nvSpPr>
        <p:spPr>
          <a:prstGeom prst="rect">
            <a:avLst/>
          </a:prstGeom>
        </p:spPr>
        <p:txBody>
          <a:bodyPr/>
          <a:lstStyle/>
          <a:p>
            <a:r>
              <a:rPr lang="en-US" dirty="0"/>
              <a:t>Questions?</a:t>
            </a:r>
            <a:endParaRPr dirty="0"/>
          </a:p>
        </p:txBody>
      </p:sp>
    </p:spTree>
    <p:extLst>
      <p:ext uri="{BB962C8B-B14F-4D97-AF65-F5344CB8AC3E}">
        <p14:creationId xmlns:p14="http://schemas.microsoft.com/office/powerpoint/2010/main" val="3268210974"/>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56665055-977f-4acd-9884-1bec8e5ad200}" enabled="1" method="Standard" siteId="{4e2c6054-71cb-48f1-bd6c-3a9705aca71b}" contentBits="3" removed="0"/>
  <clbl:label id="{b1851626-05c4-426e-b768-1c35733f6fea}" enabled="1" method="Standard" siteId="{fbc493a8-0d24-4454-a815-f4ca58e8c09d}" contentBits="0" removed="0"/>
</clbl:labelList>
</file>

<file path=docProps/app.xml><?xml version="1.0" encoding="utf-8"?>
<Properties xmlns="http://schemas.openxmlformats.org/officeDocument/2006/extended-properties" xmlns:vt="http://schemas.openxmlformats.org/officeDocument/2006/docPropsVTypes">
  <TotalTime>12436</TotalTime>
  <Words>3181</Words>
  <Application>Microsoft Office PowerPoint</Application>
  <PresentationFormat>Custom</PresentationFormat>
  <Paragraphs>331</Paragraphs>
  <Slides>112</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112</vt:i4>
      </vt:variant>
    </vt:vector>
  </HeadingPairs>
  <TitlesOfParts>
    <vt:vector size="120" baseType="lpstr">
      <vt:lpstr>Arial</vt:lpstr>
      <vt:lpstr>Calibri</vt:lpstr>
      <vt:lpstr>Courier</vt:lpstr>
      <vt:lpstr>Franklin Gothic Book</vt:lpstr>
      <vt:lpstr>Helvetica</vt:lpstr>
      <vt:lpstr>Helvetica Light</vt:lpstr>
      <vt:lpstr>Helvetica Neue</vt:lpstr>
      <vt:lpstr>White</vt:lpstr>
      <vt:lpstr>PowerPoint Presentation</vt:lpstr>
      <vt:lpstr>FHIR Deep Dive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Which Version?</vt:lpstr>
      <vt:lpstr>PowerPoint Presentation</vt:lpstr>
      <vt:lpstr>PowerPoint Presentation</vt:lpstr>
      <vt:lpstr>Primitive Types</vt:lpstr>
      <vt:lpstr>Surprises</vt:lpstr>
      <vt:lpstr>Complex Types</vt:lpstr>
      <vt:lpstr>Code Systems</vt:lpstr>
      <vt:lpstr>Formats</vt:lpstr>
      <vt:lpstr>PowerPoint Presentation</vt:lpstr>
      <vt:lpstr>Resources</vt:lpstr>
      <vt:lpstr>PowerPoint Presentation</vt:lpstr>
      <vt:lpstr>Maturity Levels</vt:lpstr>
      <vt:lpstr>PowerPoint Presentation</vt:lpstr>
      <vt:lpstr>Terminology Bindings</vt:lpstr>
      <vt:lpstr>Terminology Bindings</vt:lpstr>
      <vt:lpstr>Type/Binding Strength</vt:lpstr>
      <vt:lpstr>PowerPoint Presentation</vt:lpstr>
      <vt:lpstr>PowerPoint Presentation</vt:lpstr>
      <vt:lpstr>PowerPoint Presentation</vt:lpstr>
      <vt:lpstr>PowerPoint Presentation</vt:lpstr>
      <vt:lpstr>PowerPoint Presentation</vt:lpstr>
      <vt:lpstr>Exercise 1</vt:lpstr>
      <vt:lpstr>Exercise 1</vt:lpstr>
      <vt:lpstr>Exercise 1: Answer</vt:lpstr>
      <vt:lpstr>Exercise 2</vt:lpstr>
      <vt:lpstr>Exercise 2</vt:lpstr>
      <vt:lpstr>Exercise 2: Answer</vt:lpstr>
      <vt:lpstr>Exercise 3</vt:lpstr>
      <vt:lpstr>Exercise 3</vt:lpstr>
      <vt:lpstr>Exercise 3: Answer</vt:lpstr>
      <vt:lpstr>PowerPoint Presentation</vt:lpstr>
      <vt:lpstr>PowerPoint Presentation</vt:lpstr>
      <vt:lpstr>PowerPoint Presentation</vt:lpstr>
      <vt:lpstr>Read</vt:lpstr>
      <vt:lpstr>id vs identifier</vt:lpstr>
      <vt:lpstr>PowerPoint Presentation</vt:lpstr>
      <vt:lpstr>PowerPoint Presentation</vt:lpstr>
      <vt:lpstr>PowerPoint Presentation</vt:lpstr>
      <vt:lpstr>PowerPoint Presentation</vt:lpstr>
      <vt:lpstr>PowerPoint Presentation</vt:lpstr>
      <vt:lpstr>Paging</vt:lpstr>
      <vt:lpstr>PowerPoint Presentation</vt:lpstr>
      <vt:lpstr>PowerPoint Presentation</vt:lpstr>
      <vt:lpstr>Create</vt:lpstr>
      <vt:lpstr>Update</vt:lpstr>
      <vt:lpstr>Patch</vt:lpstr>
      <vt:lpstr>Conditional Update</vt:lpstr>
      <vt:lpstr>Exercise 4</vt:lpstr>
      <vt:lpstr>Exercise 4</vt:lpstr>
      <vt:lpstr>Exercise 4: Answer</vt:lpstr>
      <vt:lpstr>Exercise 4: Answer</vt:lpstr>
      <vt:lpstr>Exercise 5</vt:lpstr>
      <vt:lpstr>Exercise 5</vt:lpstr>
      <vt:lpstr>Exercise 5: Answer</vt:lpstr>
      <vt:lpstr>PowerPoint Presentation</vt:lpstr>
      <vt:lpstr>What if it wasn’t mapped/known?</vt:lpstr>
      <vt:lpstr>Exercise 6</vt:lpstr>
      <vt:lpstr>Exercise 6</vt:lpstr>
      <vt:lpstr>Exercise 6: Answer</vt:lpstr>
      <vt:lpstr>Paging</vt:lpstr>
      <vt:lpstr>PowerPoint Presentation</vt:lpstr>
      <vt:lpstr>Exercise 7</vt:lpstr>
      <vt:lpstr>Exercise 7</vt:lpstr>
      <vt:lpstr>Exercise 7: Answer</vt:lpstr>
      <vt:lpstr>PowerPoint Presentation</vt:lpstr>
      <vt:lpstr>PowerPoint Presentation</vt:lpstr>
      <vt:lpstr>PowerPoint Presentation</vt:lpstr>
      <vt:lpstr>Extension “Rules”</vt:lpstr>
      <vt:lpstr>Examples</vt:lpstr>
      <vt:lpstr>Modifier Example</vt:lpstr>
      <vt:lpstr>PowerPoint Presentation</vt:lpstr>
      <vt:lpstr>PowerPoint Presentation</vt:lpstr>
      <vt:lpstr>Conformance Resource</vt:lpstr>
      <vt:lpstr>What?</vt:lpstr>
      <vt:lpstr>Exercise 8</vt:lpstr>
      <vt:lpstr>Exercise 8</vt:lpstr>
      <vt:lpstr>Exercise 8: Answer</vt:lpstr>
      <vt:lpstr>Exercise 9</vt:lpstr>
      <vt:lpstr>Exercise 9</vt:lpstr>
      <vt:lpstr>Exercise 9: Answer</vt:lpstr>
      <vt:lpstr>PowerPoint Presentation</vt:lpstr>
      <vt:lpstr>PowerPoint Presentation</vt:lpstr>
      <vt:lpstr>What</vt:lpstr>
      <vt:lpstr>Rules</vt:lpstr>
      <vt:lpstr>PowerPoint Presentation</vt:lpstr>
      <vt:lpstr>More Exercises!</vt:lpstr>
      <vt:lpstr>Exercise 10</vt:lpstr>
      <vt:lpstr>Exercise 10</vt:lpstr>
      <vt:lpstr>Exercise 10: Answer</vt:lpstr>
      <vt:lpstr>Exercise 10: Answer</vt:lpstr>
      <vt:lpstr>PowerPoint Presentation</vt:lpstr>
      <vt:lpstr>Exercise 11</vt:lpstr>
      <vt:lpstr>Exercise 11</vt:lpstr>
      <vt:lpstr>Exercise 11: Answer</vt:lpstr>
      <vt:lpstr>Exercise 12</vt:lpstr>
      <vt:lpstr>Exercise 12</vt:lpstr>
      <vt:lpstr>Exercise 12: Answer</vt:lpstr>
      <vt:lpstr>Exercise 13</vt:lpstr>
      <vt:lpstr>Exercise 13</vt:lpstr>
      <vt:lpstr>Exercise 13: Answer</vt:lpstr>
      <vt:lpstr>PowerPoint Presentation</vt:lpstr>
      <vt:lpstr>For more test patients </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Heits,Brian</dc:creator>
  <cp:lastModifiedBy>Heits, Brian</cp:lastModifiedBy>
  <cp:revision>94</cp:revision>
  <dcterms:modified xsi:type="dcterms:W3CDTF">2026-04-28T01:15:33Z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6665055-977f-4acd-9884-1bec8e5ad200_Enabled">
    <vt:lpwstr>true</vt:lpwstr>
  </property>
  <property fmtid="{D5CDD505-2E9C-101B-9397-08002B2CF9AE}" pid="3" name="MSIP_Label_56665055-977f-4acd-9884-1bec8e5ad200_SetDate">
    <vt:lpwstr>2024-09-16T13:16:33Z</vt:lpwstr>
  </property>
  <property fmtid="{D5CDD505-2E9C-101B-9397-08002B2CF9AE}" pid="4" name="MSIP_Label_56665055-977f-4acd-9884-1bec8e5ad200_Method">
    <vt:lpwstr>Standard</vt:lpwstr>
  </property>
  <property fmtid="{D5CDD505-2E9C-101B-9397-08002B2CF9AE}" pid="5" name="MSIP_Label_56665055-977f-4acd-9884-1bec8e5ad200_Name">
    <vt:lpwstr>Anyone ( Unrestricted )</vt:lpwstr>
  </property>
  <property fmtid="{D5CDD505-2E9C-101B-9397-08002B2CF9AE}" pid="6" name="MSIP_Label_56665055-977f-4acd-9884-1bec8e5ad200_SiteId">
    <vt:lpwstr>4e2c6054-71cb-48f1-bd6c-3a9705aca71b</vt:lpwstr>
  </property>
  <property fmtid="{D5CDD505-2E9C-101B-9397-08002B2CF9AE}" pid="7" name="MSIP_Label_56665055-977f-4acd-9884-1bec8e5ad200_ActionId">
    <vt:lpwstr>d572cc84-95f3-4aa6-86b9-bdad01dd25e5</vt:lpwstr>
  </property>
  <property fmtid="{D5CDD505-2E9C-101B-9397-08002B2CF9AE}" pid="8" name="MSIP_Label_56665055-977f-4acd-9884-1bec8e5ad200_ContentBits">
    <vt:lpwstr>3</vt:lpwstr>
  </property>
  <property fmtid="{D5CDD505-2E9C-101B-9397-08002B2CF9AE}" pid="9" name="ClassificationContentMarkingFooterLocations">
    <vt:lpwstr>White:8</vt:lpwstr>
  </property>
  <property fmtid="{D5CDD505-2E9C-101B-9397-08002B2CF9AE}" pid="10" name="ClassificationContentMarkingFooterText">
    <vt:lpwstr>Confidential - Oracle Restricted</vt:lpwstr>
  </property>
  <property fmtid="{D5CDD505-2E9C-101B-9397-08002B2CF9AE}" pid="11" name="ClassificationContentMarkingHeaderLocations">
    <vt:lpwstr>White:7</vt:lpwstr>
  </property>
  <property fmtid="{D5CDD505-2E9C-101B-9397-08002B2CF9AE}" pid="12" name="ClassificationContentMarkingHeaderText">
    <vt:lpwstr>Confidential - Oracle Restricted</vt:lpwstr>
  </property>
</Properties>
</file>