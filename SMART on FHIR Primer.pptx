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317" r:id="rId2"/>
    <p:sldId id="258" r:id="rId3"/>
    <p:sldId id="259" r:id="rId4"/>
    <p:sldId id="262" r:id="rId5"/>
    <p:sldId id="269" r:id="rId6"/>
    <p:sldId id="290" r:id="rId7"/>
    <p:sldId id="291" r:id="rId8"/>
    <p:sldId id="272" r:id="rId9"/>
    <p:sldId id="273" r:id="rId10"/>
    <p:sldId id="292" r:id="rId11"/>
    <p:sldId id="293" r:id="rId12"/>
    <p:sldId id="294" r:id="rId13"/>
    <p:sldId id="274" r:id="rId14"/>
    <p:sldId id="295" r:id="rId15"/>
    <p:sldId id="296" r:id="rId16"/>
    <p:sldId id="320" r:id="rId17"/>
    <p:sldId id="275" r:id="rId18"/>
    <p:sldId id="27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299" r:id="rId29"/>
    <p:sldId id="316" r:id="rId30"/>
    <p:sldId id="281" r:id="rId31"/>
    <p:sldId id="3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erner" initials="Cerner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38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its, Brian" userId="4566fefd-61b7-4c5a-b683-1c8fdafc2832" providerId="ADAL" clId="{6861493C-8A7A-455C-BCE0-E455F0A71708}"/>
    <pc:docChg chg="undo custSel modSld">
      <pc:chgData name="Heits, Brian" userId="4566fefd-61b7-4c5a-b683-1c8fdafc2832" providerId="ADAL" clId="{6861493C-8A7A-455C-BCE0-E455F0A71708}" dt="2023-12-11T03:23:49.972" v="51" actId="20577"/>
      <pc:docMkLst>
        <pc:docMk/>
      </pc:docMkLst>
      <pc:sldChg chg="modSp mod">
        <pc:chgData name="Heits, Brian" userId="4566fefd-61b7-4c5a-b683-1c8fdafc2832" providerId="ADAL" clId="{6861493C-8A7A-455C-BCE0-E455F0A71708}" dt="2023-12-11T03:23:49.972" v="51" actId="20577"/>
        <pc:sldMkLst>
          <pc:docMk/>
          <pc:sldMk cId="579498076" sldId="317"/>
        </pc:sldMkLst>
        <pc:spChg chg="mod">
          <ac:chgData name="Heits, Brian" userId="4566fefd-61b7-4c5a-b683-1c8fdafc2832" providerId="ADAL" clId="{6861493C-8A7A-455C-BCE0-E455F0A71708}" dt="2023-12-04T01:02:15.549" v="44" actId="20577"/>
          <ac:spMkLst>
            <pc:docMk/>
            <pc:sldMk cId="579498076" sldId="317"/>
            <ac:spMk id="3" creationId="{00000000-0000-0000-0000-000000000000}"/>
          </ac:spMkLst>
        </pc:spChg>
        <pc:spChg chg="mod">
          <ac:chgData name="Heits, Brian" userId="4566fefd-61b7-4c5a-b683-1c8fdafc2832" providerId="ADAL" clId="{6861493C-8A7A-455C-BCE0-E455F0A71708}" dt="2023-12-11T03:23:49.972" v="51" actId="20577"/>
          <ac:spMkLst>
            <pc:docMk/>
            <pc:sldMk cId="579498076" sldId="317"/>
            <ac:spMk id="4" creationId="{00000000-0000-0000-0000-000000000000}"/>
          </ac:spMkLst>
        </pc:spChg>
      </pc:sldChg>
    </pc:docChg>
  </pc:docChgLst>
  <pc:docChgLst>
    <pc:chgData name="Heits, Brian" userId="4566fefd-61b7-4c5a-b683-1c8fdafc2832" providerId="ADAL" clId="{F0E377DA-DFD7-4F13-941F-429FCB9CC344}"/>
    <pc:docChg chg="modSld">
      <pc:chgData name="Heits, Brian" userId="4566fefd-61b7-4c5a-b683-1c8fdafc2832" providerId="ADAL" clId="{F0E377DA-DFD7-4F13-941F-429FCB9CC344}" dt="2023-03-19T21:53:08.423" v="13" actId="20577"/>
      <pc:docMkLst>
        <pc:docMk/>
      </pc:docMkLst>
      <pc:sldChg chg="modSp mod">
        <pc:chgData name="Heits, Brian" userId="4566fefd-61b7-4c5a-b683-1c8fdafc2832" providerId="ADAL" clId="{F0E377DA-DFD7-4F13-941F-429FCB9CC344}" dt="2023-03-19T21:53:08.423" v="13" actId="20577"/>
        <pc:sldMkLst>
          <pc:docMk/>
          <pc:sldMk cId="579498076" sldId="317"/>
        </pc:sldMkLst>
        <pc:spChg chg="mod">
          <ac:chgData name="Heits, Brian" userId="4566fefd-61b7-4c5a-b683-1c8fdafc2832" providerId="ADAL" clId="{F0E377DA-DFD7-4F13-941F-429FCB9CC344}" dt="2023-03-19T21:53:08.423" v="13" actId="20577"/>
          <ac:spMkLst>
            <pc:docMk/>
            <pc:sldMk cId="579498076" sldId="317"/>
            <ac:spMk id="4" creationId="{00000000-0000-0000-0000-000000000000}"/>
          </ac:spMkLst>
        </pc:spChg>
      </pc:sldChg>
    </pc:docChg>
  </pc:docChgLst>
  <pc:docChgLst>
    <pc:chgData name="Heits, Brian" userId="4566fefd-61b7-4c5a-b683-1c8fdafc2832" providerId="ADAL" clId="{EBB2509E-9158-48F4-B08F-3B146EDA1E91}"/>
    <pc:docChg chg="modSld">
      <pc:chgData name="Heits, Brian" userId="4566fefd-61b7-4c5a-b683-1c8fdafc2832" providerId="ADAL" clId="{EBB2509E-9158-48F4-B08F-3B146EDA1E91}" dt="2023-02-05T18:42:03.183" v="23" actId="20577"/>
      <pc:docMkLst>
        <pc:docMk/>
      </pc:docMkLst>
      <pc:sldChg chg="modSp mod">
        <pc:chgData name="Heits, Brian" userId="4566fefd-61b7-4c5a-b683-1c8fdafc2832" providerId="ADAL" clId="{EBB2509E-9158-48F4-B08F-3B146EDA1E91}" dt="2023-02-05T18:42:03.183" v="23" actId="20577"/>
        <pc:sldMkLst>
          <pc:docMk/>
          <pc:sldMk cId="579498076" sldId="317"/>
        </pc:sldMkLst>
        <pc:spChg chg="mod">
          <ac:chgData name="Heits, Brian" userId="4566fefd-61b7-4c5a-b683-1c8fdafc2832" providerId="ADAL" clId="{EBB2509E-9158-48F4-B08F-3B146EDA1E91}" dt="2023-02-05T18:42:03.183" v="23" actId="20577"/>
          <ac:spMkLst>
            <pc:docMk/>
            <pc:sldMk cId="579498076" sldId="317"/>
            <ac:spMk id="4" creationId="{00000000-0000-0000-0000-000000000000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4-08-25T11:42:53.754" idx="2">
    <p:pos x="7906" y="1738"/>
    <p:text>&gt; Right click and select change picture to add sponsor logo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1681A-4B84-4DE8-A5EF-A885124D351C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9BEA3-4104-479D-9BAC-AABB4BFFA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1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© Cerner 2016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FD62D3-BB65-47B7-B482-3500296D899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438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400</a:t>
            </a:r>
            <a:r>
              <a:rPr lang="en-US" baseline="0" dirty="0"/>
              <a:t> data elements to read/write and built initially as iOS app with Python handling SMART authentication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79BEA3-4104-479D-9BAC-AABB4BFFA32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11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229F-D951-4A8F-BA2A-3B6A0B3F46E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E8CFA-4450-4C5A-9DC3-F324C99C5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111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229F-D951-4A8F-BA2A-3B6A0B3F46E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E8CFA-4450-4C5A-9DC3-F324C99C5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23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229F-D951-4A8F-BA2A-3B6A0B3F46E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E8CFA-4450-4C5A-9DC3-F324C99C5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410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229F-D951-4A8F-BA2A-3B6A0B3F46E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E8CFA-4450-4C5A-9DC3-F324C99C5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64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229F-D951-4A8F-BA2A-3B6A0B3F46E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E8CFA-4450-4C5A-9DC3-F324C99C5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712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229F-D951-4A8F-BA2A-3B6A0B3F46E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E8CFA-4450-4C5A-9DC3-F324C99C5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976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229F-D951-4A8F-BA2A-3B6A0B3F46E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E8CFA-4450-4C5A-9DC3-F324C99C5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91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229F-D951-4A8F-BA2A-3B6A0B3F46E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E8CFA-4450-4C5A-9DC3-F324C99C5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617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229F-D951-4A8F-BA2A-3B6A0B3F46E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E8CFA-4450-4C5A-9DC3-F324C99C5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364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229F-D951-4A8F-BA2A-3B6A0B3F46E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E8CFA-4450-4C5A-9DC3-F324C99C5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08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2229F-D951-4A8F-BA2A-3B6A0B3F46E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E8CFA-4450-4C5A-9DC3-F324C99C5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77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- n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Placeholder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69939" y="4919253"/>
            <a:ext cx="7397751" cy="4171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aseline="0">
                <a:solidFill>
                  <a:srgbClr val="FFFFF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69939" y="5449521"/>
            <a:ext cx="7397751" cy="28725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i="1" baseline="0">
                <a:solidFill>
                  <a:srgbClr val="FFFFF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Presenter Title</a:t>
            </a:r>
          </a:p>
        </p:txBody>
      </p:sp>
      <p:sp>
        <p:nvSpPr>
          <p:cNvPr id="9" name="Text Placeholder 13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769939" y="5872156"/>
            <a:ext cx="7397751" cy="28725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i="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fld id="{B00CC99A-1AEC-4AAA-92D0-EFFF73746BF4}" type="datetime4">
              <a:rPr lang="en-US" smtClean="0"/>
              <a:t>November 15, 2016</a:t>
            </a:fld>
            <a:endParaRPr lang="en-US" dirty="0"/>
          </a:p>
        </p:txBody>
      </p:sp>
      <p:sp>
        <p:nvSpPr>
          <p:cNvPr id="13" name="Rectangle 7"/>
          <p:cNvSpPr>
            <a:spLocks/>
          </p:cNvSpPr>
          <p:nvPr userDrawn="1"/>
        </p:nvSpPr>
        <p:spPr bwMode="auto">
          <a:xfrm>
            <a:off x="2" y="2316255"/>
            <a:ext cx="12191997" cy="23656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3608" tIns="21804" rIns="43608" bIns="21804" anchor="ctr"/>
          <a:lstStyle/>
          <a:p>
            <a:pPr algn="ctr" defTabSz="215900"/>
            <a:endParaRPr lang="en-US" sz="1800" dirty="0">
              <a:solidFill>
                <a:srgbClr val="FFFFFF"/>
              </a:solidFill>
              <a:latin typeface="Franklin Gothic Book" pitchFamily="34" charset="0"/>
            </a:endParaRPr>
          </a:p>
        </p:txBody>
      </p:sp>
      <p:sp>
        <p:nvSpPr>
          <p:cNvPr id="15" name="Title 3"/>
          <p:cNvSpPr>
            <a:spLocks noGrp="1"/>
          </p:cNvSpPr>
          <p:nvPr>
            <p:ph type="title"/>
          </p:nvPr>
        </p:nvSpPr>
        <p:spPr>
          <a:xfrm>
            <a:off x="769937" y="2449519"/>
            <a:ext cx="6857587" cy="213518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2926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2229F-D951-4A8F-BA2A-3B6A0B3F46E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E8CFA-4450-4C5A-9DC3-F324C99C50C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9866F2-3484-D7B4-74B5-E219312C2B4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6367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 - Oracle 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6CD701-4879-D998-A215-77D0DC5FD48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6367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 - Oracle Restricted</a:t>
            </a:r>
          </a:p>
        </p:txBody>
      </p:sp>
    </p:spTree>
    <p:extLst>
      <p:ext uri="{BB962C8B-B14F-4D97-AF65-F5344CB8AC3E}">
        <p14:creationId xmlns:p14="http://schemas.microsoft.com/office/powerpoint/2010/main" val="1193370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comments" Target="../comments/commen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mart-on-fhir" TargetMode="External"/><Relationship Id="rId13" Type="http://schemas.openxmlformats.org/officeDocument/2006/relationships/image" Target="../media/image41.png"/><Relationship Id="rId3" Type="http://schemas.openxmlformats.org/officeDocument/2006/relationships/hyperlink" Target="https://smarthealthit.org/" TargetMode="External"/><Relationship Id="rId7" Type="http://schemas.openxmlformats.org/officeDocument/2006/relationships/hyperlink" Target="https://groups.google.com/g/smart-on-fhir" TargetMode="External"/><Relationship Id="rId12" Type="http://schemas.openxmlformats.org/officeDocument/2006/relationships/image" Target="../media/image4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hat.fhir.org/login/" TargetMode="External"/><Relationship Id="rId11" Type="http://schemas.openxmlformats.org/officeDocument/2006/relationships/image" Target="../media/image39.png"/><Relationship Id="rId5" Type="http://schemas.openxmlformats.org/officeDocument/2006/relationships/hyperlink" Target="https://docs.smarthealthit.org/" TargetMode="External"/><Relationship Id="rId10" Type="http://schemas.openxmlformats.org/officeDocument/2006/relationships/image" Target="../media/image38.png"/><Relationship Id="rId4" Type="http://schemas.openxmlformats.org/officeDocument/2006/relationships/hyperlink" Target="https://gallery.smarthealthit.org/apps/featured" TargetMode="External"/><Relationship Id="rId9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engineering.cerner.com/smart-on-fhir-tutorial/#introduction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769939" y="5109753"/>
            <a:ext cx="7397751" cy="417164"/>
          </a:xfrm>
        </p:spPr>
        <p:txBody>
          <a:bodyPr/>
          <a:lstStyle/>
          <a:p>
            <a:r>
              <a:rPr lang="en-US" dirty="0"/>
              <a:t>Brian Heits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69939" y="5601921"/>
            <a:ext cx="7397751" cy="287257"/>
          </a:xfrm>
        </p:spPr>
        <p:txBody>
          <a:bodyPr/>
          <a:lstStyle/>
          <a:p>
            <a:r>
              <a:rPr lang="en-US" dirty="0"/>
              <a:t>Principle Consultant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769939" y="6024556"/>
            <a:ext cx="7397751" cy="287257"/>
          </a:xfrm>
        </p:spPr>
        <p:txBody>
          <a:bodyPr/>
          <a:lstStyle/>
          <a:p>
            <a:r>
              <a:rPr lang="en-US" dirty="0"/>
              <a:t>19</a:t>
            </a:r>
            <a:r>
              <a:rPr lang="en-US" baseline="30000" dirty="0"/>
              <a:t>th</a:t>
            </a:r>
            <a:r>
              <a:rPr lang="en-US" dirty="0"/>
              <a:t> of August 2026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50" y="2457664"/>
            <a:ext cx="6286503" cy="21239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BA5913-AA98-AC15-08E8-B5B0A626F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0428" y="3987334"/>
            <a:ext cx="2353003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98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87" y="1276350"/>
            <a:ext cx="8658225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061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062" y="1462087"/>
            <a:ext cx="9667875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268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997349"/>
            <a:ext cx="11849100" cy="5267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2194" y="21261"/>
            <a:ext cx="10801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+mj-lt"/>
              </a:rPr>
              <a:t>SMART Platform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1325" y="5788424"/>
            <a:ext cx="1590675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826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94" y="948603"/>
            <a:ext cx="11120207" cy="54771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2194" y="21261"/>
            <a:ext cx="10801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+mj-lt"/>
              </a:rPr>
              <a:t>SMART &gt; Trajectory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1325" y="5788424"/>
            <a:ext cx="1590675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194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2194" y="21261"/>
            <a:ext cx="10801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+mj-lt"/>
              </a:rPr>
              <a:t>SMART &gt; Platform Benefits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325" y="5788424"/>
            <a:ext cx="1590675" cy="9525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94" y="996241"/>
            <a:ext cx="97536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89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94" y="996241"/>
            <a:ext cx="9753600" cy="464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2194" y="21261"/>
            <a:ext cx="10801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+mj-lt"/>
              </a:rPr>
              <a:t>SMART &gt; Platform Benefits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1325" y="5788424"/>
            <a:ext cx="1590675" cy="952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401" y="4857631"/>
            <a:ext cx="6660413" cy="67943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561" y="4878114"/>
            <a:ext cx="6714460" cy="82001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23285" y="996240"/>
            <a:ext cx="11685180" cy="3828187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012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2194" y="21261"/>
            <a:ext cx="108013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+mj-lt"/>
              </a:rPr>
              <a:t>Growth Chart by Cerner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669" y="852258"/>
            <a:ext cx="8534400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606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2194" y="21261"/>
            <a:ext cx="117293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+mj-lt"/>
              </a:rPr>
              <a:t>SMART Growth Chart by Boston Children’s Hospital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790575"/>
            <a:ext cx="7048500" cy="52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990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2194" y="21261"/>
            <a:ext cx="117293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+mj-lt"/>
              </a:rPr>
              <a:t>SMART Growth Chart by Boston Children’s Hospital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325" y="809625"/>
            <a:ext cx="8515350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92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2194" y="21261"/>
            <a:ext cx="117293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+mj-lt"/>
              </a:rPr>
              <a:t>SMART BP Centile by Boston Children’s Hospital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340" y="852258"/>
            <a:ext cx="8181023" cy="591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586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2194" y="21261"/>
            <a:ext cx="117293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+mj-lt"/>
              </a:rPr>
              <a:t>SMART BP Centile by Boston Children’s Hospital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405" y="852258"/>
            <a:ext cx="8664893" cy="587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80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2194" y="21261"/>
            <a:ext cx="108013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+mj-lt"/>
              </a:rPr>
              <a:t>SMART Neonatal Bilirubin Alerts by Intermountain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087" y="828675"/>
            <a:ext cx="85058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48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2194" y="21261"/>
            <a:ext cx="108013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err="1">
                <a:latin typeface="+mj-lt"/>
              </a:rPr>
              <a:t>Meducation</a:t>
            </a:r>
            <a:r>
              <a:rPr lang="en-US" sz="4000" dirty="0">
                <a:latin typeface="+mj-lt"/>
              </a:rPr>
              <a:t> by Polyglot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94" y="729147"/>
            <a:ext cx="11518631" cy="552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425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2194" y="21261"/>
            <a:ext cx="108013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err="1">
                <a:latin typeface="+mj-lt"/>
              </a:rPr>
              <a:t>Meducation</a:t>
            </a:r>
            <a:r>
              <a:rPr lang="en-US" sz="4000" dirty="0">
                <a:latin typeface="+mj-lt"/>
              </a:rPr>
              <a:t> by Polyglot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193" y="729147"/>
            <a:ext cx="7551351" cy="571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566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2194" y="21261"/>
            <a:ext cx="108013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+mj-lt"/>
              </a:rPr>
              <a:t>Mobile Nursing Assessment – St. Thomas/Ascension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450" y="628650"/>
            <a:ext cx="9563100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131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50" y="2286000"/>
            <a:ext cx="71247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336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490537"/>
            <a:ext cx="10458450" cy="587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155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490537"/>
            <a:ext cx="10458450" cy="58769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" y="4235767"/>
            <a:ext cx="2686050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726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490537"/>
            <a:ext cx="10458450" cy="58769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667250"/>
            <a:ext cx="27051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971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490537"/>
            <a:ext cx="10458450" cy="58769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70" y="4678680"/>
            <a:ext cx="27813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3294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490537"/>
            <a:ext cx="10458450" cy="58769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4652962"/>
            <a:ext cx="270510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7624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490537"/>
            <a:ext cx="10458450" cy="587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3698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490537"/>
            <a:ext cx="10458450" cy="587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6178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490537"/>
            <a:ext cx="10458450" cy="587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0969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490537"/>
            <a:ext cx="10458450" cy="587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5530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490537"/>
            <a:ext cx="10458450" cy="587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9568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2" y="490537"/>
            <a:ext cx="10467975" cy="587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8420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2194" y="21261"/>
            <a:ext cx="10801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+mj-lt"/>
              </a:rPr>
              <a:t>SMART &gt; Community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325" y="5788424"/>
            <a:ext cx="1590675" cy="952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47594" y="1117528"/>
            <a:ext cx="874227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latin typeface="Calibri-Light"/>
                <a:hlinkClick r:id="rId3"/>
              </a:rPr>
              <a:t>smarthealthit.org</a:t>
            </a:r>
            <a:endParaRPr lang="en-US" sz="3600" dirty="0">
              <a:latin typeface="Calibri-Light"/>
            </a:endParaRPr>
          </a:p>
          <a:p>
            <a:endParaRPr lang="en-US" sz="3600" dirty="0">
              <a:latin typeface="Calibri-Light"/>
            </a:endParaRPr>
          </a:p>
          <a:p>
            <a:r>
              <a:rPr lang="en-US" sz="3600" dirty="0">
                <a:latin typeface="Calibri-Light"/>
                <a:hlinkClick r:id="rId4"/>
              </a:rPr>
              <a:t>gallery.smarthealthit.org</a:t>
            </a:r>
            <a:endParaRPr lang="en-US" sz="3600" dirty="0">
              <a:latin typeface="Calibri-Light"/>
            </a:endParaRPr>
          </a:p>
          <a:p>
            <a:endParaRPr lang="en-US" sz="3600" dirty="0">
              <a:latin typeface="Calibri-Light"/>
            </a:endParaRPr>
          </a:p>
          <a:p>
            <a:r>
              <a:rPr lang="en-US" sz="3600" dirty="0">
                <a:latin typeface="Calibri-Light"/>
                <a:hlinkClick r:id="rId5"/>
              </a:rPr>
              <a:t>docs.smarthealthit.org</a:t>
            </a:r>
            <a:endParaRPr lang="en-US" sz="3600" dirty="0">
              <a:latin typeface="Calibri-Light"/>
            </a:endParaRPr>
          </a:p>
          <a:p>
            <a:endParaRPr lang="en-US" sz="3600" dirty="0">
              <a:latin typeface="Calibri-Light"/>
            </a:endParaRPr>
          </a:p>
          <a:p>
            <a:r>
              <a:rPr lang="en-US" sz="3600" dirty="0">
                <a:latin typeface="Calibri-Light"/>
                <a:hlinkClick r:id="rId6"/>
              </a:rPr>
              <a:t>chat.fhir.org </a:t>
            </a:r>
            <a:r>
              <a:rPr lang="en-US" sz="3600" dirty="0">
                <a:latin typeface="Calibri-Light"/>
              </a:rPr>
              <a:t>| </a:t>
            </a:r>
            <a:r>
              <a:rPr lang="en-US" sz="3600" dirty="0">
                <a:latin typeface="Calibri-Light"/>
                <a:hlinkClick r:id="rId7"/>
              </a:rPr>
              <a:t>bit.ly/smart-google-group</a:t>
            </a:r>
            <a:endParaRPr lang="en-US" sz="3600" dirty="0">
              <a:latin typeface="Calibri-Light"/>
            </a:endParaRPr>
          </a:p>
          <a:p>
            <a:endParaRPr lang="en-US" sz="3600" dirty="0">
              <a:latin typeface="Calibri-Light"/>
            </a:endParaRPr>
          </a:p>
          <a:p>
            <a:r>
              <a:rPr lang="en-US" sz="3600" dirty="0">
                <a:latin typeface="Calibri-Light"/>
                <a:hlinkClick r:id="rId8"/>
              </a:rPr>
              <a:t>github.com/smart-on-</a:t>
            </a:r>
            <a:r>
              <a:rPr lang="en-US" sz="3600" dirty="0" err="1">
                <a:latin typeface="Calibri-Light"/>
                <a:hlinkClick r:id="rId8"/>
              </a:rPr>
              <a:t>fhir</a:t>
            </a:r>
            <a:endParaRPr lang="en-US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589" y="970597"/>
            <a:ext cx="971550" cy="8477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14" y="2063609"/>
            <a:ext cx="1066800" cy="952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9351" y="3261396"/>
            <a:ext cx="962025" cy="7905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8863" y="4260833"/>
            <a:ext cx="1143000" cy="8858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114" y="5378849"/>
            <a:ext cx="106680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085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2194" y="21261"/>
            <a:ext cx="10801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+mj-lt"/>
              </a:rPr>
              <a:t>Questions?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325" y="5788424"/>
            <a:ext cx="1590675" cy="9525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112" y="1547812"/>
            <a:ext cx="8867775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4922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2194" y="21261"/>
            <a:ext cx="10801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+mj-lt"/>
              </a:rPr>
              <a:t>Let’s Start!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325" y="5788424"/>
            <a:ext cx="1590675" cy="952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381731" y="2626288"/>
            <a:ext cx="87422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latin typeface="Calibri-Light"/>
                <a:hlinkClick r:id="rId3"/>
              </a:rPr>
              <a:t>http://engineering.cerner.com/smart-on-fhir-tutorial/#introduction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1974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6665055-977f-4acd-9884-1bec8e5ad200}" enabled="1" method="Standard" siteId="{4e2c6054-71cb-48f1-bd6c-3a9705aca71b}" contentBits="3" removed="0"/>
  <clbl:label id="{b1851626-05c4-426e-b768-1c35733f6fea}" enabled="1" method="Standard" siteId="{fbc493a8-0d24-4454-a815-f4ca58e8c09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973</TotalTime>
  <Words>145</Words>
  <Application>Microsoft Office PowerPoint</Application>
  <PresentationFormat>Widescreen</PresentationFormat>
  <Paragraphs>33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Calibri-Light</vt:lpstr>
      <vt:lpstr>Franklin Gothic 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Heits,Brian</dc:creator>
  <cp:lastModifiedBy>Heits, Brian</cp:lastModifiedBy>
  <cp:revision>38</cp:revision>
  <dcterms:created xsi:type="dcterms:W3CDTF">2017-03-12T19:19:16Z</dcterms:created>
  <dcterms:modified xsi:type="dcterms:W3CDTF">2026-08-17T15:16:31Z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6665055-977f-4acd-9884-1bec8e5ad200_Enabled">
    <vt:lpwstr>true</vt:lpwstr>
  </property>
  <property fmtid="{D5CDD505-2E9C-101B-9397-08002B2CF9AE}" pid="3" name="MSIP_Label_56665055-977f-4acd-9884-1bec8e5ad200_SetDate">
    <vt:lpwstr>2024-09-16T14:32:36Z</vt:lpwstr>
  </property>
  <property fmtid="{D5CDD505-2E9C-101B-9397-08002B2CF9AE}" pid="4" name="MSIP_Label_56665055-977f-4acd-9884-1bec8e5ad200_Method">
    <vt:lpwstr>Standard</vt:lpwstr>
  </property>
  <property fmtid="{D5CDD505-2E9C-101B-9397-08002B2CF9AE}" pid="5" name="MSIP_Label_56665055-977f-4acd-9884-1bec8e5ad200_Name">
    <vt:lpwstr>Anyone ( Unrestricted )</vt:lpwstr>
  </property>
  <property fmtid="{D5CDD505-2E9C-101B-9397-08002B2CF9AE}" pid="6" name="MSIP_Label_56665055-977f-4acd-9884-1bec8e5ad200_SiteId">
    <vt:lpwstr>4e2c6054-71cb-48f1-bd6c-3a9705aca71b</vt:lpwstr>
  </property>
  <property fmtid="{D5CDD505-2E9C-101B-9397-08002B2CF9AE}" pid="7" name="MSIP_Label_56665055-977f-4acd-9884-1bec8e5ad200_ActionId">
    <vt:lpwstr>0a4ed2eb-6a44-4e2c-8952-08c4566c22fd</vt:lpwstr>
  </property>
  <property fmtid="{D5CDD505-2E9C-101B-9397-08002B2CF9AE}" pid="8" name="MSIP_Label_56665055-977f-4acd-9884-1bec8e5ad200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Confidential - Oracle 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Confidential - Oracle Restricted</vt:lpwstr>
  </property>
</Properties>
</file>